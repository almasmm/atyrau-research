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1f6d799abc54267" /><Relationship Type="http://schemas.openxmlformats.org/officeDocument/2006/relationships/extended-properties" Target="/docProps/app.xml" Id="R7b83a5d1413e45a7" /><Relationship Type="http://schemas.openxmlformats.org/officeDocument/2006/relationships/officeDocument" Target="/ppt/presentation.xml" Id="R64bb0825cb8c42d3" /></Relationships>
</file>

<file path=ppt/presentation.xml><?xml version="1.0" encoding="utf-8"?>
<p:presentation xmlns:p="http://schemas.openxmlformats.org/presentationml/2006/main">
  <p:sldMasterIdLst>
    <p:sldMasterId xmlns:r="http://schemas.openxmlformats.org/officeDocument/2006/relationships" id="2147483648" r:id="R82c0c863640a47d7"/>
  </p:sldMasterIdLst>
  <p:notesMasterIdLst>
    <p:notesMasterId xmlns:r="http://schemas.openxmlformats.org/officeDocument/2006/relationships" r:id="Rc04a48dce53d40bd"/>
  </p:notesMasterIdLst>
  <p:sldIdLst>
    <p:sldId xmlns:r="http://schemas.openxmlformats.org/officeDocument/2006/relationships" id="256" r:id="Rf873e5cf6b5d45cd"/>
    <p:sldId xmlns:r="http://schemas.openxmlformats.org/officeDocument/2006/relationships" id="257" r:id="R9c7328b499184407"/>
    <p:sldId xmlns:r="http://schemas.openxmlformats.org/officeDocument/2006/relationships" id="258" r:id="Rb9aadb5af2814f6e"/>
    <p:sldId xmlns:r="http://schemas.openxmlformats.org/officeDocument/2006/relationships" id="259" r:id="R63055bba01394a07"/>
    <p:sldId xmlns:r="http://schemas.openxmlformats.org/officeDocument/2006/relationships" id="260" r:id="Rd5eb9d3c86e048a3"/>
    <p:sldId xmlns:r="http://schemas.openxmlformats.org/officeDocument/2006/relationships" id="261" r:id="Rcfa7928e45634e52"/>
    <p:sldId xmlns:r="http://schemas.openxmlformats.org/officeDocument/2006/relationships" id="262" r:id="Reffeaf1d9d904e69"/>
    <p:sldId xmlns:r="http://schemas.openxmlformats.org/officeDocument/2006/relationships" id="263" r:id="R4d2947d694464804"/>
    <p:sldId xmlns:r="http://schemas.openxmlformats.org/officeDocument/2006/relationships" id="264" r:id="R1e16fb92d50948c4"/>
    <p:sldId xmlns:r="http://schemas.openxmlformats.org/officeDocument/2006/relationships" id="265" r:id="Rb48a0d3ffa414d2a"/>
    <p:sldId xmlns:r="http://schemas.openxmlformats.org/officeDocument/2006/relationships" id="266" r:id="Rc03474ddf9d046f6"/>
    <p:sldId xmlns:r="http://schemas.openxmlformats.org/officeDocument/2006/relationships" id="267" r:id="Re9cd6cecabf84570"/>
    <p:sldId xmlns:r="http://schemas.openxmlformats.org/officeDocument/2006/relationships" id="268" r:id="Rc5c87bdee0a7450b"/>
    <p:sldId xmlns:r="http://schemas.openxmlformats.org/officeDocument/2006/relationships" id="269" r:id="R1be68c43c5b344d3"/>
    <p:sldId xmlns:r="http://schemas.openxmlformats.org/officeDocument/2006/relationships" id="270" r:id="Ra52bd091886c4b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f672e84e0e42f5" /><Relationship Type="http://schemas.openxmlformats.org/officeDocument/2006/relationships/slideMaster" Target="/ppt/slideMasters/slideMaster1.xml" Id="R82c0c863640a47d7" /><Relationship Type="http://schemas.openxmlformats.org/officeDocument/2006/relationships/notesMaster" Target="/ppt/notesMasters/notesMaster1.xml" Id="Rc04a48dce53d40bd" /><Relationship Type="http://schemas.openxmlformats.org/officeDocument/2006/relationships/presProps" Target="/ppt/presProps.xml" Id="Rf1bb578000084e19" /><Relationship Type="http://schemas.openxmlformats.org/officeDocument/2006/relationships/tableStyles" Target="/ppt/tableStyles.xml" Id="Ra51ceeda865740db" /><Relationship Type="http://schemas.openxmlformats.org/officeDocument/2006/relationships/slide" Target="/ppt/slides/slide1.xml" Id="Rf873e5cf6b5d45cd" /><Relationship Type="http://schemas.openxmlformats.org/officeDocument/2006/relationships/slide" Target="/ppt/slides/slide2.xml" Id="R9c7328b499184407" /><Relationship Type="http://schemas.openxmlformats.org/officeDocument/2006/relationships/slide" Target="/ppt/slides/slide3.xml" Id="Rb9aadb5af2814f6e" /><Relationship Type="http://schemas.openxmlformats.org/officeDocument/2006/relationships/slide" Target="/ppt/slides/slide4.xml" Id="R63055bba01394a07" /><Relationship Type="http://schemas.openxmlformats.org/officeDocument/2006/relationships/slide" Target="/ppt/slides/slide5.xml" Id="Rd5eb9d3c86e048a3" /><Relationship Type="http://schemas.openxmlformats.org/officeDocument/2006/relationships/slide" Target="/ppt/slides/slide6.xml" Id="Rcfa7928e45634e52" /><Relationship Type="http://schemas.openxmlformats.org/officeDocument/2006/relationships/slide" Target="/ppt/slides/slide7.xml" Id="Reffeaf1d9d904e69" /><Relationship Type="http://schemas.openxmlformats.org/officeDocument/2006/relationships/slide" Target="/ppt/slides/slide8.xml" Id="R4d2947d694464804" /><Relationship Type="http://schemas.openxmlformats.org/officeDocument/2006/relationships/slide" Target="/ppt/slides/slide9.xml" Id="R1e16fb92d50948c4" /><Relationship Type="http://schemas.openxmlformats.org/officeDocument/2006/relationships/slide" Target="/ppt/slides/slide10.xml" Id="Rb48a0d3ffa414d2a" /><Relationship Type="http://schemas.openxmlformats.org/officeDocument/2006/relationships/slide" Target="/ppt/slides/slide11.xml" Id="Rc03474ddf9d046f6" /><Relationship Type="http://schemas.openxmlformats.org/officeDocument/2006/relationships/slide" Target="/ppt/slides/slide12.xml" Id="Re9cd6cecabf84570" /><Relationship Type="http://schemas.openxmlformats.org/officeDocument/2006/relationships/slide" Target="/ppt/slides/slide13.xml" Id="Rc5c87bdee0a7450b" /><Relationship Type="http://schemas.openxmlformats.org/officeDocument/2006/relationships/slide" Target="/ppt/slides/slide14.xml" Id="R1be68c43c5b344d3" /><Relationship Type="http://schemas.openxmlformats.org/officeDocument/2006/relationships/slide" Target="/ppt/slides/slide15.xml" Id="Ra52bd091886c4b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4f4faa0b934d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fc7cd9fcc1425f" /><Relationship Type="http://schemas.openxmlformats.org/officeDocument/2006/relationships/notesMaster" Target="/ppt/notesMasters/notesMaster1.xml" Id="R9e7ca5dfeb8c41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03dc5fa65441ae" /><Relationship Type="http://schemas.openxmlformats.org/officeDocument/2006/relationships/notesMaster" Target="/ppt/notesMasters/notesMaster1.xml" Id="Ra9d47622a21041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e83b5942614481" /><Relationship Type="http://schemas.openxmlformats.org/officeDocument/2006/relationships/notesMaster" Target="/ppt/notesMasters/notesMaster1.xml" Id="Rde2200577ef84e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6b2f435bbb46a6" /><Relationship Type="http://schemas.openxmlformats.org/officeDocument/2006/relationships/notesMaster" Target="/ppt/notesMasters/notesMaster1.xml" Id="R35e49f4b933e45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27f991020643f8" /><Relationship Type="http://schemas.openxmlformats.org/officeDocument/2006/relationships/notesMaster" Target="/ppt/notesMasters/notesMaster1.xml" Id="R23e32cf2308445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5c7b5f17224906" /><Relationship Type="http://schemas.openxmlformats.org/officeDocument/2006/relationships/notesMaster" Target="/ppt/notesMasters/notesMaster1.xml" Id="Rb6769499d88549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84a70973234cb4" /><Relationship Type="http://schemas.openxmlformats.org/officeDocument/2006/relationships/notesMaster" Target="/ppt/notesMasters/notesMaster1.xml" Id="R87d8e964573548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9adfd327f64525" /><Relationship Type="http://schemas.openxmlformats.org/officeDocument/2006/relationships/notesMaster" Target="/ppt/notesMasters/notesMaster1.xml" Id="Rbb310a31d9c740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cf758624e9d473d" /><Relationship Type="http://schemas.openxmlformats.org/officeDocument/2006/relationships/notesMaster" Target="/ppt/notesMasters/notesMaster1.xml" Id="R7219a269e8ef40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d863e2a3a94b95" /><Relationship Type="http://schemas.openxmlformats.org/officeDocument/2006/relationships/notesMaster" Target="/ppt/notesMasters/notesMaster1.xml" Id="R04217ea895f544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13ce68d5c9041e3" /><Relationship Type="http://schemas.openxmlformats.org/officeDocument/2006/relationships/notesMaster" Target="/ppt/notesMasters/notesMaster1.xml" Id="Rb297b7c425c3482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cd413bdd504562" /><Relationship Type="http://schemas.openxmlformats.org/officeDocument/2006/relationships/notesMaster" Target="/ppt/notesMasters/notesMaster1.xml" Id="R388e0699c11547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c644e38d3be4450" /><Relationship Type="http://schemas.openxmlformats.org/officeDocument/2006/relationships/notesMaster" Target="/ppt/notesMasters/notesMaster1.xml" Id="Rab65f49b210843f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719ffdac1594787" /><Relationship Type="http://schemas.openxmlformats.org/officeDocument/2006/relationships/notesMaster" Target="/ppt/notesMasters/notesMaster1.xml" Id="Rf41815ea58ae4c6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d4ad9dff780498a" /><Relationship Type="http://schemas.openxmlformats.org/officeDocument/2006/relationships/notesMaster" Target="/ppt/notesMasters/notesMaster1.xml" Id="R755a59e4b09a46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Исследование рассматривает опубликованные показания конкретных станций в трёх городах западного Казахстана. Главный объект — Атырау. Работа объединяет проверку происхождения и полноты данных, сравнение веществ и сезонов, а также реально обученную объяснительную модель. Уже на этапе контроля выявлено существенное ограничение основного канала. Поэтому численные результаты представлены как свойства архива, а экологическая достоверность отмечена статусом PARTIAL. Вычисления воспроизводимы; использование ИИ при подготовке кода и текста раскрыто. Реквизиты студента должны быть заполнены самим автором работы.</a:t>
            </a:r>
          </a:p>
          <a:p xmlns:a="http://schemas.openxmlformats.org/drawingml/2006/main">
            <a:r>
              <a:t/>
            </a:r>
          </a:p>
          <a:p xmlns:a="http://schemas.openxmlformats.org/drawingml/2006/main">
            <a:r>
              <a:t>Источники: AirData.kz, архив и DATASHEET (commit 0fe9a615); расчёты автора,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Подробное задание первого кейса задаёт вопросы о загрязнении, веществах, источниках, сезонности и практических мерах. Мы отвечаем на них на уровне доступного материала. В каждом городе заранее закреплён один пост, чтобы меняющийся состав сети не создавал ложных временных трендов. Общие даты обеспечивают одинаковый период сравнения. Но одно место измерения не представляет все районы и население города. Источники выбросов обсуждаются по первичной литературе; причинные доли по корреляции с погодой не вычисляются.</a:t>
            </a:r>
          </a:p>
          <a:p xmlns:a="http://schemas.openxmlformats.org/drawingml/2006/main">
            <a:r>
              <a:t/>
            </a:r>
          </a:p>
          <a:p xmlns:a="http://schemas.openxmlformats.org/drawingml/2006/main">
            <a:r>
              <a:t>Источники: Case Study Task 1; протокол анализа 01/PREREGISTRATION.md.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AirData.kz распространяет архив с измерительными значениями, исходными единицами и описанием предварительной очистки. Полные файлы сохранены, а точные адреса и контрольные суммы включены в реестр. Здесь используются семь загрязняющих каналов и отобранные станции трёх городов. Это наблюдательные записи, а не синтетические значения или модель атмосферной химии. Погода ERA5 добавлена отдельно как реанализ. Лицензия издателя допускает некоммерческое использование с атрибуцией; заявление о договоре первичного поставщика не проверено независимо.</a:t>
            </a:r>
          </a:p>
          <a:p xmlns:a="http://schemas.openxmlformats.org/drawingml/2006/main">
            <a:r>
              <a:t/>
            </a:r>
          </a:p>
          <a:p xmlns:a="http://schemas.openxmlformats.org/drawingml/2006/main">
            <a:r>
              <a:t>Источники: AirData.kz, архив и DATASHEET (commit 0fe9a615); расчёты автора,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Условие полноты введено до моделирования: суточное значение допускается только при наличии минимум восемнадцати разных часовых меток. На рисунке видны различия покрытия по городам и годам, особенно неполный ряд Атырау в 2024 году. Пропуск не означает нулевое загрязнение, поэтому такие сутки не заменены нулями и не интерполированы для оценки. Это аналитическое правило пригодности, а не утверждение о выполнении всех требований официальной системы мониторинга. Неизвестно, насколько исключённые поставщиком записи отличаются от сохранённых.</a:t>
            </a:r>
          </a:p>
          <a:p xmlns:a="http://schemas.openxmlformats.org/drawingml/2006/main">
            <a:r>
              <a:t/>
            </a:r>
          </a:p>
          <a:p xmlns:a="http://schemas.openxmlformats.org/drawingml/2006/main">
            <a:r>
              <a:t>Источники: AirData.kz; results/coverage.csv; правило полноты в 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Сначала фракции сравнивались как отдельно рассчитанные суточные средние. Это могло смешивать разные наборы часов. При повторном аудите записи соединены по станции и точному моменту, затем усреднены по одинаковым часам. Основное расхождение на посту номер 32 сохраняется. Единственный прежний случай на посту номер 235 исчезает, поэтому его нельзя считать доказанной аномалией. Выравнивание часов исключает одну техническую причину, но не устанавливает настоящую причину расхождения основного поста. Для этого нужны приборные метаданные и контрольные измерения.</a:t>
            </a:r>
          </a:p>
          <a:p xmlns:a="http://schemas.openxmlformats.org/drawingml/2006/main">
            <a:r>
              <a:t/>
            </a:r>
          </a:p>
          <a:p xmlns:a="http://schemas.openxmlformats.org/drawingml/2006/main">
            <a:r>
              <a:t>Источники: AirData.kz; results/shared_hours_daily_quality.csv, аудит 26.09.2026.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Средние рассчитаны только на пересечении пригодных дат трёх фиксированных постов. Так различия периодов наблюдения не подменяют различия показаний. В архиве выбранный пост Атырау имеет наиболее высокий уровень. Однако после проверки фракций нельзя превращать этот результат в подтверждённый рейтинг загрязнения городов или населения. Низкое среднее другого поста также не доказывает безопасность всего города. Для такой оценки нужны поверенные измерения в нескольких районах и отдельный дизайн оценки пространственной репрезентативности и воздействия.</a:t>
            </a:r>
          </a:p>
          <a:p xmlns:a="http://schemas.openxmlformats.org/drawingml/2006/main">
            <a:r>
              <a:t/>
            </a:r>
          </a:p>
          <a:p xmlns:a="http://schemas.openxmlformats.org/drawingml/2006/main">
            <a:r>
              <a:t>Источники: AirData.kz; results/city_comparison.csv и common_dates_pm25.csv.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Дополнительная проверка отвечает на узкий вопрос: обусловлен ли порядок средних выбранным порогом полноты. Для неё оставлены только полностью наблюдённые сутки и заново взято пересечение дат трёх постов. Порядок средних сохраняется, хотя число доступных дат уменьшается. Это аргумент об устойчивости описательной таблицы к одному правилу отбора. Он не устраняет возможное смещение измерительных каналов, не исправляет пропуски и не расширяет вывод на другие станции. Модели на этой подвыборке не переобучались и не подбирались.</a:t>
            </a:r>
          </a:p>
          <a:p xmlns:a="http://schemas.openxmlformats.org/drawingml/2006/main">
            <a:r>
              <a:t/>
            </a:r>
          </a:p>
          <a:p xmlns:a="http://schemas.openxmlformats.org/drawingml/2006/main">
            <a:r>
              <a:t>Источники: results/completeness_sensitivity.csv; post-hoc аудит 26.09.2026.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каждого вещества используется собственное число пригодных суток. Концентрации переведены из миллиграммов в микрограммы на кубический метр с проверкой коэффициента. Суточные ориентиры ВОЗ не являются юридически обязательными нормативами. Национальные среднесуточные величины приведены в отдельной таблице по прочитанной редакции приказа, без вывода о прошлых правонарушениях. Для сероводорода суточный ориентир не выдуман, а восьмичасовой критерий озона не приложен к суточному среднему. Частота превышений помогает выбрать каналы для проверки, но не ранжирует токсичность веществ.</a:t>
            </a:r>
          </a:p>
          <a:p xmlns:a="http://schemas.openxmlformats.org/drawingml/2006/main">
            <a:r>
              <a:t/>
            </a:r>
          </a:p>
          <a:p xmlns:a="http://schemas.openxmlformats.org/drawingml/2006/main">
            <a:r>
              <a:t>Источники: ВОЗ, Global air quality guidelines (2021); ҚР ДСМ-70; results/threshold_comparison.csv.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Месячные и сезонные средние показывают выраженное изменение общего уровня между годами. При этом полнота наблюдений неодинакова, и часть календарных ячеек опирается на меньшее число суток. Один общий сезонный профиль мог бы скрыть эти различия. Поэтому график сохраняет годовую структуру и не создаёт искусственно заполненную непрерывную последовательность. Наблюдаемый спад может отражать реальное изменение, калибровку, маркировку канала или отбор данных. Доступная информация не позволяет приписать его конкретной природоохранной мере или количественно оценить её результат.</a:t>
            </a:r>
          </a:p>
          <a:p xmlns:a="http://schemas.openxmlformats.org/drawingml/2006/main">
            <a:r>
              <a:t/>
            </a:r>
          </a:p>
          <a:p xmlns:a="http://schemas.openxmlformats.org/drawingml/2006/main">
            <a:r>
              <a:t>Источники: AirData.kz; results/seasonal_summary.csv; figures/monthly_means.png.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Погодные признаки получены из ERA5 через Open-Meteo для точки основного поста. Это сеточный реанализ, а не метеорологический прибор рядом с анализатором частиц. Ранговые корреляции по наблюдаемым суткам малы. Такой результат означает слабую агрегированную монотонную связь в данной выборке, но не исключает влияния отдельных погодных эпизодов. Погода того же дня используется только для объяснительной задачи. В отдельном прогнозном кейсе она отсутствует, поскольку фактическая будущая погода не могла быть известна при выпуске прогноза.</a:t>
            </a:r>
          </a:p>
          <a:p xmlns:a="http://schemas.openxmlformats.org/drawingml/2006/main">
            <a:r>
              <a:t/>
            </a:r>
          </a:p>
          <a:p xmlns:a="http://schemas.openxmlformats.org/drawingml/2006/main">
            <a:r>
              <a:t>Источники: Open-Meteo / Copernicus ERA5; results/weather_spearman.csv.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Обучены регуляризованная линейная регрессия и случайный лес. Преобразования признаков оцениваются только на обучающих данных, параметры выбираются на валидации, затем выполняется повторное обучение до проверки. Все модели оцениваются на одних и тех же целевых сутках. Показанная MAE велика относительно вариации проверочного периода, и значения R² отрицательны. Незначительное различие линейной модели и среднего не меняет заранее выбранное правило. Дополнительное пересэмплирование ошибок также не подтверждает устойчивого выигрыша. Отрицательный результат сохранён, границы проверки не менялись.</a:t>
            </a:r>
          </a:p>
          <a:p xmlns:a="http://schemas.openxmlformats.org/drawingml/2006/main">
            <a:r>
              <a:t/>
            </a:r>
          </a:p>
          <a:p xmlns:a="http://schemas.openxmlformats.org/drawingml/2006/main">
            <a:r>
              <a:t>Источники: results/metrics.csv, validation_metrics.csv; models/metadata.json.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Официальное описание Казгидромета подтверждает работу мониторинга промышленной зоны. Региональная инвентаризация рассматривает категории источников западного Казахстана. Исследование Yessenamanova и соавторов анализирует сероводород на нескольких пунктах Атырау за ограниченный период 2020 года. Вместе эти источники обосновывают пространственную и отраслевую постановку следующего исследования. Они не дают права присвоить наши показания конкретному предприятию или рассчитать долю транспорта. Для разделения вкладов нужны совместимые сведения о выбросах, составе аэрозоля, метеорологии и переносе загрязнения в тот же период.</a:t>
            </a:r>
          </a:p>
          <a:p xmlns:a="http://schemas.openxmlformats.org/drawingml/2006/main">
            <a:r>
              <a:t/>
            </a:r>
          </a:p>
          <a:p xmlns:a="http://schemas.openxmlformats.org/drawingml/2006/main">
            <a:r>
              <a:t>Источники: Казгидромет (2021); региональная инвентаризация [9]; Yessenamanova et al. (2021), DOI 10.18280/ijsdp.160308.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Первое действие непосредственно вытекает из результатов: сверить каналы, единицы, паспорт прибора и историю калибровки, затем провести совместные контрольные измерения. Следующий этап — восстановить полноту и прозрачность сети, включая время публикации и причины отбраковки данных. После этого можно выбирать меры снижения выбросов по независимой инвентаризации. Долгосрочные промышленные и транспортные решения перечислены как направления оценки, а не как рассчитанный оптимальный бюджет. В работе нет модели экономической выгоды, числа предотвращённых заболеваний или юридического установления нарушений.</a:t>
            </a:r>
          </a:p>
          <a:p xmlns:a="http://schemas.openxmlformats.org/drawingml/2006/main">
            <a:r>
              <a:t/>
            </a:r>
          </a:p>
          <a:p xmlns:a="http://schemas.openxmlformats.org/drawingml/2006/main">
            <a:r>
              <a:t>Источники: Синтез результатов контроля качества; ВОЗ (2021); региональные первоисточники [3,9,10].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Работа отвечает на исходные вопросы в пределах фактически доступных данных. На выбранных станциях выше архивный показатель Атырау, но рейтинг загрязнения городов не подтверждён. Частота превышений рассчитана по подходящим временным ориентирам, устойчивый общий зимний максимум не установлен, а объяснительные модели не дали переносимого улучшения. Главный практический результат — конкретный перечень проверок измерительного канала. Статус PARTIAL обозначает незавершённость экологической валидации, а не отсутствие обучения или вычислений. Код, исходные файлы, контрольные суммы и исполненный блокнот доступны для воспроизведения.</a:t>
            </a:r>
          </a:p>
          <a:p xmlns:a="http://schemas.openxmlformats.org/drawingml/2006/main">
            <a:r>
              <a:t/>
            </a:r>
          </a:p>
          <a:p xmlns:a="http://schemas.openxmlformats.org/drawingml/2006/main">
            <a:r>
              <a:t>Источники: Report.md; DATA_CARD.md; результаты научного аудита 26.09.2026.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Данные и документация: https://github.com/qazybekb/AirDatakz-OpenData . Рекомендации ВОЗ: https://www.who.int/publications/i/item/9789240034228 . Национальный норматив: https://old.adilet.zan.kz/rus/docs/V2200029011 . Локальное исследование: https://doi.org/10.18280/ijsdp.160308 . Региональная инвентаризация: https://journal.kazhydromet.kz/kazgidro/article/view/2341 . Погода: https://open-meteo.com/en/docs/historical-weather-api . Полный реестр содержит адреса архивов, лицензии и контрольные суммы. Для воспроизведения используются сохранённые версии данных и фиксированные параметры. Все эмпирические числа презентации поступают из таблиц результатов; ограничения калибровки и доступности не закрываются повторным запуском кода. ИИ-помощь раскрыта в отчёте и не заменяет понимание методики студентом.</a:t>
            </a:r>
          </a:p>
          <a:p xmlns:a="http://schemas.openxmlformats.org/drawingml/2006/main">
            <a:r>
              <a:t/>
            </a:r>
          </a:p>
          <a:p xmlns:a="http://schemas.openxmlformats.org/drawingml/2006/main">
            <a:r>
              <a:t>Источники: References.md и sources.csv; источники просмотрены 25–26.09.2026.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ab784028d447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fd0a0bc8e04650" /><Relationship Type="http://schemas.openxmlformats.org/officeDocument/2006/relationships/slideLayout" Target="/ppt/slideLayouts/slideLayout1.xml" Id="Rf143b2ca224143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43b2ca224143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3e01180c7054929" /><Relationship Type="http://schemas.openxmlformats.org/officeDocument/2006/relationships/notesSlide" Target="/ppt/notesSlides/notesSlide1.xml" Id="Rd809ba2b1e234e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c6a13c1fdbe4702" /><Relationship Type="http://schemas.openxmlformats.org/officeDocument/2006/relationships/notesSlide" Target="/ppt/notesSlides/notesSlide2.xml" Id="R436c4ada339c44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f755f39ab4b4042" /><Relationship Type="http://schemas.openxmlformats.org/officeDocument/2006/relationships/notesSlide" Target="/ppt/notesSlides/notesSlide3.xml" Id="R4092aa12bf494e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d57521b345344de" /><Relationship Type="http://schemas.openxmlformats.org/officeDocument/2006/relationships/image" Target="/ppt/media/image.png" Id="R936ded64f1914e4a" /><Relationship Type="http://schemas.openxmlformats.org/officeDocument/2006/relationships/notesSlide" Target="/ppt/notesSlides/notesSlide4.xml" Id="Re74ba90a691d48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df6cb2a7e134798" /><Relationship Type="http://schemas.openxmlformats.org/officeDocument/2006/relationships/notesSlide" Target="/ppt/notesSlides/notesSlide5.xml" Id="Re0f8f3eb29b045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03b442266846f9" /><Relationship Type="http://schemas.openxmlformats.org/officeDocument/2006/relationships/image" Target="/ppt/media/image2.png" Id="R67999990589f4fb1" /><Relationship Type="http://schemas.openxmlformats.org/officeDocument/2006/relationships/notesSlide" Target="/ppt/notesSlides/notesSlide6.xml" Id="R1a04483ed23149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f5f6e80f4004e63" /><Relationship Type="http://schemas.openxmlformats.org/officeDocument/2006/relationships/notesSlide" Target="/ppt/notesSlides/notesSlide7.xml" Id="Rdd2ea80f88494a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b6ec9353aed48e7" /><Relationship Type="http://schemas.openxmlformats.org/officeDocument/2006/relationships/image" Target="/ppt/media/image3.png" Id="R740546f35f94446c" /><Relationship Type="http://schemas.openxmlformats.org/officeDocument/2006/relationships/notesSlide" Target="/ppt/notesSlides/notesSlide8.xml" Id="R5cf476b28e4b4b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d2439db8df240c8" /><Relationship Type="http://schemas.openxmlformats.org/officeDocument/2006/relationships/image" Target="/ppt/media/image4.png" Id="R52dfab3ab838476f" /><Relationship Type="http://schemas.openxmlformats.org/officeDocument/2006/relationships/notesSlide" Target="/ppt/notesSlides/notesSlide9.xml" Id="R21a8f9a6810149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ef0db6e5b154f20" /><Relationship Type="http://schemas.openxmlformats.org/officeDocument/2006/relationships/image" Target="/ppt/media/image5.png" Id="R9f8c0028b2a848be" /><Relationship Type="http://schemas.openxmlformats.org/officeDocument/2006/relationships/notesSlide" Target="/ppt/notesSlides/notesSlide10.xml" Id="R01bcd70a26374e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46d0d96e12a4666" /><Relationship Type="http://schemas.openxmlformats.org/officeDocument/2006/relationships/chart" Target="/ppt/slides/charts/chart1.xml" Id="R7e70336515a64f57" /><Relationship Type="http://schemas.openxmlformats.org/officeDocument/2006/relationships/notesSlide" Target="/ppt/notesSlides/notesSlide11.xml" Id="R32f8959de8b146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47523ef5c46462d" /><Relationship Type="http://schemas.openxmlformats.org/officeDocument/2006/relationships/notesSlide" Target="/ppt/notesSlides/notesSlide12.xml" Id="R0c5558973cfb43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8a77a468fe04ac8" /><Relationship Type="http://schemas.openxmlformats.org/officeDocument/2006/relationships/notesSlide" Target="/ppt/notesSlides/notesSlide13.xml" Id="Rfeb8cff9e427451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fc747ce4e604a69" /><Relationship Type="http://schemas.openxmlformats.org/officeDocument/2006/relationships/notesSlide" Target="/ppt/notesSlides/notesSlide14.xml" Id="R6d2c2458f56c40f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3e18bfb4d3441fa" /><Relationship Type="http://schemas.openxmlformats.org/officeDocument/2006/relationships/notesSlide" Target="/ppt/notesSlides/notesSlide15.xml" Id="Rc156ac53c46049b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 мкг/м³</c:v>
          </c:tx>
          <c:spPr>
            <a:solidFill xmlns:a="http://schemas.openxmlformats.org/drawingml/2006/main">
              <a:srgbClr val="087E8B"/>
            </a:solidFill>
          </c:spPr>
          <c:cat>
            <c:strRef>
              <c:f>'Chart Data'!$A$2:$A$4</c:f>
              <c:strCache>
                <c:ptCount val="3"/>
                <c:pt idx="0">
                  <c:v>Среднее обучения</c:v>
                </c:pt>
                <c:pt idx="1">
                  <c:v>Ridge</c:v>
                </c:pt>
                <c:pt idx="2">
                  <c:v>Случайный лес</c:v>
                </c:pt>
              </c:strCache>
            </c:strRef>
          </c:cat>
          <c:val>
            <c:numRef>
              <c:f>'Chart Data'!$B$2:$B$4</c:f>
              <c:numCache>
                <c:formatCode>0.000</c:formatCode>
                <c:ptCount val="3"/>
                <c:pt idx="0">
                  <c:v>23.708</c:v>
                </c:pt>
                <c:pt idx="1">
                  <c:v>23.707</c:v>
                </c:pt>
                <c:pt idx="2">
                  <c:v>24.593</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73342"/>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16471"/>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E3E9ED"/>
              </a:solidFill>
              <a:prstDash val="solid"/>
            </a:ln>
          </c:spPr>
        </c:majorGridlines>
        <c:title>
          <c:tx>
            <c:rich>
              <a:bodyPr xmlns:a="http://schemas.openxmlformats.org/drawingml/2006/main"/>
              <a:lstStyle xmlns:a="http://schemas.openxmlformats.org/drawingml/2006/main"/>
              <a:p xmlns:a="http://schemas.openxmlformats.org/drawingml/2006/main">
                <a:r>
                  <a:rPr sz="1575">
                    <a:solidFill>
                      <a:srgbClr val="516471"/>
                    </a:solidFill>
                    <a:latin typeface="Arial"/>
                    <a:ea typeface="Arial"/>
                    <a:cs typeface="Arial"/>
                  </a:rPr>
                  <a:t>MAE, мкг/м³</a:t>
                </a:r>
              </a:p>
            </c:rich>
          </c:tx>
          <c:overlay val="0"/>
          <c:txPr>
            <a:bodyPr xmlns:a="http://schemas.openxmlformats.org/drawingml/2006/main" anchorCtr="1"/>
            <a:lstStyle xmlns:a="http://schemas.openxmlformats.org/drawingml/2006/main"/>
            <a:p xmlns:a="http://schemas.openxmlformats.org/drawingml/2006/main">
              <a:pPr>
                <a:defRPr sz="1575">
                  <a:solidFill>
                    <a:srgbClr val="516471"/>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16471"/>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70437A-D4BE-4461-A4BC-6407850579E2}"/>
              </a:ext>
            </a:extLst>
          </p:cNvPr>
          <p:cNvSpPr>
            <a:spLocks xmlns:a="http://schemas.openxmlformats.org/drawingml/2006/main" noGrp="1"/>
          </p:cNvSpPr>
          <p:nvPr/>
        </p:nvSpPr>
        <p:spPr>
          <a:xfrm xmlns:a="http://schemas.openxmlformats.org/drawingml/2006/main">
            <a:off x="647700" y="6286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80CCD2"/>
                </a:solidFill>
                <a:latin typeface="Arial"/>
                <a:ea typeface="Arial"/>
                <a:cs typeface="Arial"/>
              </a:defRPr>
            </a:pPr>
            <a:r>
              <a:rPr sz="1800" b="0">
                <a:solidFill>
                  <a:srgbClr val="80CCD2"/>
                </a:solidFill>
                <a:latin typeface="Arial"/>
                <a:ea typeface="Arial"/>
                <a:cs typeface="Arial"/>
              </a:rPr>
              <a:t>Исследовательский кейс 1</a:t>
            </a:r>
          </a:p>
        </p:txBody>
      </p:sp>
      <p:sp>
        <p:nvSpPr>
          <p:cNvPr id="2" name="">
            <a:extLst xmlns:a="http://schemas.openxmlformats.org/drawingml/2006/main">
              <a:ext uri="{FF2B5EF4-FFF2-40B4-BE49-F238E27FC236}">
                <a16:creationId xmlns:a16="http://schemas.microsoft.com/office/drawing/2014/main" id="{16BF6AE1-3B76-4157-A068-AC5A7098021D}"/>
              </a:ext>
            </a:extLst>
          </p:cNvPr>
          <p:cNvSpPr>
            <a:spLocks xmlns:a="http://schemas.openxmlformats.org/drawingml/2006/main" noGrp="1"/>
          </p:cNvSpPr>
          <p:nvPr/>
        </p:nvSpPr>
        <p:spPr>
          <a:xfrm xmlns:a="http://schemas.openxmlformats.org/drawingml/2006/main">
            <a:off x="609600" y="1476375"/>
            <a:ext cx="1078230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Что показывают архивные данные о воздухе</a:t>
            </a:r>
          </a:p>
        </p:txBody>
      </p:sp>
      <p:sp>
        <p:nvSpPr>
          <p:cNvPr id="3" name="">
            <a:extLst xmlns:a="http://schemas.openxmlformats.org/drawingml/2006/main">
              <a:ext uri="{FF2B5EF4-FFF2-40B4-BE49-F238E27FC236}">
                <a16:creationId xmlns:a16="http://schemas.microsoft.com/office/drawing/2014/main" id="{EA0C1DBA-2E2E-4292-8072-E0CBE49F4B5A}"/>
              </a:ext>
            </a:extLst>
          </p:cNvPr>
          <p:cNvSpPr>
            <a:spLocks xmlns:a="http://schemas.openxmlformats.org/drawingml/2006/main" noGrp="1"/>
          </p:cNvSpPr>
          <p:nvPr/>
        </p:nvSpPr>
        <p:spPr>
          <a:xfrm xmlns:a="http://schemas.openxmlformats.org/drawingml/2006/main">
            <a:off x="647700" y="40100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DEE9EE"/>
                </a:solidFill>
                <a:latin typeface="Arial"/>
                <a:ea typeface="Arial"/>
                <a:cs typeface="Arial"/>
              </a:defRPr>
            </a:pPr>
            <a:r>
              <a:rPr sz="2175" b="0">
                <a:solidFill>
                  <a:srgbClr val="DEE9EE"/>
                </a:solidFill>
                <a:latin typeface="Arial"/>
                <a:ea typeface="Arial"/>
                <a:cs typeface="Arial"/>
              </a:rPr>
              <a:t>Сравнение станций, качество измерений и объяснительная модель</a:t>
            </a:r>
          </a:p>
        </p:txBody>
      </p:sp>
      <p:sp>
        <p:nvSpPr>
          <p:cNvPr id="4" name="">
            <a:extLst xmlns:a="http://schemas.openxmlformats.org/drawingml/2006/main">
              <a:ext uri="{FF2B5EF4-FFF2-40B4-BE49-F238E27FC236}">
                <a16:creationId xmlns:a16="http://schemas.microsoft.com/office/drawing/2014/main" id="{151AE45F-6DE1-4D85-ACD1-DFEB8E6FA12D}"/>
              </a:ext>
            </a:extLst>
          </p:cNvPr>
          <p:cNvSpPr>
            <a:spLocks xmlns:a="http://schemas.openxmlformats.org/drawingml/2006/main" noGrp="1"/>
          </p:cNvSpPr>
          <p:nvPr/>
        </p:nvSpPr>
        <p:spPr>
          <a:xfrm xmlns:a="http://schemas.openxmlformats.org/drawingml/2006/main">
            <a:off x="647700" y="50958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C0D5DE"/>
                </a:solidFill>
                <a:latin typeface="Arial"/>
                <a:ea typeface="Arial"/>
                <a:cs typeface="Arial"/>
              </a:defRPr>
            </a:pPr>
            <a:r>
              <a:rPr sz="1500" b="0">
                <a:solidFill>
                  <a:srgbClr val="C0D5DE"/>
                </a:solidFill>
                <a:latin typeface="Arial"/>
                <a:ea typeface="Arial"/>
                <a:cs typeface="Arial"/>
              </a:rPr>
              <a:t>Атырау • Актау • Актобе · Исходный кейс № 1 | 2022–2025 · Редакция 26 сентября 2026 года</a:t>
            </a:r>
          </a:p>
        </p:txBody>
      </p:sp>
      <p:sp>
        <p:nvSpPr>
          <p:cNvPr id="5" name="">
            <a:extLst xmlns:a="http://schemas.openxmlformats.org/drawingml/2006/main">
              <a:ext uri="{FF2B5EF4-FFF2-40B4-BE49-F238E27FC236}">
                <a16:creationId xmlns:a16="http://schemas.microsoft.com/office/drawing/2014/main" id="{B35CBDF5-E4A1-4148-9F0A-4781C729E4E4}"/>
              </a:ext>
            </a:extLst>
          </p:cNvPr>
          <p:cNvSpPr>
            <a:spLocks xmlns:a="http://schemas.openxmlformats.org/drawingml/2006/main" noGrp="1"/>
          </p:cNvSpPr>
          <p:nvPr/>
        </p:nvSpPr>
        <p:spPr>
          <a:xfrm xmlns:a="http://schemas.openxmlformats.org/drawingml/2006/main">
            <a:off x="647700" y="57721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A4C1CB"/>
                </a:solidFill>
                <a:latin typeface="Arial"/>
                <a:ea typeface="Arial"/>
                <a:cs typeface="Arial"/>
              </a:defRPr>
            </a:pPr>
            <a:r>
              <a:rPr sz="1425" b="0">
                <a:solidFill>
                  <a:srgbClr val="A4C1CB"/>
                </a:solidFill>
                <a:latin typeface="Arial"/>
                <a:ea typeface="Arial"/>
                <a:cs typeface="Arial"/>
              </a:rPr>
              <a:t>Искусственный интеллект и машинное обучение</a:t>
            </a:r>
          </a:p>
        </p:txBody>
      </p:sp>
      <p:sp>
        <p:nvSpPr>
          <p:cNvPr id="6" name="">
            <a:extLst xmlns:a="http://schemas.openxmlformats.org/drawingml/2006/main">
              <a:ext uri="{FF2B5EF4-FFF2-40B4-BE49-F238E27FC236}">
                <a16:creationId xmlns:a16="http://schemas.microsoft.com/office/drawing/2014/main" id="{EB2E992C-EC79-495E-81CC-C24579D40AA6}"/>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A4C1CB"/>
                </a:solidFill>
                <a:latin typeface="Arial"/>
                <a:ea typeface="Arial"/>
                <a:cs typeface="Arial"/>
              </a:defRPr>
            </a:pPr>
            <a:r>
              <a:rPr sz="1125" b="0">
                <a:solidFill>
                  <a:srgbClr val="A4C1CB"/>
                </a:solidFill>
                <a:latin typeface="Arial"/>
                <a:ea typeface="Arial"/>
                <a:cs typeface="Arial"/>
              </a:rPr>
              <a:t>AirData.kz, архив и DATASHEET (commit 0fe9a615); расчёты автора, 2026.</a:t>
            </a:r>
          </a:p>
        </p:txBody>
      </p:sp>
      <p:sp>
        <p:nvSpPr>
          <p:cNvPr id="7" name="">
            <a:extLst xmlns:a="http://schemas.openxmlformats.org/drawingml/2006/main">
              <a:ext uri="{FF2B5EF4-FFF2-40B4-BE49-F238E27FC236}">
                <a16:creationId xmlns:a16="http://schemas.microsoft.com/office/drawing/2014/main" id="{E4F5F7C2-F0CD-4B16-B0DA-86DBE9019F88}"/>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A4C1CB"/>
                </a:solidFill>
                <a:latin typeface="Arial"/>
                <a:ea typeface="Arial"/>
                <a:cs typeface="Arial"/>
              </a:defRPr>
            </a:pPr>
            <a:r>
              <a:rPr sz="1275" b="0">
                <a:solidFill>
                  <a:srgbClr val="A4C1CB"/>
                </a:solidFill>
                <a:latin typeface="Arial"/>
                <a:ea typeface="Arial"/>
                <a:cs typeface="Arial"/>
              </a:rPr>
              <a:t>1 / 15</a:t>
            </a:r>
          </a:p>
        </p:txBody>
      </p:sp>
    </p:spTree>
    <p:extLst>
      <p:ext uri="{BB962C8B-B14F-4D97-AF65-F5344CB8AC3E}">
        <p14:creationId xmlns:p14="http://schemas.microsoft.com/office/powerpoint/2010/main" val="7680887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380537-4CE3-4831-9F05-1CF4212A9873}"/>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Пять вопросов — один уровень доказательства</a:t>
            </a:r>
          </a:p>
        </p:txBody>
      </p:sp>
      <p:sp>
        <p:nvSpPr>
          <p:cNvPr id="2" name="">
            <a:extLst xmlns:a="http://schemas.openxmlformats.org/drawingml/2006/main">
              <a:ext uri="{FF2B5EF4-FFF2-40B4-BE49-F238E27FC236}">
                <a16:creationId xmlns:a16="http://schemas.microsoft.com/office/drawing/2014/main" id="{1B8ED92F-3AEC-4EF8-88EA-688320C136F6}"/>
              </a:ext>
            </a:extLst>
          </p:cNvPr>
          <p:cNvSpPr>
            <a:spLocks xmlns:a="http://schemas.openxmlformats.org/drawingml/2006/main" noGrp="1"/>
          </p:cNvSpPr>
          <p:nvPr/>
        </p:nvSpPr>
        <p:spPr>
          <a:xfrm xmlns:a="http://schemas.openxmlformats.org/drawingml/2006/main">
            <a:off x="647700" y="18764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Измеряем</a:t>
            </a:r>
          </a:p>
        </p:txBody>
      </p:sp>
      <p:sp>
        <p:nvSpPr>
          <p:cNvPr id="3" name="">
            <a:extLst xmlns:a="http://schemas.openxmlformats.org/drawingml/2006/main">
              <a:ext uri="{FF2B5EF4-FFF2-40B4-BE49-F238E27FC236}">
                <a16:creationId xmlns:a16="http://schemas.microsoft.com/office/drawing/2014/main" id="{6A836B3D-13B1-40ED-8D45-8C4CA3AFA79D}"/>
              </a:ext>
            </a:extLst>
          </p:cNvPr>
          <p:cNvSpPr>
            <a:spLocks xmlns:a="http://schemas.openxmlformats.org/drawingml/2006/main" noGrp="1"/>
          </p:cNvSpPr>
          <p:nvPr/>
        </p:nvSpPr>
        <p:spPr>
          <a:xfrm xmlns:a="http://schemas.openxmlformats.org/drawingml/2006/main">
            <a:off x="647700" y="26574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Уровни и вещества</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Сезонные различия</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Связь с погодой</a:t>
            </a:r>
          </a:p>
        </p:txBody>
      </p:sp>
      <p:sp>
        <p:nvSpPr>
          <p:cNvPr id="4" name="">
            <a:extLst xmlns:a="http://schemas.openxmlformats.org/drawingml/2006/main">
              <a:ext uri="{FF2B5EF4-FFF2-40B4-BE49-F238E27FC236}">
                <a16:creationId xmlns:a16="http://schemas.microsoft.com/office/drawing/2014/main" id="{3AF808FB-C467-42C3-A308-D002A25C02BF}"/>
              </a:ext>
            </a:extLst>
          </p:cNvPr>
          <p:cNvSpPr>
            <a:spLocks xmlns:a="http://schemas.openxmlformats.org/drawingml/2006/main" noGrp="1"/>
          </p:cNvSpPr>
          <p:nvPr/>
        </p:nvSpPr>
        <p:spPr>
          <a:xfrm xmlns:a="http://schemas.openxmlformats.org/drawingml/2006/main">
            <a:off x="6019800" y="18764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Интерпретируем с ограничениями</a:t>
            </a:r>
          </a:p>
        </p:txBody>
      </p:sp>
      <p:sp>
        <p:nvSpPr>
          <p:cNvPr id="5" name="">
            <a:extLst xmlns:a="http://schemas.openxmlformats.org/drawingml/2006/main">
              <a:ext uri="{FF2B5EF4-FFF2-40B4-BE49-F238E27FC236}">
                <a16:creationId xmlns:a16="http://schemas.microsoft.com/office/drawing/2014/main" id="{FA215975-A2AF-444C-9707-6C200E2F3B18}"/>
              </a:ext>
            </a:extLst>
          </p:cNvPr>
          <p:cNvSpPr>
            <a:spLocks xmlns:a="http://schemas.openxmlformats.org/drawingml/2006/main" noGrp="1"/>
          </p:cNvSpPr>
          <p:nvPr/>
        </p:nvSpPr>
        <p:spPr>
          <a:xfrm xmlns:a="http://schemas.openxmlformats.org/drawingml/2006/main">
            <a:off x="6019800" y="26574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Потенциальные источники</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Действия на 5–10 лет</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Границы выводов о городе</a:t>
            </a:r>
          </a:p>
        </p:txBody>
      </p:sp>
      <p:sp>
        <p:nvSpPr>
          <p:cNvPr id="6" name="">
            <a:extLst xmlns:a="http://schemas.openxmlformats.org/drawingml/2006/main">
              <a:ext uri="{FF2B5EF4-FFF2-40B4-BE49-F238E27FC236}">
                <a16:creationId xmlns:a16="http://schemas.microsoft.com/office/drawing/2014/main" id="{38BC344B-E93D-428D-8CBA-49449EF1E60C}"/>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Case Study Task 1; протокол анализа 01/PREREGISTRATION.md.</a:t>
            </a:r>
          </a:p>
        </p:txBody>
      </p:sp>
      <p:sp>
        <p:nvSpPr>
          <p:cNvPr id="7" name="">
            <a:extLst xmlns:a="http://schemas.openxmlformats.org/drawingml/2006/main">
              <a:ext uri="{FF2B5EF4-FFF2-40B4-BE49-F238E27FC236}">
                <a16:creationId xmlns:a16="http://schemas.microsoft.com/office/drawing/2014/main" id="{70149922-753B-4B66-9041-0A34F35E1736}"/>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2 / 15</a:t>
            </a:r>
          </a:p>
        </p:txBody>
      </p:sp>
    </p:spTree>
    <p:extLst>
      <p:ext uri="{BB962C8B-B14F-4D97-AF65-F5344CB8AC3E}">
        <p14:creationId xmlns:p14="http://schemas.microsoft.com/office/powerpoint/2010/main" val="19402290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2A7D140-FADA-4188-ADFF-7C68BAAEDF4D}"/>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Реальные записи с проверяемым происхождением</a:t>
            </a:r>
          </a:p>
        </p:txBody>
      </p:sp>
      <p:sp>
        <p:nvSpPr>
          <p:cNvPr id="2" name="">
            <a:extLst xmlns:a="http://schemas.openxmlformats.org/drawingml/2006/main">
              <a:ext uri="{FF2B5EF4-FFF2-40B4-BE49-F238E27FC236}">
                <a16:creationId xmlns:a16="http://schemas.microsoft.com/office/drawing/2014/main" id="{43F3E354-0677-41FF-BD16-6DAACA1CBF56}"/>
              </a:ext>
            </a:extLst>
          </p:cNvPr>
          <p:cNvSpPr>
            <a:spLocks xmlns:a="http://schemas.openxmlformats.org/drawingml/2006/main" noGrp="1"/>
          </p:cNvSpPr>
          <p:nvPr/>
        </p:nvSpPr>
        <p:spPr>
          <a:xfrm xmlns:a="http://schemas.openxmlformats.org/drawingml/2006/main">
            <a:off x="647700" y="1952625"/>
            <a:ext cx="331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400" b="1">
                <a:solidFill>
                  <a:srgbClr val="087E8B"/>
                </a:solidFill>
                <a:latin typeface="Arial"/>
                <a:ea typeface="Arial"/>
                <a:cs typeface="Arial"/>
              </a:defRPr>
            </a:pPr>
            <a:r>
              <a:rPr sz="5400" b="1">
                <a:solidFill>
                  <a:srgbClr val="087E8B"/>
                </a:solidFill>
                <a:latin typeface="Arial"/>
                <a:ea typeface="Arial"/>
                <a:cs typeface="Arial"/>
              </a:rPr>
              <a:t>7</a:t>
            </a:r>
          </a:p>
        </p:txBody>
      </p:sp>
      <p:sp>
        <p:nvSpPr>
          <p:cNvPr id="3" name="">
            <a:extLst xmlns:a="http://schemas.openxmlformats.org/drawingml/2006/main">
              <a:ext uri="{FF2B5EF4-FFF2-40B4-BE49-F238E27FC236}">
                <a16:creationId xmlns:a16="http://schemas.microsoft.com/office/drawing/2014/main" id="{07411613-2857-4CA6-8D6E-497CF2E8E3D3}"/>
              </a:ext>
            </a:extLst>
          </p:cNvPr>
          <p:cNvSpPr>
            <a:spLocks xmlns:a="http://schemas.openxmlformats.org/drawingml/2006/main" noGrp="1"/>
          </p:cNvSpPr>
          <p:nvPr/>
        </p:nvSpPr>
        <p:spPr>
          <a:xfrm xmlns:a="http://schemas.openxmlformats.org/drawingml/2006/main">
            <a:off x="647700" y="3038475"/>
            <a:ext cx="331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архивов загрязнителей</a:t>
            </a:r>
          </a:p>
        </p:txBody>
      </p:sp>
      <p:sp>
        <p:nvSpPr>
          <p:cNvPr id="4" name="">
            <a:extLst xmlns:a="http://schemas.openxmlformats.org/drawingml/2006/main">
              <a:ext uri="{FF2B5EF4-FFF2-40B4-BE49-F238E27FC236}">
                <a16:creationId xmlns:a16="http://schemas.microsoft.com/office/drawing/2014/main" id="{BC78524C-003A-4D42-804D-9BA5906160BA}"/>
              </a:ext>
            </a:extLst>
          </p:cNvPr>
          <p:cNvSpPr>
            <a:spLocks xmlns:a="http://schemas.openxmlformats.org/drawingml/2006/main" noGrp="1"/>
          </p:cNvSpPr>
          <p:nvPr/>
        </p:nvSpPr>
        <p:spPr>
          <a:xfrm xmlns:a="http://schemas.openxmlformats.org/drawingml/2006/main">
            <a:off x="4229100" y="1952625"/>
            <a:ext cx="331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200" b="1">
                <a:solidFill>
                  <a:srgbClr val="087E8B"/>
                </a:solidFill>
                <a:latin typeface="Arial"/>
                <a:ea typeface="Arial"/>
                <a:cs typeface="Arial"/>
              </a:defRPr>
            </a:pPr>
            <a:r>
              <a:rPr sz="4200" b="1">
                <a:solidFill>
                  <a:srgbClr val="087E8B"/>
                </a:solidFill>
                <a:latin typeface="Arial"/>
                <a:ea typeface="Arial"/>
                <a:cs typeface="Arial"/>
              </a:rPr>
              <a:t>1 054 818</a:t>
            </a:r>
          </a:p>
        </p:txBody>
      </p:sp>
      <p:sp>
        <p:nvSpPr>
          <p:cNvPr id="5" name="">
            <a:extLst xmlns:a="http://schemas.openxmlformats.org/drawingml/2006/main">
              <a:ext uri="{FF2B5EF4-FFF2-40B4-BE49-F238E27FC236}">
                <a16:creationId xmlns:a16="http://schemas.microsoft.com/office/drawing/2014/main" id="{CBB13865-677D-466A-9136-C1D071AF78BC}"/>
              </a:ext>
            </a:extLst>
          </p:cNvPr>
          <p:cNvSpPr>
            <a:spLocks xmlns:a="http://schemas.openxmlformats.org/drawingml/2006/main" noGrp="1"/>
          </p:cNvSpPr>
          <p:nvPr/>
        </p:nvSpPr>
        <p:spPr>
          <a:xfrm xmlns:a="http://schemas.openxmlformats.org/drawingml/2006/main">
            <a:off x="4229100" y="3038475"/>
            <a:ext cx="331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отобранных часовых записей</a:t>
            </a:r>
          </a:p>
        </p:txBody>
      </p:sp>
      <p:sp>
        <p:nvSpPr>
          <p:cNvPr id="6" name="">
            <a:extLst xmlns:a="http://schemas.openxmlformats.org/drawingml/2006/main">
              <a:ext uri="{FF2B5EF4-FFF2-40B4-BE49-F238E27FC236}">
                <a16:creationId xmlns:a16="http://schemas.microsoft.com/office/drawing/2014/main" id="{EC6F9B90-9EB0-4D0E-B410-D0665EE1AED2}"/>
              </a:ext>
            </a:extLst>
          </p:cNvPr>
          <p:cNvSpPr>
            <a:spLocks xmlns:a="http://schemas.openxmlformats.org/drawingml/2006/main" noGrp="1"/>
          </p:cNvSpPr>
          <p:nvPr/>
        </p:nvSpPr>
        <p:spPr>
          <a:xfrm xmlns:a="http://schemas.openxmlformats.org/drawingml/2006/main">
            <a:off x="7810500" y="1952625"/>
            <a:ext cx="331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200" b="1">
                <a:solidFill>
                  <a:srgbClr val="087E8B"/>
                </a:solidFill>
                <a:latin typeface="Arial"/>
                <a:ea typeface="Arial"/>
                <a:cs typeface="Arial"/>
              </a:defRPr>
            </a:pPr>
            <a:r>
              <a:rPr sz="4200" b="1">
                <a:solidFill>
                  <a:srgbClr val="087E8B"/>
                </a:solidFill>
                <a:latin typeface="Arial"/>
                <a:ea typeface="Arial"/>
                <a:cs typeface="Arial"/>
              </a:rPr>
              <a:t>2022–2025</a:t>
            </a:r>
          </a:p>
        </p:txBody>
      </p:sp>
      <p:sp>
        <p:nvSpPr>
          <p:cNvPr id="7" name="">
            <a:extLst xmlns:a="http://schemas.openxmlformats.org/drawingml/2006/main">
              <a:ext uri="{FF2B5EF4-FFF2-40B4-BE49-F238E27FC236}">
                <a16:creationId xmlns:a16="http://schemas.microsoft.com/office/drawing/2014/main" id="{84BADEF5-6F55-46F3-9C45-46C4C41F9625}"/>
              </a:ext>
            </a:extLst>
          </p:cNvPr>
          <p:cNvSpPr>
            <a:spLocks xmlns:a="http://schemas.openxmlformats.org/drawingml/2006/main" noGrp="1"/>
          </p:cNvSpPr>
          <p:nvPr/>
        </p:nvSpPr>
        <p:spPr>
          <a:xfrm xmlns:a="http://schemas.openxmlformats.org/drawingml/2006/main">
            <a:off x="7810500" y="3038475"/>
            <a:ext cx="331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фиксированный период</a:t>
            </a:r>
          </a:p>
        </p:txBody>
      </p:sp>
      <p:sp>
        <p:nvSpPr>
          <p:cNvPr id="8" name="">
            <a:extLst xmlns:a="http://schemas.openxmlformats.org/drawingml/2006/main">
              <a:ext uri="{FF2B5EF4-FFF2-40B4-BE49-F238E27FC236}">
                <a16:creationId xmlns:a16="http://schemas.microsoft.com/office/drawing/2014/main" id="{DF566D3D-7388-435A-A52A-4B3441F5DE1D}"/>
              </a:ext>
            </a:extLst>
          </p:cNvPr>
          <p:cNvSpPr>
            <a:spLocks xmlns:a="http://schemas.openxmlformats.org/drawingml/2006/main" noGrp="1"/>
          </p:cNvSpPr>
          <p:nvPr/>
        </p:nvSpPr>
        <p:spPr>
          <a:xfrm xmlns:a="http://schemas.openxmlformats.org/drawingml/2006/main">
            <a:off x="647700" y="4400550"/>
            <a:ext cx="1047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16471"/>
                </a:solidFill>
                <a:latin typeface="Arial"/>
                <a:ea typeface="Arial"/>
                <a:cs typeface="Arial"/>
              </a:defRPr>
            </a:pPr>
            <a:r>
              <a:rPr sz="1875" b="0">
                <a:solidFill>
                  <a:srgbClr val="516471"/>
                </a:solidFill>
                <a:latin typeface="Arial"/>
                <a:ea typeface="Arial"/>
                <a:cs typeface="Arial"/>
              </a:rPr>
              <a:t>Почасовые измерения AirData.kz; первичный поставщик — Казгидромет</a:t>
            </a:r>
          </a:p>
          <a:p xmlns:a="http://schemas.openxmlformats.org/drawingml/2006/main">
            <a:pPr>
              <a:defRPr sz="1875" b="0">
                <a:solidFill>
                  <a:srgbClr val="516471"/>
                </a:solidFill>
                <a:latin typeface="Arial"/>
                <a:ea typeface="Arial"/>
                <a:cs typeface="Arial"/>
              </a:defRPr>
            </a:pPr>
            <a:r>
              <a:rPr sz="1875" b="0">
                <a:solidFill>
                  <a:srgbClr val="516471"/>
                </a:solidFill>
                <a:latin typeface="Arial"/>
                <a:ea typeface="Arial"/>
                <a:cs typeface="Arial"/>
              </a:rPr>
              <a:t>Исходные архивы закреплены commit и SHA-256</a:t>
            </a:r>
          </a:p>
        </p:txBody>
      </p:sp>
      <p:sp>
        <p:nvSpPr>
          <p:cNvPr id="9" name="">
            <a:extLst xmlns:a="http://schemas.openxmlformats.org/drawingml/2006/main">
              <a:ext uri="{FF2B5EF4-FFF2-40B4-BE49-F238E27FC236}">
                <a16:creationId xmlns:a16="http://schemas.microsoft.com/office/drawing/2014/main" id="{1E293B6A-9FEF-4925-B24D-8FF7F7AC1FA6}"/>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AirData.kz, архив и DATASHEET (commit 0fe9a615); расчёты автора, 2026.</a:t>
            </a:r>
          </a:p>
        </p:txBody>
      </p:sp>
      <p:sp>
        <p:nvSpPr>
          <p:cNvPr id="10" name="">
            <a:extLst xmlns:a="http://schemas.openxmlformats.org/drawingml/2006/main">
              <a:ext uri="{FF2B5EF4-FFF2-40B4-BE49-F238E27FC236}">
                <a16:creationId xmlns:a16="http://schemas.microsoft.com/office/drawing/2014/main" id="{C42E121E-3D23-4A80-A445-D566BFDA129D}"/>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3 / 15</a:t>
            </a:r>
          </a:p>
        </p:txBody>
      </p:sp>
    </p:spTree>
    <p:extLst>
      <p:ext uri="{BB962C8B-B14F-4D97-AF65-F5344CB8AC3E}">
        <p14:creationId xmlns:p14="http://schemas.microsoft.com/office/powerpoint/2010/main" val="13269048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5D55C8C-F326-424D-AB23-7EF959833E8B}"/>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Полнота определяет, какие сутки можно сравнить</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36ded64f1914e4a"/>
          <a:stretch xmlns:a="http://schemas.openxmlformats.org/drawingml/2006/main"/>
        </p:blipFill>
        <p:spPr>
          <a:xfrm xmlns:a="http://schemas.openxmlformats.org/drawingml/2006/main">
            <a:off x="1134453" y="1762125"/>
            <a:ext cx="6532194" cy="41052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CD9C591-5652-4344-8E1C-2182AD71BBAF}"/>
              </a:ext>
            </a:extLst>
          </p:cNvPr>
          <p:cNvSpPr>
            <a:spLocks xmlns:a="http://schemas.openxmlformats.org/drawingml/2006/main" noGrp="1"/>
          </p:cNvSpPr>
          <p:nvPr/>
        </p:nvSpPr>
        <p:spPr>
          <a:xfrm xmlns:a="http://schemas.openxmlformats.org/drawingml/2006/main">
            <a:off x="8696325" y="1876425"/>
            <a:ext cx="29432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Атырау: 1209 пригодных суток из 1461</a:t>
            </a:r>
          </a:p>
          <a:p xmlns:a="http://schemas.openxmlformats.org/drawingml/2006/main">
            <a:r>
              <a:t/>
            </a:r>
          </a:p>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Минимум 18 уникальных часов; целевые пропуски не заполнены</a:t>
            </a:r>
          </a:p>
        </p:txBody>
      </p:sp>
      <p:sp>
        <p:nvSpPr>
          <p:cNvPr id="4" name="">
            <a:extLst xmlns:a="http://schemas.openxmlformats.org/drawingml/2006/main">
              <a:ext uri="{FF2B5EF4-FFF2-40B4-BE49-F238E27FC236}">
                <a16:creationId xmlns:a16="http://schemas.microsoft.com/office/drawing/2014/main" id="{CB52793E-3572-4408-AF91-0000F7D2FB29}"/>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AirData.kz; results/coverage.csv; правило полноты в pipeline.py.</a:t>
            </a:r>
          </a:p>
        </p:txBody>
      </p:sp>
      <p:sp>
        <p:nvSpPr>
          <p:cNvPr id="5" name="">
            <a:extLst xmlns:a="http://schemas.openxmlformats.org/drawingml/2006/main">
              <a:ext uri="{FF2B5EF4-FFF2-40B4-BE49-F238E27FC236}">
                <a16:creationId xmlns:a16="http://schemas.microsoft.com/office/drawing/2014/main" id="{6CC36FFC-70C2-47D5-9506-8ADC8231BBC0}"/>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4 / 15</a:t>
            </a:r>
          </a:p>
        </p:txBody>
      </p:sp>
    </p:spTree>
    <p:extLst>
      <p:ext uri="{BB962C8B-B14F-4D97-AF65-F5344CB8AC3E}">
        <p14:creationId xmlns:p14="http://schemas.microsoft.com/office/powerpoint/2010/main" val="4958771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440E52-7786-4BFB-9D59-EE3359F0AE63}"/>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Проверка фракций: сравниваем одинаковые часы</a:t>
            </a:r>
          </a:p>
        </p:txBody>
      </p:sp>
      <p:graphicFrame>
        <p:nvGraphicFramePr>
          <p:cNvPr id="7" name=""/>
          <p:cNvGraphicFramePr/>
          <p:nvPr/>
        </p:nvGraphicFramePr>
        <p:xfrm>
          <a:off xmlns:a="http://schemas.openxmlformats.org/drawingml/2006/main" x="647700" y="1819275"/>
          <a:ext xmlns:a="http://schemas.openxmlformats.org/drawingml/2006/main" cx="10858500" cy="1628775"/>
        </p:xfrm>
        <a:graphic xmlns:a="http://schemas.openxmlformats.org/drawingml/2006/main">
          <a:graphicData uri="http://schemas.openxmlformats.org/drawingml/2006/table">
            <a:tbl>
              <a:tblPr firstRow="1" bandRow="0"/>
              <a:tblGrid>
                <a:gridCol w="3909060"/>
                <a:gridCol w="2316480"/>
                <a:gridCol w="2316480"/>
                <a:gridCol w="2316480"/>
              </a:tblGrid>
              <a:tr h="542925">
                <a:tc>
                  <a:txBody>
                    <a:bodyPr/>
                    <a:lstStyle/>
                    <a:p>
                      <a:r>
                        <a:rPr sz="1650" b="1">
                          <a:solidFill>
                            <a:srgbClr val="FFFFFF"/>
                          </a:solidFill>
                          <a:latin typeface="Arial"/>
                          <a:ea typeface="Arial"/>
                          <a:cs typeface="Arial"/>
                        </a:rPr>
                        <a:t>Пост</a:t>
                      </a:r>
                    </a:p>
                  </a:txBody>
                  <a:tcPr marL="91440" marR="91440" marT="45720" marB="45720">
                    <a:solidFill>
                      <a:srgbClr val="102B3A"/>
                    </a:solidFill>
                  </a:tcPr>
                </a:tc>
                <a:tc>
                  <a:txBody>
                    <a:bodyPr/>
                    <a:lstStyle/>
                    <a:p>
                      <a:r>
                        <a:rPr sz="1650" b="1">
                          <a:solidFill>
                            <a:srgbClr val="FFFFFF"/>
                          </a:solidFill>
                          <a:latin typeface="Arial"/>
                          <a:ea typeface="Arial"/>
                          <a:cs typeface="Arial"/>
                        </a:rPr>
                        <a:t>Парные сутки</a:t>
                      </a:r>
                    </a:p>
                  </a:txBody>
                  <a:tcPr marL="91440" marR="91440" marT="45720" marB="45720">
                    <a:solidFill>
                      <a:srgbClr val="102B3A"/>
                    </a:solidFill>
                  </a:tcPr>
                </a:tc>
                <a:tc>
                  <a:txBody>
                    <a:bodyPr/>
                    <a:lstStyle/>
                    <a:p>
                      <a:r>
                        <a:rPr sz="1650" b="1">
                          <a:solidFill>
                            <a:srgbClr val="FFFFFF"/>
                          </a:solidFill>
                          <a:latin typeface="Arial"/>
                          <a:ea typeface="Arial"/>
                          <a:cs typeface="Arial"/>
                        </a:rPr>
                        <a:t>PM2.5 &gt; PM10</a:t>
                      </a:r>
                    </a:p>
                  </a:txBody>
                  <a:tcPr marL="91440" marR="91440" marT="45720" marB="45720">
                    <a:solidFill>
                      <a:srgbClr val="102B3A"/>
                    </a:solidFill>
                  </a:tcPr>
                </a:tc>
                <a:tc>
                  <a:txBody>
                    <a:bodyPr/>
                    <a:lstStyle/>
                    <a:p>
                      <a:r>
                        <a:rPr sz="1650" b="1">
                          <a:solidFill>
                            <a:srgbClr val="FFFFFF"/>
                          </a:solidFill>
                          <a:latin typeface="Arial"/>
                          <a:ea typeface="Arial"/>
                          <a:cs typeface="Arial"/>
                        </a:rPr>
                        <a:t>Разница &gt;20%</a:t>
                      </a:r>
                    </a:p>
                  </a:txBody>
                  <a:tcPr marL="91440" marR="91440" marT="45720" marB="45720">
                    <a:solidFill>
                      <a:srgbClr val="102B3A"/>
                    </a:solidFill>
                  </a:tcPr>
                </a:tc>
              </a:tr>
              <a:tr h="542925">
                <a:tc>
                  <a:txBody>
                    <a:bodyPr/>
                    <a:lstStyle/>
                    <a:p>
                      <a:r>
                        <a:rPr sz="1800" b="0">
                          <a:solidFill>
                            <a:srgbClr val="173342"/>
                          </a:solidFill>
                          <a:latin typeface="Arial"/>
                          <a:ea typeface="Arial"/>
                          <a:cs typeface="Arial"/>
                        </a:rPr>
                        <a:t>235</a:t>
                      </a:r>
                    </a:p>
                  </a:txBody>
                  <a:tcPr marL="91440" marR="91440" marT="45720" marB="45720">
                    <a:solidFill>
                      <a:srgbClr val="F2F6F8"/>
                    </a:solidFill>
                  </a:tcPr>
                </a:tc>
                <a:tc>
                  <a:txBody>
                    <a:bodyPr/>
                    <a:lstStyle/>
                    <a:p>
                      <a:r>
                        <a:rPr sz="1800" b="0">
                          <a:solidFill>
                            <a:srgbClr val="173342"/>
                          </a:solidFill>
                          <a:latin typeface="Arial"/>
                          <a:ea typeface="Arial"/>
                          <a:cs typeface="Arial"/>
                        </a:rPr>
                        <a:t>1300</a:t>
                      </a:r>
                    </a:p>
                  </a:txBody>
                  <a:tcPr marL="91440" marR="91440" marT="45720" marB="45720">
                    <a:solidFill>
                      <a:srgbClr val="F2F6F8"/>
                    </a:solidFill>
                  </a:tcPr>
                </a:tc>
                <a:tc>
                  <a:txBody>
                    <a:bodyPr/>
                    <a:lstStyle/>
                    <a:p>
                      <a:r>
                        <a:rPr sz="1800" b="0">
                          <a:solidFill>
                            <a:srgbClr val="173342"/>
                          </a:solidFill>
                          <a:latin typeface="Arial"/>
                          <a:ea typeface="Arial"/>
                          <a:cs typeface="Arial"/>
                        </a:rPr>
                        <a:t>0</a:t>
                      </a:r>
                    </a:p>
                  </a:txBody>
                  <a:tcPr marL="91440" marR="91440" marT="45720" marB="45720">
                    <a:solidFill>
                      <a:srgbClr val="F2F6F8"/>
                    </a:solidFill>
                  </a:tcPr>
                </a:tc>
                <a:tc>
                  <a:txBody>
                    <a:bodyPr/>
                    <a:lstStyle/>
                    <a:p>
                      <a:r>
                        <a:rPr sz="1800" b="0">
                          <a:solidFill>
                            <a:srgbClr val="173342"/>
                          </a:solidFill>
                          <a:latin typeface="Arial"/>
                          <a:ea typeface="Arial"/>
                          <a:cs typeface="Arial"/>
                        </a:rPr>
                        <a:t>0</a:t>
                      </a:r>
                    </a:p>
                  </a:txBody>
                  <a:tcPr marL="91440" marR="91440" marT="45720" marB="45720">
                    <a:solidFill>
                      <a:srgbClr val="F2F6F8"/>
                    </a:solidFill>
                  </a:tcPr>
                </a:tc>
              </a:tr>
              <a:tr h="542925">
                <a:tc>
                  <a:txBody>
                    <a:bodyPr/>
                    <a:lstStyle/>
                    <a:p>
                      <a:r>
                        <a:rPr sz="1800" b="0">
                          <a:solidFill>
                            <a:srgbClr val="173342"/>
                          </a:solidFill>
                          <a:latin typeface="Arial"/>
                          <a:ea typeface="Arial"/>
                          <a:cs typeface="Arial"/>
                        </a:rPr>
                        <a:t>32</a:t>
                      </a:r>
                    </a:p>
                  </a:txBody>
                  <a:tcPr marL="91440" marR="91440" marT="45720" marB="45720">
                    <a:solidFill>
                      <a:srgbClr val="FFFFFF"/>
                    </a:solidFill>
                  </a:tcPr>
                </a:tc>
                <a:tc>
                  <a:txBody>
                    <a:bodyPr/>
                    <a:lstStyle/>
                    <a:p>
                      <a:r>
                        <a:rPr sz="1800" b="0">
                          <a:solidFill>
                            <a:srgbClr val="173342"/>
                          </a:solidFill>
                          <a:latin typeface="Arial"/>
                          <a:ea typeface="Arial"/>
                          <a:cs typeface="Arial"/>
                        </a:rPr>
                        <a:t>1209</a:t>
                      </a:r>
                    </a:p>
                  </a:txBody>
                  <a:tcPr marL="91440" marR="91440" marT="45720" marB="45720">
                    <a:solidFill>
                      <a:srgbClr val="FFFFFF"/>
                    </a:solidFill>
                  </a:tcPr>
                </a:tc>
                <a:tc>
                  <a:txBody>
                    <a:bodyPr/>
                    <a:lstStyle/>
                    <a:p>
                      <a:r>
                        <a:rPr sz="1800" b="0">
                          <a:solidFill>
                            <a:srgbClr val="173342"/>
                          </a:solidFill>
                          <a:latin typeface="Arial"/>
                          <a:ea typeface="Arial"/>
                          <a:cs typeface="Arial"/>
                        </a:rPr>
                        <a:t>845</a:t>
                      </a:r>
                    </a:p>
                  </a:txBody>
                  <a:tcPr marL="91440" marR="91440" marT="45720" marB="45720">
                    <a:solidFill>
                      <a:srgbClr val="FFFFFF"/>
                    </a:solidFill>
                  </a:tcPr>
                </a:tc>
                <a:tc>
                  <a:txBody>
                    <a:bodyPr/>
                    <a:lstStyle/>
                    <a:p>
                      <a:r>
                        <a:rPr sz="1800" b="0">
                          <a:solidFill>
                            <a:srgbClr val="173342"/>
                          </a:solidFill>
                          <a:latin typeface="Arial"/>
                          <a:ea typeface="Arial"/>
                          <a:cs typeface="Arial"/>
                        </a:rPr>
                        <a:t>280</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29C85D8-3A53-4F16-A16C-8FD897E9D86B}"/>
              </a:ext>
            </a:extLst>
          </p:cNvPr>
          <p:cNvSpPr>
            <a:spLocks xmlns:a="http://schemas.openxmlformats.org/drawingml/2006/main" noGrp="1"/>
          </p:cNvSpPr>
          <p:nvPr/>
        </p:nvSpPr>
        <p:spPr>
          <a:xfrm xmlns:a="http://schemas.openxmlformats.org/drawingml/2006/main">
            <a:off x="647700" y="3600450"/>
            <a:ext cx="1066800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16471"/>
                </a:solidFill>
                <a:latin typeface="Arial"/>
                <a:ea typeface="Arial"/>
                <a:cs typeface="Arial"/>
              </a:defRPr>
            </a:pPr>
            <a:r>
              <a:rPr sz="1875" b="0">
                <a:solidFill>
                  <a:srgbClr val="516471"/>
                </a:solidFill>
                <a:latin typeface="Arial"/>
                <a:ea typeface="Arial"/>
                <a:cs typeface="Arial"/>
              </a:rPr>
              <a:t>Дополнительный аудит 26.09.2026</a:t>
            </a:r>
          </a:p>
          <a:p xmlns:a="http://schemas.openxmlformats.org/drawingml/2006/main">
            <a:r>
              <a:t/>
            </a:r>
          </a:p>
          <a:p xmlns:a="http://schemas.openxmlformats.org/drawingml/2006/main">
            <a:pPr>
              <a:defRPr sz="1875" b="0">
                <a:solidFill>
                  <a:srgbClr val="516471"/>
                </a:solidFill>
                <a:latin typeface="Arial"/>
                <a:ea typeface="Arial"/>
                <a:cs typeface="Arial"/>
              </a:defRPr>
            </a:pPr>
            <a:r>
              <a:rPr sz="1875" b="0">
                <a:solidFill>
                  <a:srgbClr val="516471"/>
                </a:solidFill>
                <a:latin typeface="Arial"/>
                <a:ea typeface="Arial"/>
                <a:cs typeface="Arial"/>
              </a:rPr>
              <a:t>Обе суточные средние построены по одним временным меткам</a:t>
            </a:r>
          </a:p>
        </p:txBody>
      </p:sp>
      <p:sp>
        <p:nvSpPr>
          <p:cNvPr id="4" name="">
            <a:extLst xmlns:a="http://schemas.openxmlformats.org/drawingml/2006/main">
              <a:ext uri="{FF2B5EF4-FFF2-40B4-BE49-F238E27FC236}">
                <a16:creationId xmlns:a16="http://schemas.microsoft.com/office/drawing/2014/main" id="{55322E56-163E-40F7-8040-77A52F4876B7}"/>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AirData.kz; results/shared_hours_daily_quality.csv, аудит 26.09.2026.</a:t>
            </a:r>
          </a:p>
        </p:txBody>
      </p:sp>
      <p:sp>
        <p:nvSpPr>
          <p:cNvPr id="5" name="">
            <a:extLst xmlns:a="http://schemas.openxmlformats.org/drawingml/2006/main">
              <a:ext uri="{FF2B5EF4-FFF2-40B4-BE49-F238E27FC236}">
                <a16:creationId xmlns:a16="http://schemas.microsoft.com/office/drawing/2014/main" id="{A4CB4A20-78C1-4886-B0CE-3BBC358B0CB3}"/>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5 / 15</a:t>
            </a:r>
          </a:p>
        </p:txBody>
      </p:sp>
    </p:spTree>
    <p:extLst>
      <p:ext uri="{BB962C8B-B14F-4D97-AF65-F5344CB8AC3E}">
        <p14:creationId xmlns:p14="http://schemas.microsoft.com/office/powerpoint/2010/main" val="19558033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094D07-07AD-47F2-A89B-7270898A8FB9}"/>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Архив Атырау имеет более высокое среднее</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7999990589f4fb1"/>
          <a:stretch xmlns:a="http://schemas.openxmlformats.org/drawingml/2006/main"/>
        </p:blipFill>
        <p:spPr>
          <a:xfrm xmlns:a="http://schemas.openxmlformats.org/drawingml/2006/main">
            <a:off x="755652" y="1762125"/>
            <a:ext cx="7289795" cy="41052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395B19D-07B5-4AE9-8B54-2CA6E4A37508}"/>
              </a:ext>
            </a:extLst>
          </p:cNvPr>
          <p:cNvSpPr>
            <a:spLocks xmlns:a="http://schemas.openxmlformats.org/drawingml/2006/main" noGrp="1"/>
          </p:cNvSpPr>
          <p:nvPr/>
        </p:nvSpPr>
        <p:spPr>
          <a:xfrm xmlns:a="http://schemas.openxmlformats.org/drawingml/2006/main">
            <a:off x="8696325" y="1876425"/>
            <a:ext cx="29432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1124 общих пригодных дат</a:t>
            </a:r>
          </a:p>
          <a:p xmlns:a="http://schemas.openxmlformats.org/drawingml/2006/main">
            <a:r>
              <a:t/>
            </a:r>
          </a:p>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Это сравнение выбранных постов; рейтинг городов не подтверждён</a:t>
            </a:r>
          </a:p>
        </p:txBody>
      </p:sp>
      <p:sp>
        <p:nvSpPr>
          <p:cNvPr id="4" name="">
            <a:extLst xmlns:a="http://schemas.openxmlformats.org/drawingml/2006/main">
              <a:ext uri="{FF2B5EF4-FFF2-40B4-BE49-F238E27FC236}">
                <a16:creationId xmlns:a16="http://schemas.microsoft.com/office/drawing/2014/main" id="{BA5231B6-26CA-4667-A036-88845B01975F}"/>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AirData.kz; results/city_comparison.csv и common_dates_pm25.csv.</a:t>
            </a:r>
          </a:p>
        </p:txBody>
      </p:sp>
      <p:sp>
        <p:nvSpPr>
          <p:cNvPr id="5" name="">
            <a:extLst xmlns:a="http://schemas.openxmlformats.org/drawingml/2006/main">
              <a:ext uri="{FF2B5EF4-FFF2-40B4-BE49-F238E27FC236}">
                <a16:creationId xmlns:a16="http://schemas.microsoft.com/office/drawing/2014/main" id="{555B4201-BAA8-4E96-895D-8ABEE42B7C91}"/>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6 / 15</a:t>
            </a:r>
          </a:p>
        </p:txBody>
      </p:sp>
    </p:spTree>
    <p:extLst>
      <p:ext uri="{BB962C8B-B14F-4D97-AF65-F5344CB8AC3E}">
        <p14:creationId xmlns:p14="http://schemas.microsoft.com/office/powerpoint/2010/main" val="13312065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9C8912-BA9F-4F8A-8C80-216DA183203A}"/>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Ужесточение полноты сохраняет порядок средних</a:t>
            </a:r>
          </a:p>
        </p:txBody>
      </p:sp>
      <p:sp>
        <p:nvSpPr>
          <p:cNvPr id="2" name="">
            <a:extLst xmlns:a="http://schemas.openxmlformats.org/drawingml/2006/main">
              <a:ext uri="{FF2B5EF4-FFF2-40B4-BE49-F238E27FC236}">
                <a16:creationId xmlns:a16="http://schemas.microsoft.com/office/drawing/2014/main" id="{336CCEAE-41D7-49EE-B3C7-0754299FC225}"/>
              </a:ext>
            </a:extLst>
          </p:cNvPr>
          <p:cNvSpPr>
            <a:spLocks xmlns:a="http://schemas.openxmlformats.org/drawingml/2006/main" noGrp="1"/>
          </p:cNvSpPr>
          <p:nvPr/>
        </p:nvSpPr>
        <p:spPr>
          <a:xfrm xmlns:a="http://schemas.openxmlformats.org/drawingml/2006/main">
            <a:off x="647700" y="1952625"/>
            <a:ext cx="5105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400" b="1">
                <a:solidFill>
                  <a:srgbClr val="087E8B"/>
                </a:solidFill>
                <a:latin typeface="Arial"/>
                <a:ea typeface="Arial"/>
                <a:cs typeface="Arial"/>
              </a:defRPr>
            </a:pPr>
            <a:r>
              <a:rPr sz="5400" b="1">
                <a:solidFill>
                  <a:srgbClr val="087E8B"/>
                </a:solidFill>
                <a:latin typeface="Arial"/>
                <a:ea typeface="Arial"/>
                <a:cs typeface="Arial"/>
              </a:rPr>
              <a:t>1003</a:t>
            </a:r>
          </a:p>
        </p:txBody>
      </p:sp>
      <p:sp>
        <p:nvSpPr>
          <p:cNvPr id="3" name="">
            <a:extLst xmlns:a="http://schemas.openxmlformats.org/drawingml/2006/main">
              <a:ext uri="{FF2B5EF4-FFF2-40B4-BE49-F238E27FC236}">
                <a16:creationId xmlns:a16="http://schemas.microsoft.com/office/drawing/2014/main" id="{9B8B4E08-02C4-44C5-B3D7-B83AA8F23C25}"/>
              </a:ext>
            </a:extLst>
          </p:cNvPr>
          <p:cNvSpPr>
            <a:spLocks xmlns:a="http://schemas.openxmlformats.org/drawingml/2006/main" noGrp="1"/>
          </p:cNvSpPr>
          <p:nvPr/>
        </p:nvSpPr>
        <p:spPr>
          <a:xfrm xmlns:a="http://schemas.openxmlformats.org/drawingml/2006/main">
            <a:off x="647700" y="3038475"/>
            <a:ext cx="5105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общих полностью наблюдённых суток</a:t>
            </a:r>
          </a:p>
        </p:txBody>
      </p:sp>
      <p:sp>
        <p:nvSpPr>
          <p:cNvPr id="4" name="">
            <a:extLst xmlns:a="http://schemas.openxmlformats.org/drawingml/2006/main">
              <a:ext uri="{FF2B5EF4-FFF2-40B4-BE49-F238E27FC236}">
                <a16:creationId xmlns:a16="http://schemas.microsoft.com/office/drawing/2014/main" id="{B4ED975A-FAB4-4336-9531-899EC43A18DE}"/>
              </a:ext>
            </a:extLst>
          </p:cNvPr>
          <p:cNvSpPr>
            <a:spLocks xmlns:a="http://schemas.openxmlformats.org/drawingml/2006/main" noGrp="1"/>
          </p:cNvSpPr>
          <p:nvPr/>
        </p:nvSpPr>
        <p:spPr>
          <a:xfrm xmlns:a="http://schemas.openxmlformats.org/drawingml/2006/main">
            <a:off x="6019800" y="1952625"/>
            <a:ext cx="5105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400" b="1">
                <a:solidFill>
                  <a:srgbClr val="087E8B"/>
                </a:solidFill>
                <a:latin typeface="Arial"/>
                <a:ea typeface="Arial"/>
                <a:cs typeface="Arial"/>
              </a:defRPr>
            </a:pPr>
            <a:r>
              <a:rPr sz="5400" b="1">
                <a:solidFill>
                  <a:srgbClr val="087E8B"/>
                </a:solidFill>
                <a:latin typeface="Arial"/>
                <a:ea typeface="Arial"/>
                <a:cs typeface="Arial"/>
              </a:rPr>
              <a:t>53,917</a:t>
            </a:r>
          </a:p>
        </p:txBody>
      </p:sp>
      <p:sp>
        <p:nvSpPr>
          <p:cNvPr id="5" name="">
            <a:extLst xmlns:a="http://schemas.openxmlformats.org/drawingml/2006/main">
              <a:ext uri="{FF2B5EF4-FFF2-40B4-BE49-F238E27FC236}">
                <a16:creationId xmlns:a16="http://schemas.microsoft.com/office/drawing/2014/main" id="{D608D053-EB39-44AF-A36F-0E886A9864E3}"/>
              </a:ext>
            </a:extLst>
          </p:cNvPr>
          <p:cNvSpPr>
            <a:spLocks xmlns:a="http://schemas.openxmlformats.org/drawingml/2006/main" noGrp="1"/>
          </p:cNvSpPr>
          <p:nvPr/>
        </p:nvSpPr>
        <p:spPr>
          <a:xfrm xmlns:a="http://schemas.openxmlformats.org/drawingml/2006/main">
            <a:off x="6019800" y="3038475"/>
            <a:ext cx="5105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Атырау, средняя PM2.5, мкг/м³</a:t>
            </a:r>
          </a:p>
        </p:txBody>
      </p:sp>
      <p:sp>
        <p:nvSpPr>
          <p:cNvPr id="6" name="">
            <a:extLst xmlns:a="http://schemas.openxmlformats.org/drawingml/2006/main">
              <a:ext uri="{FF2B5EF4-FFF2-40B4-BE49-F238E27FC236}">
                <a16:creationId xmlns:a16="http://schemas.microsoft.com/office/drawing/2014/main" id="{A4EDDD46-AAFE-48AC-AD87-CE8CF04F62C9}"/>
              </a:ext>
            </a:extLst>
          </p:cNvPr>
          <p:cNvSpPr>
            <a:spLocks xmlns:a="http://schemas.openxmlformats.org/drawingml/2006/main" noGrp="1"/>
          </p:cNvSpPr>
          <p:nvPr/>
        </p:nvSpPr>
        <p:spPr>
          <a:xfrm xmlns:a="http://schemas.openxmlformats.org/drawingml/2006/main">
            <a:off x="647700" y="4400550"/>
            <a:ext cx="1047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16471"/>
                </a:solidFill>
                <a:latin typeface="Arial"/>
                <a:ea typeface="Arial"/>
                <a:cs typeface="Arial"/>
              </a:defRPr>
            </a:pPr>
            <a:r>
              <a:rPr sz="1875" b="0">
                <a:solidFill>
                  <a:srgbClr val="516471"/>
                </a:solidFill>
                <a:latin typeface="Arial"/>
                <a:ea typeface="Arial"/>
                <a:cs typeface="Arial"/>
              </a:rPr>
              <a:t>Последующая проверка: 24 часа вместо 18</a:t>
            </a:r>
          </a:p>
          <a:p xmlns:a="http://schemas.openxmlformats.org/drawingml/2006/main">
            <a:pPr>
              <a:defRPr sz="1875" b="0">
                <a:solidFill>
                  <a:srgbClr val="516471"/>
                </a:solidFill>
                <a:latin typeface="Arial"/>
                <a:ea typeface="Arial"/>
                <a:cs typeface="Arial"/>
              </a:defRPr>
            </a:pPr>
            <a:r>
              <a:rPr sz="1875" b="0">
                <a:solidFill>
                  <a:srgbClr val="516471"/>
                </a:solidFill>
                <a:latin typeface="Arial"/>
                <a:ea typeface="Arial"/>
                <a:cs typeface="Arial"/>
              </a:rPr>
              <a:t>Основная выборка и исходные результаты сохранены</a:t>
            </a:r>
          </a:p>
        </p:txBody>
      </p:sp>
      <p:sp>
        <p:nvSpPr>
          <p:cNvPr id="7" name="">
            <a:extLst xmlns:a="http://schemas.openxmlformats.org/drawingml/2006/main">
              <a:ext uri="{FF2B5EF4-FFF2-40B4-BE49-F238E27FC236}">
                <a16:creationId xmlns:a16="http://schemas.microsoft.com/office/drawing/2014/main" id="{E5353109-2224-4D8D-AF4D-EFF8239F88A3}"/>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results/completeness_sensitivity.csv; post-hoc аудит 26.09.2026.</a:t>
            </a:r>
          </a:p>
        </p:txBody>
      </p:sp>
      <p:sp>
        <p:nvSpPr>
          <p:cNvPr id="8" name="">
            <a:extLst xmlns:a="http://schemas.openxmlformats.org/drawingml/2006/main">
              <a:ext uri="{FF2B5EF4-FFF2-40B4-BE49-F238E27FC236}">
                <a16:creationId xmlns:a16="http://schemas.microsoft.com/office/drawing/2014/main" id="{77FD403F-5706-417F-B465-8A48C9F6866D}"/>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7 / 15</a:t>
            </a:r>
          </a:p>
        </p:txBody>
      </p:sp>
    </p:spTree>
    <p:extLst>
      <p:ext uri="{BB962C8B-B14F-4D97-AF65-F5344CB8AC3E}">
        <p14:creationId xmlns:p14="http://schemas.microsoft.com/office/powerpoint/2010/main" val="175857211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56C615-29DA-45BC-A725-1E114ADC1472}"/>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Вещества сравниваются с подходящими ориентирами</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40546f35f94446c"/>
          <a:stretch xmlns:a="http://schemas.openxmlformats.org/drawingml/2006/main"/>
        </p:blipFill>
        <p:spPr>
          <a:xfrm xmlns:a="http://schemas.openxmlformats.org/drawingml/2006/main">
            <a:off x="504825" y="1896993"/>
            <a:ext cx="7791450" cy="383553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575134A-67B3-420D-89CF-0A5FDADF3D08}"/>
              </a:ext>
            </a:extLst>
          </p:cNvPr>
          <p:cNvSpPr>
            <a:spLocks xmlns:a="http://schemas.openxmlformats.org/drawingml/2006/main" noGrp="1"/>
          </p:cNvSpPr>
          <p:nvPr/>
        </p:nvSpPr>
        <p:spPr>
          <a:xfrm xmlns:a="http://schemas.openxmlformats.org/drawingml/2006/main">
            <a:off x="8696325" y="1876425"/>
            <a:ext cx="29432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Суточные ориентиры ВОЗ — отдельные знаменатели</a:t>
            </a:r>
          </a:p>
          <a:p xmlns:a="http://schemas.openxmlformats.org/drawingml/2006/main">
            <a:r>
              <a:t/>
            </a:r>
          </a:p>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Национальные ПДК приведены отдельно в отчёте</a:t>
            </a:r>
          </a:p>
        </p:txBody>
      </p:sp>
      <p:sp>
        <p:nvSpPr>
          <p:cNvPr id="4" name="">
            <a:extLst xmlns:a="http://schemas.openxmlformats.org/drawingml/2006/main">
              <a:ext uri="{FF2B5EF4-FFF2-40B4-BE49-F238E27FC236}">
                <a16:creationId xmlns:a16="http://schemas.microsoft.com/office/drawing/2014/main" id="{77765BBF-9F3E-4A37-A167-07CE4EF3E858}"/>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ВОЗ, Global air quality guidelines (2021); ҚР ДСМ-70; results/threshold_comparison.csv.</a:t>
            </a:r>
          </a:p>
        </p:txBody>
      </p:sp>
      <p:sp>
        <p:nvSpPr>
          <p:cNvPr id="5" name="">
            <a:extLst xmlns:a="http://schemas.openxmlformats.org/drawingml/2006/main">
              <a:ext uri="{FF2B5EF4-FFF2-40B4-BE49-F238E27FC236}">
                <a16:creationId xmlns:a16="http://schemas.microsoft.com/office/drawing/2014/main" id="{93123952-BA40-4E5A-AEA6-77567BBC0A95}"/>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8 / 15</a:t>
            </a:r>
          </a:p>
        </p:txBody>
      </p:sp>
    </p:spTree>
    <p:extLst>
      <p:ext uri="{BB962C8B-B14F-4D97-AF65-F5344CB8AC3E}">
        <p14:creationId xmlns:p14="http://schemas.microsoft.com/office/powerpoint/2010/main" val="17951804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644BCB1-69D7-4E7F-82F3-76ACD0AFA125}"/>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Сезонная картина меняется вместе с уровнем ряда</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2dfab3ab838476f"/>
          <a:stretch xmlns:a="http://schemas.openxmlformats.org/drawingml/2006/main"/>
        </p:blipFill>
        <p:spPr>
          <a:xfrm xmlns:a="http://schemas.openxmlformats.org/drawingml/2006/main">
            <a:off x="504825" y="2218923"/>
            <a:ext cx="7791450" cy="319167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1D71EF0-80F7-403B-862B-427ADED5F3C4}"/>
              </a:ext>
            </a:extLst>
          </p:cNvPr>
          <p:cNvSpPr>
            <a:spLocks xmlns:a="http://schemas.openxmlformats.org/drawingml/2006/main" noGrp="1"/>
          </p:cNvSpPr>
          <p:nvPr/>
        </p:nvSpPr>
        <p:spPr>
          <a:xfrm xmlns:a="http://schemas.openxmlformats.org/drawingml/2006/main">
            <a:off x="8696325" y="1876425"/>
            <a:ext cx="29432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Общего зимнего максимума во все годы нет</a:t>
            </a:r>
          </a:p>
          <a:p xmlns:a="http://schemas.openxmlformats.org/drawingml/2006/main">
            <a:r>
              <a:t/>
            </a:r>
          </a:p>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Снижение показаний не приписано конкретной политике</a:t>
            </a:r>
          </a:p>
        </p:txBody>
      </p:sp>
      <p:sp>
        <p:nvSpPr>
          <p:cNvPr id="4" name="">
            <a:extLst xmlns:a="http://schemas.openxmlformats.org/drawingml/2006/main">
              <a:ext uri="{FF2B5EF4-FFF2-40B4-BE49-F238E27FC236}">
                <a16:creationId xmlns:a16="http://schemas.microsoft.com/office/drawing/2014/main" id="{92B24B27-56E4-4377-B6C5-B76521FC939E}"/>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AirData.kz; results/seasonal_summary.csv; figures/monthly_means.png.</a:t>
            </a:r>
          </a:p>
        </p:txBody>
      </p:sp>
      <p:sp>
        <p:nvSpPr>
          <p:cNvPr id="5" name="">
            <a:extLst xmlns:a="http://schemas.openxmlformats.org/drawingml/2006/main">
              <a:ext uri="{FF2B5EF4-FFF2-40B4-BE49-F238E27FC236}">
                <a16:creationId xmlns:a16="http://schemas.microsoft.com/office/drawing/2014/main" id="{1ABDDE07-E107-42E6-9327-204AAFE26319}"/>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9 / 15</a:t>
            </a:r>
          </a:p>
        </p:txBody>
      </p:sp>
    </p:spTree>
    <p:extLst>
      <p:ext uri="{BB962C8B-B14F-4D97-AF65-F5344CB8AC3E}">
        <p14:creationId xmlns:p14="http://schemas.microsoft.com/office/powerpoint/2010/main" val="107801280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9B5B37-44D5-4897-BE2B-1D9686166D8A}"/>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Погода слабо связана с опубликованным уровнем</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f8c0028b2a848be"/>
          <a:stretch xmlns:a="http://schemas.openxmlformats.org/drawingml/2006/main"/>
        </p:blipFill>
        <p:spPr>
          <a:xfrm xmlns:a="http://schemas.openxmlformats.org/drawingml/2006/main">
            <a:off x="504825" y="2281803"/>
            <a:ext cx="7791450" cy="306591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FD2F431-CCAF-48A0-B920-FEA416D76E80}"/>
              </a:ext>
            </a:extLst>
          </p:cNvPr>
          <p:cNvSpPr>
            <a:spLocks xmlns:a="http://schemas.openxmlformats.org/drawingml/2006/main" noGrp="1"/>
          </p:cNvSpPr>
          <p:nvPr/>
        </p:nvSpPr>
        <p:spPr>
          <a:xfrm xmlns:a="http://schemas.openxmlformats.org/drawingml/2006/main">
            <a:off x="8696325" y="1876425"/>
            <a:ext cx="29432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Ранговая корреляция: температура −0,033; ветер 0,028</a:t>
            </a:r>
          </a:p>
          <a:p xmlns:a="http://schemas.openxmlformats.org/drawingml/2006/main">
            <a:r>
              <a:t/>
            </a:r>
          </a:p>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Корреляция не устанавливает причины</a:t>
            </a:r>
          </a:p>
        </p:txBody>
      </p:sp>
      <p:sp>
        <p:nvSpPr>
          <p:cNvPr id="4" name="">
            <a:extLst xmlns:a="http://schemas.openxmlformats.org/drawingml/2006/main">
              <a:ext uri="{FF2B5EF4-FFF2-40B4-BE49-F238E27FC236}">
                <a16:creationId xmlns:a16="http://schemas.microsoft.com/office/drawing/2014/main" id="{198FB5C6-F036-41A1-9778-8A4A4D90B8BD}"/>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Open-Meteo / Copernicus ERA5; results/weather_spearman.csv.</a:t>
            </a:r>
          </a:p>
        </p:txBody>
      </p:sp>
      <p:sp>
        <p:nvSpPr>
          <p:cNvPr id="5" name="">
            <a:extLst xmlns:a="http://schemas.openxmlformats.org/drawingml/2006/main">
              <a:ext uri="{FF2B5EF4-FFF2-40B4-BE49-F238E27FC236}">
                <a16:creationId xmlns:a16="http://schemas.microsoft.com/office/drawing/2014/main" id="{88BE63F7-B50F-48E6-B00C-5FE6521145F1}"/>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10 / 15</a:t>
            </a:r>
          </a:p>
        </p:txBody>
      </p:sp>
    </p:spTree>
    <p:extLst>
      <p:ext uri="{BB962C8B-B14F-4D97-AF65-F5344CB8AC3E}">
        <p14:creationId xmlns:p14="http://schemas.microsoft.com/office/powerpoint/2010/main" val="45511254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55F8688-EBA1-4095-952C-6CAE24988937}"/>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Объяснительные модели не дали устойчивого выигрыша</a:t>
            </a:r>
          </a:p>
        </p:txBody>
      </p:sp>
      <p:graphicFrame>
        <p:nvGraphicFramePr>
          <p:cNvPr id="7" name="Chart"/>
          <p:cNvGraphicFramePr/>
          <p:nvPr/>
        </p:nvGraphicFramePr>
        <p:xfrm>
          <a:off xmlns:a="http://schemas.openxmlformats.org/drawingml/2006/main" x="552450" y="1762125"/>
          <a:ext xmlns:a="http://schemas.openxmlformats.org/drawingml/2006/main" cx="7543800" cy="3962400"/>
        </p:xfrm>
        <a:graphic xmlns:a="http://schemas.openxmlformats.org/drawingml/2006/main">
          <a:graphicData uri="http://schemas.openxmlformats.org/drawingml/2006/chart">
            <c:chart xmlns:r="http://schemas.openxmlformats.org/officeDocument/2006/relationships" xmlns:c="http://schemas.openxmlformats.org/drawingml/2006/chart" r:id="R7e70336515a64f57"/>
          </a:graphicData>
        </a:graphic>
      </p:graphicFrame>
      <p:sp>
        <p:nvSpPr>
          <p:cNvPr id="3" name="">
            <a:extLst xmlns:a="http://schemas.openxmlformats.org/drawingml/2006/main">
              <a:ext uri="{FF2B5EF4-FFF2-40B4-BE49-F238E27FC236}">
                <a16:creationId xmlns:a16="http://schemas.microsoft.com/office/drawing/2014/main" id="{F5189895-EA48-4458-9E26-19B0C908ECA0}"/>
              </a:ext>
            </a:extLst>
          </p:cNvPr>
          <p:cNvSpPr>
            <a:spLocks xmlns:a="http://schemas.openxmlformats.org/drawingml/2006/main" noGrp="1"/>
          </p:cNvSpPr>
          <p:nvPr/>
        </p:nvSpPr>
        <p:spPr>
          <a:xfrm xmlns:a="http://schemas.openxmlformats.org/drawingml/2006/main">
            <a:off x="8696325" y="1876425"/>
            <a:ext cx="29432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Обучение: 2022–2023 • валидация: 2024 • проверка: 2025</a:t>
            </a:r>
          </a:p>
          <a:p xmlns:a="http://schemas.openxmlformats.org/drawingml/2006/main">
            <a:r>
              <a:t/>
            </a:r>
          </a:p>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По валидации выбрано среднее обучающего периода</a:t>
            </a:r>
          </a:p>
        </p:txBody>
      </p:sp>
      <p:sp>
        <p:nvSpPr>
          <p:cNvPr id="4" name="">
            <a:extLst xmlns:a="http://schemas.openxmlformats.org/drawingml/2006/main">
              <a:ext uri="{FF2B5EF4-FFF2-40B4-BE49-F238E27FC236}">
                <a16:creationId xmlns:a16="http://schemas.microsoft.com/office/drawing/2014/main" id="{1B0BA93C-6A7D-4B74-A82C-E8211238CCAF}"/>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results/metrics.csv, validation_metrics.csv; models/metadata.json.</a:t>
            </a:r>
          </a:p>
        </p:txBody>
      </p:sp>
      <p:sp>
        <p:nvSpPr>
          <p:cNvPr id="5" name="">
            <a:extLst xmlns:a="http://schemas.openxmlformats.org/drawingml/2006/main">
              <a:ext uri="{FF2B5EF4-FFF2-40B4-BE49-F238E27FC236}">
                <a16:creationId xmlns:a16="http://schemas.microsoft.com/office/drawing/2014/main" id="{21398F4F-4DFB-4B67-9F4A-57CA5A3B137F}"/>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11 / 15</a:t>
            </a:r>
          </a:p>
        </p:txBody>
      </p:sp>
    </p:spTree>
    <p:extLst>
      <p:ext uri="{BB962C8B-B14F-4D97-AF65-F5344CB8AC3E}">
        <p14:creationId xmlns:p14="http://schemas.microsoft.com/office/powerpoint/2010/main" val="1812169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DE32E7-CD14-4D93-8E9F-819A53392E87}"/>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Литература задаёт контекст, но не доли источников</a:t>
            </a:r>
          </a:p>
        </p:txBody>
      </p:sp>
      <p:sp>
        <p:nvSpPr>
          <p:cNvPr id="2" name="">
            <a:extLst xmlns:a="http://schemas.openxmlformats.org/drawingml/2006/main">
              <a:ext uri="{FF2B5EF4-FFF2-40B4-BE49-F238E27FC236}">
                <a16:creationId xmlns:a16="http://schemas.microsoft.com/office/drawing/2014/main" id="{FBD92FCA-8258-4DD3-A48C-74B8D710305F}"/>
              </a:ext>
            </a:extLst>
          </p:cNvPr>
          <p:cNvSpPr>
            <a:spLocks xmlns:a="http://schemas.openxmlformats.org/drawingml/2006/main" noGrp="1"/>
          </p:cNvSpPr>
          <p:nvPr/>
        </p:nvSpPr>
        <p:spPr>
          <a:xfrm xmlns:a="http://schemas.openxmlformats.org/drawingml/2006/main">
            <a:off x="647700" y="18764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Обосновано источниками</a:t>
            </a:r>
          </a:p>
        </p:txBody>
      </p:sp>
      <p:sp>
        <p:nvSpPr>
          <p:cNvPr id="3" name="">
            <a:extLst xmlns:a="http://schemas.openxmlformats.org/drawingml/2006/main">
              <a:ext uri="{FF2B5EF4-FFF2-40B4-BE49-F238E27FC236}">
                <a16:creationId xmlns:a16="http://schemas.microsoft.com/office/drawing/2014/main" id="{F43C6225-3D21-4667-AC8D-3AFA7E06956C}"/>
              </a:ext>
            </a:extLst>
          </p:cNvPr>
          <p:cNvSpPr>
            <a:spLocks xmlns:a="http://schemas.openxmlformats.org/drawingml/2006/main" noGrp="1"/>
          </p:cNvSpPr>
          <p:nvPr/>
        </p:nvSpPr>
        <p:spPr>
          <a:xfrm xmlns:a="http://schemas.openxmlformats.org/drawingml/2006/main">
            <a:off x="647700" y="26574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Промышленность и энергетика</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Транспорт и отопление</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Пространственная неоднородность</a:t>
            </a:r>
          </a:p>
        </p:txBody>
      </p:sp>
      <p:sp>
        <p:nvSpPr>
          <p:cNvPr id="4" name="">
            <a:extLst xmlns:a="http://schemas.openxmlformats.org/drawingml/2006/main">
              <a:ext uri="{FF2B5EF4-FFF2-40B4-BE49-F238E27FC236}">
                <a16:creationId xmlns:a16="http://schemas.microsoft.com/office/drawing/2014/main" id="{4083BDA0-A8A3-400B-A266-C1779310ED8F}"/>
              </a:ext>
            </a:extLst>
          </p:cNvPr>
          <p:cNvSpPr>
            <a:spLocks xmlns:a="http://schemas.openxmlformats.org/drawingml/2006/main" noGrp="1"/>
          </p:cNvSpPr>
          <p:nvPr/>
        </p:nvSpPr>
        <p:spPr>
          <a:xfrm xmlns:a="http://schemas.openxmlformats.org/drawingml/2006/main">
            <a:off x="6019800" y="18764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Требует новых измерений</a:t>
            </a:r>
          </a:p>
        </p:txBody>
      </p:sp>
      <p:sp>
        <p:nvSpPr>
          <p:cNvPr id="5" name="">
            <a:extLst xmlns:a="http://schemas.openxmlformats.org/drawingml/2006/main">
              <a:ext uri="{FF2B5EF4-FFF2-40B4-BE49-F238E27FC236}">
                <a16:creationId xmlns:a16="http://schemas.microsoft.com/office/drawing/2014/main" id="{BD7F3989-5A18-4902-B5B7-869601EFD7EE}"/>
              </a:ext>
            </a:extLst>
          </p:cNvPr>
          <p:cNvSpPr>
            <a:spLocks xmlns:a="http://schemas.openxmlformats.org/drawingml/2006/main" noGrp="1"/>
          </p:cNvSpPr>
          <p:nvPr/>
        </p:nvSpPr>
        <p:spPr>
          <a:xfrm xmlns:a="http://schemas.openxmlformats.org/drawingml/2006/main">
            <a:off x="6019800" y="26574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Доля каждого источника</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Воздействие на население</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Эффект конкретной меры</a:t>
            </a:r>
          </a:p>
        </p:txBody>
      </p:sp>
      <p:sp>
        <p:nvSpPr>
          <p:cNvPr id="6" name="">
            <a:extLst xmlns:a="http://schemas.openxmlformats.org/drawingml/2006/main">
              <a:ext uri="{FF2B5EF4-FFF2-40B4-BE49-F238E27FC236}">
                <a16:creationId xmlns:a16="http://schemas.microsoft.com/office/drawing/2014/main" id="{AFA8FC21-4D03-4060-A99C-C5356798C738}"/>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Казгидромет (2021); региональная инвентаризация [9]; Yessenamanova et al. (2021), DOI 10.18280/ijsdp.160308.</a:t>
            </a:r>
          </a:p>
        </p:txBody>
      </p:sp>
      <p:sp>
        <p:nvSpPr>
          <p:cNvPr id="7" name="">
            <a:extLst xmlns:a="http://schemas.openxmlformats.org/drawingml/2006/main">
              <a:ext uri="{FF2B5EF4-FFF2-40B4-BE49-F238E27FC236}">
                <a16:creationId xmlns:a16="http://schemas.microsoft.com/office/drawing/2014/main" id="{2277DA2F-0BCD-489D-8FBB-B795C793E568}"/>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12 / 15</a:t>
            </a:r>
          </a:p>
        </p:txBody>
      </p:sp>
    </p:spTree>
    <p:extLst>
      <p:ext uri="{BB962C8B-B14F-4D97-AF65-F5344CB8AC3E}">
        <p14:creationId xmlns:p14="http://schemas.microsoft.com/office/powerpoint/2010/main" val="25148038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CB11B1A-03A9-489E-865C-2FB0FDC16CF4}"/>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Действия: сначала проверяем измерение</a:t>
            </a:r>
          </a:p>
        </p:txBody>
      </p:sp>
      <p:sp>
        <p:nvSpPr>
          <p:cNvPr id="2" name="">
            <a:extLst xmlns:a="http://schemas.openxmlformats.org/drawingml/2006/main">
              <a:ext uri="{FF2B5EF4-FFF2-40B4-BE49-F238E27FC236}">
                <a16:creationId xmlns:a16="http://schemas.microsoft.com/office/drawing/2014/main" id="{5FDEC8E1-ED8F-42A5-920A-6E4193783CD5}"/>
              </a:ext>
            </a:extLst>
          </p:cNvPr>
          <p:cNvSpPr>
            <a:spLocks xmlns:a="http://schemas.openxmlformats.org/drawingml/2006/main" noGrp="1"/>
          </p:cNvSpPr>
          <p:nvPr/>
        </p:nvSpPr>
        <p:spPr>
          <a:xfrm xmlns:a="http://schemas.openxmlformats.org/drawingml/2006/main">
            <a:off x="647700" y="18764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Ближайший год</a:t>
            </a:r>
          </a:p>
        </p:txBody>
      </p:sp>
      <p:sp>
        <p:nvSpPr>
          <p:cNvPr id="3" name="">
            <a:extLst xmlns:a="http://schemas.openxmlformats.org/drawingml/2006/main">
              <a:ext uri="{FF2B5EF4-FFF2-40B4-BE49-F238E27FC236}">
                <a16:creationId xmlns:a16="http://schemas.microsoft.com/office/drawing/2014/main" id="{C7FA51E1-AC37-4D6A-B374-60921302FFA7}"/>
              </a:ext>
            </a:extLst>
          </p:cNvPr>
          <p:cNvSpPr>
            <a:spLocks xmlns:a="http://schemas.openxmlformats.org/drawingml/2006/main" noGrp="1"/>
          </p:cNvSpPr>
          <p:nvPr/>
        </p:nvSpPr>
        <p:spPr>
          <a:xfrm xmlns:a="http://schemas.openxmlformats.org/drawingml/2006/main">
            <a:off x="647700" y="26574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Поверка и маркировка каналов</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Контрольные совместные измерения</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Публикация флагов качества</a:t>
            </a:r>
          </a:p>
        </p:txBody>
      </p:sp>
      <p:sp>
        <p:nvSpPr>
          <p:cNvPr id="4" name="">
            <a:extLst xmlns:a="http://schemas.openxmlformats.org/drawingml/2006/main">
              <a:ext uri="{FF2B5EF4-FFF2-40B4-BE49-F238E27FC236}">
                <a16:creationId xmlns:a16="http://schemas.microsoft.com/office/drawing/2014/main" id="{3FD07BFA-C3E7-44D0-AFCC-0FE7D6DC1D2F}"/>
              </a:ext>
            </a:extLst>
          </p:cNvPr>
          <p:cNvSpPr>
            <a:spLocks xmlns:a="http://schemas.openxmlformats.org/drawingml/2006/main" noGrp="1"/>
          </p:cNvSpPr>
          <p:nvPr/>
        </p:nvSpPr>
        <p:spPr>
          <a:xfrm xmlns:a="http://schemas.openxmlformats.org/drawingml/2006/main">
            <a:off x="6019800" y="18764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Следующие 1–10 лет</a:t>
            </a:r>
          </a:p>
        </p:txBody>
      </p:sp>
      <p:sp>
        <p:nvSpPr>
          <p:cNvPr id="5" name="">
            <a:extLst xmlns:a="http://schemas.openxmlformats.org/drawingml/2006/main">
              <a:ext uri="{FF2B5EF4-FFF2-40B4-BE49-F238E27FC236}">
                <a16:creationId xmlns:a16="http://schemas.microsoft.com/office/drawing/2014/main" id="{4D729A5C-DF6A-48DD-B6B8-3DFB31372FD9}"/>
              </a:ext>
            </a:extLst>
          </p:cNvPr>
          <p:cNvSpPr>
            <a:spLocks xmlns:a="http://schemas.openxmlformats.org/drawingml/2006/main" noGrp="1"/>
          </p:cNvSpPr>
          <p:nvPr/>
        </p:nvSpPr>
        <p:spPr>
          <a:xfrm xmlns:a="http://schemas.openxmlformats.org/drawingml/2006/main">
            <a:off x="6019800" y="26574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Многопостовый мониторинг</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Инвентаризация и проверка источников</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Оценка промышленных и транспортных мер</a:t>
            </a:r>
          </a:p>
        </p:txBody>
      </p:sp>
      <p:sp>
        <p:nvSpPr>
          <p:cNvPr id="6" name="">
            <a:extLst xmlns:a="http://schemas.openxmlformats.org/drawingml/2006/main">
              <a:ext uri="{FF2B5EF4-FFF2-40B4-BE49-F238E27FC236}">
                <a16:creationId xmlns:a16="http://schemas.microsoft.com/office/drawing/2014/main" id="{7DDA0D5A-D7E1-4050-BF97-2B94FF53B351}"/>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Синтез результатов контроля качества; ВОЗ (2021); региональные первоисточники [3,9,10].</a:t>
            </a:r>
          </a:p>
        </p:txBody>
      </p:sp>
      <p:sp>
        <p:nvSpPr>
          <p:cNvPr id="7" name="">
            <a:extLst xmlns:a="http://schemas.openxmlformats.org/drawingml/2006/main">
              <a:ext uri="{FF2B5EF4-FFF2-40B4-BE49-F238E27FC236}">
                <a16:creationId xmlns:a16="http://schemas.microsoft.com/office/drawing/2014/main" id="{B043C697-A446-46B4-96FC-69EE7C0154CC}"/>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13 / 15</a:t>
            </a:r>
          </a:p>
        </p:txBody>
      </p:sp>
    </p:spTree>
    <p:extLst>
      <p:ext uri="{BB962C8B-B14F-4D97-AF65-F5344CB8AC3E}">
        <p14:creationId xmlns:p14="http://schemas.microsoft.com/office/powerpoint/2010/main" val="2000569061"/>
      </p:ext>
    </p:extLst>
  </p:cSld>
</p:sld>
</file>

<file path=ppt/slides/slide14.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42A56E-4B93-43B8-AD4B-1BCE6F53D734}"/>
              </a:ext>
            </a:extLst>
          </p:cNvPr>
          <p:cNvSpPr>
            <a:spLocks xmlns:a="http://schemas.openxmlformats.org/drawingml/2006/main" noGrp="1"/>
          </p:cNvSpPr>
          <p:nvPr/>
        </p:nvSpPr>
        <p:spPr>
          <a:xfrm xmlns:a="http://schemas.openxmlformats.org/drawingml/2006/main">
            <a:off x="609600" y="5905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Вычисления завершены; экологическая проверка открыта</a:t>
            </a:r>
          </a:p>
        </p:txBody>
      </p:sp>
      <p:sp>
        <p:nvSpPr>
          <p:cNvPr id="2" name="">
            <a:extLst xmlns:a="http://schemas.openxmlformats.org/drawingml/2006/main">
              <a:ext uri="{FF2B5EF4-FFF2-40B4-BE49-F238E27FC236}">
                <a16:creationId xmlns:a16="http://schemas.microsoft.com/office/drawing/2014/main" id="{1C3F09F8-F04B-42F3-BBF2-E263288948FD}"/>
              </a:ext>
            </a:extLst>
          </p:cNvPr>
          <p:cNvSpPr>
            <a:spLocks xmlns:a="http://schemas.openxmlformats.org/drawingml/2006/main" noGrp="1"/>
          </p:cNvSpPr>
          <p:nvPr/>
        </p:nvSpPr>
        <p:spPr>
          <a:xfrm xmlns:a="http://schemas.openxmlformats.org/drawingml/2006/main">
            <a:off x="647700" y="2076450"/>
            <a:ext cx="10572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EDF4F7"/>
                </a:solidFill>
                <a:latin typeface="Arial"/>
                <a:ea typeface="Arial"/>
                <a:cs typeface="Arial"/>
              </a:defRPr>
            </a:pPr>
            <a:r>
              <a:rPr sz="2550" b="0">
                <a:solidFill>
                  <a:srgbClr val="EDF4F7"/>
                </a:solidFill>
                <a:latin typeface="Arial"/>
                <a:ea typeface="Arial"/>
                <a:cs typeface="Arial"/>
              </a:rPr>
              <a:t>Проверяемый путь от архива к таблицам и моделям</a:t>
            </a:r>
          </a:p>
          <a:p xmlns:a="http://schemas.openxmlformats.org/drawingml/2006/main">
            <a:r>
              <a:t/>
            </a:r>
          </a:p>
          <a:p xmlns:a="http://schemas.openxmlformats.org/drawingml/2006/main">
            <a:pPr>
              <a:defRPr sz="2550" b="0">
                <a:solidFill>
                  <a:srgbClr val="EDF4F7"/>
                </a:solidFill>
                <a:latin typeface="Arial"/>
                <a:ea typeface="Arial"/>
                <a:cs typeface="Arial"/>
              </a:defRPr>
            </a:pPr>
            <a:r>
              <a:rPr sz="2550" b="0">
                <a:solidFill>
                  <a:srgbClr val="EDF4F7"/>
                </a:solidFill>
                <a:latin typeface="Arial"/>
                <a:ea typeface="Arial"/>
                <a:cs typeface="Arial"/>
              </a:rPr>
              <a:t>Проблема поста № 32 подтверждена на одинаковых часах</a:t>
            </a:r>
          </a:p>
          <a:p xmlns:a="http://schemas.openxmlformats.org/drawingml/2006/main">
            <a:r>
              <a:t/>
            </a:r>
          </a:p>
          <a:p xmlns:a="http://schemas.openxmlformats.org/drawingml/2006/main">
            <a:pPr>
              <a:defRPr sz="2550" b="0">
                <a:solidFill>
                  <a:srgbClr val="EDF4F7"/>
                </a:solidFill>
                <a:latin typeface="Arial"/>
                <a:ea typeface="Arial"/>
                <a:cs typeface="Arial"/>
              </a:defRPr>
            </a:pPr>
            <a:r>
              <a:rPr sz="2550" b="0">
                <a:solidFill>
                  <a:srgbClr val="EDF4F7"/>
                </a:solidFill>
                <a:latin typeface="Arial"/>
                <a:ea typeface="Arial"/>
                <a:cs typeface="Arial"/>
              </a:rPr>
              <a:t>Статус PARTIAL сохраняется до независимой валидации</a:t>
            </a:r>
          </a:p>
        </p:txBody>
      </p:sp>
      <p:sp>
        <p:nvSpPr>
          <p:cNvPr id="3" name="">
            <a:extLst xmlns:a="http://schemas.openxmlformats.org/drawingml/2006/main">
              <a:ext uri="{FF2B5EF4-FFF2-40B4-BE49-F238E27FC236}">
                <a16:creationId xmlns:a16="http://schemas.microsoft.com/office/drawing/2014/main" id="{6D253552-13FC-4DFA-9B46-7F2095C2C58F}"/>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A4C1CB"/>
                </a:solidFill>
                <a:latin typeface="Arial"/>
                <a:ea typeface="Arial"/>
                <a:cs typeface="Arial"/>
              </a:defRPr>
            </a:pPr>
            <a:r>
              <a:rPr sz="1125" b="0">
                <a:solidFill>
                  <a:srgbClr val="A4C1CB"/>
                </a:solidFill>
                <a:latin typeface="Arial"/>
                <a:ea typeface="Arial"/>
                <a:cs typeface="Arial"/>
              </a:rPr>
              <a:t>Report.md; DATA_CARD.md; результаты научного аудита 26.09.2026.</a:t>
            </a:r>
          </a:p>
        </p:txBody>
      </p:sp>
      <p:sp>
        <p:nvSpPr>
          <p:cNvPr id="4" name="">
            <a:extLst xmlns:a="http://schemas.openxmlformats.org/drawingml/2006/main">
              <a:ext uri="{FF2B5EF4-FFF2-40B4-BE49-F238E27FC236}">
                <a16:creationId xmlns:a16="http://schemas.microsoft.com/office/drawing/2014/main" id="{4E871ACA-E3CE-43CA-8A7D-51DC9C21F0C8}"/>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A4C1CB"/>
                </a:solidFill>
                <a:latin typeface="Arial"/>
                <a:ea typeface="Arial"/>
                <a:cs typeface="Arial"/>
              </a:defRPr>
            </a:pPr>
            <a:r>
              <a:rPr sz="1275" b="0">
                <a:solidFill>
                  <a:srgbClr val="A4C1CB"/>
                </a:solidFill>
                <a:latin typeface="Arial"/>
                <a:ea typeface="Arial"/>
                <a:cs typeface="Arial"/>
              </a:rPr>
              <a:t>14 / 15</a:t>
            </a:r>
          </a:p>
        </p:txBody>
      </p:sp>
    </p:spTree>
    <p:extLst>
      <p:ext uri="{BB962C8B-B14F-4D97-AF65-F5344CB8AC3E}">
        <p14:creationId xmlns:p14="http://schemas.microsoft.com/office/powerpoint/2010/main" val="208439117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33A0F9-C1A2-4E9A-B5A5-BE1B815C9EBA}"/>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Первоисточники и воспроизводимость</a:t>
            </a:r>
          </a:p>
        </p:txBody>
      </p:sp>
      <p:sp>
        <p:nvSpPr>
          <p:cNvPr id="2" name="">
            <a:extLst xmlns:a="http://schemas.openxmlformats.org/drawingml/2006/main">
              <a:ext uri="{FF2B5EF4-FFF2-40B4-BE49-F238E27FC236}">
                <a16:creationId xmlns:a16="http://schemas.microsoft.com/office/drawing/2014/main" id="{5082FB92-6B44-41E6-9CB4-A3DDFF5F2B7D}"/>
              </a:ext>
            </a:extLst>
          </p:cNvPr>
          <p:cNvSpPr>
            <a:spLocks xmlns:a="http://schemas.openxmlformats.org/drawingml/2006/main" noGrp="1"/>
          </p:cNvSpPr>
          <p:nvPr/>
        </p:nvSpPr>
        <p:spPr>
          <a:xfrm xmlns:a="http://schemas.openxmlformats.org/drawingml/2006/main">
            <a:off x="647700" y="17621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Источники</a:t>
            </a:r>
          </a:p>
        </p:txBody>
      </p:sp>
      <p:sp>
        <p:nvSpPr>
          <p:cNvPr id="3" name="">
            <a:extLst xmlns:a="http://schemas.openxmlformats.org/drawingml/2006/main">
              <a:ext uri="{FF2B5EF4-FFF2-40B4-BE49-F238E27FC236}">
                <a16:creationId xmlns:a16="http://schemas.microsoft.com/office/drawing/2014/main" id="{F918C84E-2078-4A6B-ACDF-905BAFF8F087}"/>
              </a:ext>
            </a:extLst>
          </p:cNvPr>
          <p:cNvSpPr>
            <a:spLocks xmlns:a="http://schemas.openxmlformats.org/drawingml/2006/main" noGrp="1"/>
          </p:cNvSpPr>
          <p:nvPr/>
        </p:nvSpPr>
        <p:spPr>
          <a:xfrm xmlns:a="http://schemas.openxmlformats.org/drawingml/2006/main">
            <a:off x="647700" y="25431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AirData.kz — данные, лицензия и описание очистки</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Казгидромет — мониторинг и региональная инвентаризация</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ВОЗ (2021); приказ ҚР ДСМ-70 — ориентиры</a:t>
            </a:r>
          </a:p>
        </p:txBody>
      </p:sp>
      <p:sp>
        <p:nvSpPr>
          <p:cNvPr id="4" name="">
            <a:extLst xmlns:a="http://schemas.openxmlformats.org/drawingml/2006/main">
              <a:ext uri="{FF2B5EF4-FFF2-40B4-BE49-F238E27FC236}">
                <a16:creationId xmlns:a16="http://schemas.microsoft.com/office/drawing/2014/main" id="{C92B1C11-9CC5-453A-8B3A-F18B9F36FFB3}"/>
              </a:ext>
            </a:extLst>
          </p:cNvPr>
          <p:cNvSpPr>
            <a:spLocks xmlns:a="http://schemas.openxmlformats.org/drawingml/2006/main" noGrp="1"/>
          </p:cNvSpPr>
          <p:nvPr/>
        </p:nvSpPr>
        <p:spPr>
          <a:xfrm xmlns:a="http://schemas.openxmlformats.org/drawingml/2006/main">
            <a:off x="6019800" y="17621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Методы и данные</a:t>
            </a:r>
          </a:p>
        </p:txBody>
      </p:sp>
      <p:sp>
        <p:nvSpPr>
          <p:cNvPr id="5" name="">
            <a:extLst xmlns:a="http://schemas.openxmlformats.org/drawingml/2006/main">
              <a:ext uri="{FF2B5EF4-FFF2-40B4-BE49-F238E27FC236}">
                <a16:creationId xmlns:a16="http://schemas.microsoft.com/office/drawing/2014/main" id="{2E3C38D3-6B21-4958-93C6-91ED64BDB5A3}"/>
              </a:ext>
            </a:extLst>
          </p:cNvPr>
          <p:cNvSpPr>
            <a:spLocks xmlns:a="http://schemas.openxmlformats.org/drawingml/2006/main" noGrp="1"/>
          </p:cNvSpPr>
          <p:nvPr/>
        </p:nvSpPr>
        <p:spPr>
          <a:xfrm xmlns:a="http://schemas.openxmlformats.org/drawingml/2006/main">
            <a:off x="6019800" y="25431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Yessenamanova et al. (2021) — H₂S в Атырау</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Open-Meteo / Copernicus ERA5 — погода</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Код, CSV и полные ссылки: References.md</a:t>
            </a:r>
          </a:p>
        </p:txBody>
      </p:sp>
      <p:sp>
        <p:nvSpPr>
          <p:cNvPr id="6" name="">
            <a:extLst xmlns:a="http://schemas.openxmlformats.org/drawingml/2006/main">
              <a:ext uri="{FF2B5EF4-FFF2-40B4-BE49-F238E27FC236}">
                <a16:creationId xmlns:a16="http://schemas.microsoft.com/office/drawing/2014/main" id="{2E2BFBC8-0D28-4454-BE3A-5DF3D6FE208E}"/>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References.md и sources.csv; источники просмотрены 25–26.09.2026.</a:t>
            </a:r>
          </a:p>
        </p:txBody>
      </p:sp>
      <p:sp>
        <p:nvSpPr>
          <p:cNvPr id="7" name="">
            <a:extLst xmlns:a="http://schemas.openxmlformats.org/drawingml/2006/main">
              <a:ext uri="{FF2B5EF4-FFF2-40B4-BE49-F238E27FC236}">
                <a16:creationId xmlns:a16="http://schemas.microsoft.com/office/drawing/2014/main" id="{F24A5D26-38E6-4DDD-840B-9FADF3D10AF1}"/>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15 / 15</a:t>
            </a:r>
          </a:p>
        </p:txBody>
      </p:sp>
    </p:spTree>
    <p:extLst>
      <p:ext uri="{BB962C8B-B14F-4D97-AF65-F5344CB8AC3E}">
        <p14:creationId xmlns:p14="http://schemas.microsoft.com/office/powerpoint/2010/main" val="17561955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2026-09-25T20:47:47.4490000Z</dcterms:created>
  <dcterms:modified xsi:type="dcterms:W3CDTF">2026-09-25T20:47:47.4490000Z</dcterms:modified>
</coreProperties>
</file>