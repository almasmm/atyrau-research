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249264ec594ff7" /><Relationship Type="http://schemas.openxmlformats.org/officeDocument/2006/relationships/extended-properties" Target="/docProps/app.xml" Id="Rce031ddc1eeb4d58" /><Relationship Type="http://schemas.openxmlformats.org/officeDocument/2006/relationships/officeDocument" Target="/ppt/presentation.xml" Id="R03f5788cf23a40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a210d968ce4229"/>
  </p:sldMasterIdLst>
  <p:notesMasterIdLst>
    <p:notesMasterId xmlns:r="http://schemas.openxmlformats.org/officeDocument/2006/relationships" r:id="R492f55cb28f041d5"/>
  </p:notesMasterIdLst>
  <p:sldIdLst>
    <p:sldId xmlns:r="http://schemas.openxmlformats.org/officeDocument/2006/relationships" id="256" r:id="Rb93bf64b58d24af7"/>
    <p:sldId xmlns:r="http://schemas.openxmlformats.org/officeDocument/2006/relationships" id="257" r:id="R71587f7e6c4b43ab"/>
    <p:sldId xmlns:r="http://schemas.openxmlformats.org/officeDocument/2006/relationships" id="258" r:id="R43c118cc15094b10"/>
    <p:sldId xmlns:r="http://schemas.openxmlformats.org/officeDocument/2006/relationships" id="259" r:id="Rf397b973d2ea4ac3"/>
    <p:sldId xmlns:r="http://schemas.openxmlformats.org/officeDocument/2006/relationships" id="260" r:id="R52018e0753154e18"/>
    <p:sldId xmlns:r="http://schemas.openxmlformats.org/officeDocument/2006/relationships" id="261" r:id="R6b7bc89ba3d44d8b"/>
    <p:sldId xmlns:r="http://schemas.openxmlformats.org/officeDocument/2006/relationships" id="262" r:id="R04b2885afcc7477d"/>
    <p:sldId xmlns:r="http://schemas.openxmlformats.org/officeDocument/2006/relationships" id="263" r:id="R7b43f3465ea64826"/>
    <p:sldId xmlns:r="http://schemas.openxmlformats.org/officeDocument/2006/relationships" id="264" r:id="R70d0db91bd514273"/>
    <p:sldId xmlns:r="http://schemas.openxmlformats.org/officeDocument/2006/relationships" id="265" r:id="Rfcc0ece7afca4a76"/>
    <p:sldId xmlns:r="http://schemas.openxmlformats.org/officeDocument/2006/relationships" id="266" r:id="Reb5d500c51ac4240"/>
    <p:sldId xmlns:r="http://schemas.openxmlformats.org/officeDocument/2006/relationships" id="267" r:id="R2651d8ddc3564452"/>
    <p:sldId xmlns:r="http://schemas.openxmlformats.org/officeDocument/2006/relationships" id="268" r:id="R05fa02773ad84cf7"/>
    <p:sldId xmlns:r="http://schemas.openxmlformats.org/officeDocument/2006/relationships" id="269" r:id="R69ae83981d8e40b4"/>
    <p:sldId xmlns:r="http://schemas.openxmlformats.org/officeDocument/2006/relationships" id="270" r:id="Rbbd959f08101422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594a7fab664758" /><Relationship Type="http://schemas.openxmlformats.org/officeDocument/2006/relationships/slideMaster" Target="/ppt/slideMasters/slideMaster1.xml" Id="Re0a210d968ce4229" /><Relationship Type="http://schemas.openxmlformats.org/officeDocument/2006/relationships/notesMaster" Target="/ppt/notesMasters/notesMaster1.xml" Id="R492f55cb28f041d5" /><Relationship Type="http://schemas.openxmlformats.org/officeDocument/2006/relationships/presProps" Target="/ppt/presProps.xml" Id="R45f26c926eca42c9" /><Relationship Type="http://schemas.openxmlformats.org/officeDocument/2006/relationships/tableStyles" Target="/ppt/tableStyles.xml" Id="Rb0bcd7e87eab4355" /><Relationship Type="http://schemas.openxmlformats.org/officeDocument/2006/relationships/slide" Target="/ppt/slides/slide1.xml" Id="Rb93bf64b58d24af7" /><Relationship Type="http://schemas.openxmlformats.org/officeDocument/2006/relationships/slide" Target="/ppt/slides/slide2.xml" Id="R71587f7e6c4b43ab" /><Relationship Type="http://schemas.openxmlformats.org/officeDocument/2006/relationships/slide" Target="/ppt/slides/slide3.xml" Id="R43c118cc15094b10" /><Relationship Type="http://schemas.openxmlformats.org/officeDocument/2006/relationships/slide" Target="/ppt/slides/slide4.xml" Id="Rf397b973d2ea4ac3" /><Relationship Type="http://schemas.openxmlformats.org/officeDocument/2006/relationships/slide" Target="/ppt/slides/slide5.xml" Id="R52018e0753154e18" /><Relationship Type="http://schemas.openxmlformats.org/officeDocument/2006/relationships/slide" Target="/ppt/slides/slide6.xml" Id="R6b7bc89ba3d44d8b" /><Relationship Type="http://schemas.openxmlformats.org/officeDocument/2006/relationships/slide" Target="/ppt/slides/slide7.xml" Id="R04b2885afcc7477d" /><Relationship Type="http://schemas.openxmlformats.org/officeDocument/2006/relationships/slide" Target="/ppt/slides/slide8.xml" Id="R7b43f3465ea64826" /><Relationship Type="http://schemas.openxmlformats.org/officeDocument/2006/relationships/slide" Target="/ppt/slides/slide9.xml" Id="R70d0db91bd514273" /><Relationship Type="http://schemas.openxmlformats.org/officeDocument/2006/relationships/slide" Target="/ppt/slides/slide10.xml" Id="Rfcc0ece7afca4a76" /><Relationship Type="http://schemas.openxmlformats.org/officeDocument/2006/relationships/slide" Target="/ppt/slides/slide11.xml" Id="Reb5d500c51ac4240" /><Relationship Type="http://schemas.openxmlformats.org/officeDocument/2006/relationships/slide" Target="/ppt/slides/slide12.xml" Id="R2651d8ddc3564452" /><Relationship Type="http://schemas.openxmlformats.org/officeDocument/2006/relationships/slide" Target="/ppt/slides/slide13.xml" Id="R05fa02773ad84cf7" /><Relationship Type="http://schemas.openxmlformats.org/officeDocument/2006/relationships/slide" Target="/ppt/slides/slide14.xml" Id="R69ae83981d8e40b4" /><Relationship Type="http://schemas.openxmlformats.org/officeDocument/2006/relationships/slide" Target="/ppt/slides/slide15.xml" Id="Rbbd959f0810142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ed54c4b64d4d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f3835e1da44688" /><Relationship Type="http://schemas.openxmlformats.org/officeDocument/2006/relationships/notesMaster" Target="/ppt/notesMasters/notesMaster1.xml" Id="Re480a897706d49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6ea8889bf74dcb" /><Relationship Type="http://schemas.openxmlformats.org/officeDocument/2006/relationships/notesMaster" Target="/ppt/notesMasters/notesMaster1.xml" Id="R83dad2439b9b4e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16b12a521684168" /><Relationship Type="http://schemas.openxmlformats.org/officeDocument/2006/relationships/notesMaster" Target="/ppt/notesMasters/notesMaster1.xml" Id="R1da8eb352db5495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9c49fe22a984c58" /><Relationship Type="http://schemas.openxmlformats.org/officeDocument/2006/relationships/notesMaster" Target="/ppt/notesMasters/notesMaster1.xml" Id="R5838787d66894d9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4930294ab494daf" /><Relationship Type="http://schemas.openxmlformats.org/officeDocument/2006/relationships/notesMaster" Target="/ppt/notesMasters/notesMaster1.xml" Id="R9baaad69bfa84ab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24a2e8fecb4857" /><Relationship Type="http://schemas.openxmlformats.org/officeDocument/2006/relationships/notesMaster" Target="/ppt/notesMasters/notesMaster1.xml" Id="R1abe85400f6f447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f4c4fb91bdb4517" /><Relationship Type="http://schemas.openxmlformats.org/officeDocument/2006/relationships/notesMaster" Target="/ppt/notesMasters/notesMaster1.xml" Id="R79306f0cf3924b8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d53f04ad7164d69" /><Relationship Type="http://schemas.openxmlformats.org/officeDocument/2006/relationships/notesMaster" Target="/ppt/notesMasters/notesMaster1.xml" Id="R65aeacd87e384d4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08c55bcb74f4e71" /><Relationship Type="http://schemas.openxmlformats.org/officeDocument/2006/relationships/notesMaster" Target="/ppt/notesMasters/notesMaster1.xml" Id="Rdbf1eaf6da1848f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97a5a2ea0f64581" /><Relationship Type="http://schemas.openxmlformats.org/officeDocument/2006/relationships/notesMaster" Target="/ppt/notesMasters/notesMaster1.xml" Id="R0ed1c6646c0c4fa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69fbafdada34f60" /><Relationship Type="http://schemas.openxmlformats.org/officeDocument/2006/relationships/notesMaster" Target="/ppt/notesMasters/notesMaster1.xml" Id="R83f84b570ddd416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edf067927c04444" /><Relationship Type="http://schemas.openxmlformats.org/officeDocument/2006/relationships/notesMaster" Target="/ppt/notesMasters/notesMaster1.xml" Id="Rf7f5d08875e54e7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06bb1d81b8a4f97" /><Relationship Type="http://schemas.openxmlformats.org/officeDocument/2006/relationships/notesMaster" Target="/ppt/notesMasters/notesMaster1.xml" Id="R74acd2093a54401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61b40d481ea47ac" /><Relationship Type="http://schemas.openxmlformats.org/officeDocument/2006/relationships/notesMaster" Target="/ppt/notesMasters/notesMaster1.xml" Id="R89a974483d8647c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335eabd73104a31" /><Relationship Type="http://schemas.openxmlformats.org/officeDocument/2006/relationships/notesMaster" Target="/ppt/notesMasters/notesMaster1.xml" Id="Rec997e97002b44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Этот кейс решает самостоятельную задачу прогноза, используя тот же реальный архив, что и описательное исследование. Объектом является опубликованный суточный показатель PM2.5 конкретного поста Атырау. Требуется предсказать следующие календарные сутки только по прошлому и известному календарю. Презентация показывает точную постановку, временное разделение, сравнение с простыми правилами и дополнительную проверку устойчивости. Основной результат отрицательный для усложнения модели. Статус PARTIAL сохраняется из-за качества канала и неизвестной оперативной доступности данных; использование ИИ раскрыто в отчёте.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AirData.kz, архив и DATASHEET (commit 0fe9a615); расчёты автора,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Для даты t прогноз условно выпускается в полночь и относится к среднему за интервал до следующей полуночи. Последнее допустимое измерение принадлежит предыдущим суткам. Но архив не содержит времени получения и утверждения записи. Поэтому доступность вчерашнего среднего ровно в момент выпуска является непроверенным предположением ретроспективного эксперимента. Сохранённый столбец времени прогноза описывает постановку, а не журнал реально работавшего сервиса. Для эксплуатации потребуется либо подтверждённая задержка публикации, либо более ранние входные данные и новая независимая оценка.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models/metadata.json; DATA_CARD.md; results/predictions.csv.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Полная календарная сетка охватывает четыре года. Часть суточных целей отсутствует или не проходит правило полноты. Для одинакового сравнения моделей дополнительно нужны настоящие значения вчера и неделю назад, поскольку именно их используют два контрольных прогноза. После этого фильтра число строк уменьшается. Он обеспечивает сопоставимость ошибок, но создаёт ограничение: проверяются преимущественно периоды устойчивой работы датчика. Поэтому оценка не относится к сервису, который обязан выдавать прогноз даже после длительного сбоя или при отсутствии вчерашнего наблюдения.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results/summary.json; dataset.csv; правило доступности в pipeline.py.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Обучение использует 2022 и 2023 годы, выбор параметров — 2024 год, окончательная проверка — 2025 год. Случайное перемешивание временных строк не применяется. Фактические границы пригодных дат отличаются от календарных границ из-за пропусков. После выбора параметры фиксируются, модель повторно обучается на прошлых частях и оценивается на будущем периоде. Истинное вчерашнее значение на очередной проверочной дате допустимо для последовательного однодневного прогноза. Это не многодневная рекурсивная симуляция без поступления новых наблюдений и не дообучение на проверочных метках.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results/splits.json; dataset.csv; методический пример scikit-learn [11].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Лаги относятся к фиксированным календарным расстояниям, а не к предыдущей сохранившейся строке. Поэтому перед их построением восстановлена сетка дат с пропусками. Скользящие средние и стандартное отклонение рассчитаны после сдвига на один день, что исключает попадание самой цели в окно. Для остальных пропусков признаков используется медиана обучающей части. Проверка независимо воспроизводит эти столбцы из суточного ряда и сопоставляет значения. Такая защита относится к нашему коду; ретроспективные фильтры поставщика остаются отдельным неразрешённым ограничением.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pipeline.py; data_dictionary.csv; результаты независимого аудита признаков.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Первый контрольный прогноз повторяет вчерашнее значение, второй — показатель той же даты предыдущей недели. Они позволяют понять, добавляет ли обучение что-либо к временной инерции. Ridge проверяет регуляризованную линейную зависимость от набора признаков. Случайный лес проверяет нелинейные взаимодействия. Сетка параметров мала и выбирается только на валидационной части. Число деревьев, глубина и начальное случайное состояние фиксированы в метаданных. Более сложная архитектура не вводилась после просмотра ошибок, поскольку это потребовало бы нового независимого проверочного периода.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models/baseline.json; models/metadata.json; results/validation_metrics.csv.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валидационном периоде минимальную среднюю абсолютную ошибку получает сохранение последнего наблюдения. Поэтому именно это правило считается основным выбранным прогнозом. Линейная модель и лес при этом не исчезают из отчёта: они обучены, сохранены и проверены как заранее предусмотренные альтернативы. Повторное обучение использует прошлые обучающую и валидационную части, но не итоговые цели. Показанный выбор нельзя изменить по привлекательному отдельному графику 2025 года. Так итоговая проверка сохраняет смысл оценки зафиксированного решения, а не дополнительного этапа настройки.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results/validation_metrics.csv; models/metadata.json.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Все ошибки получены из одних и тех же отложенных дат и сохранённых предсказаний. Усложнение модели не уменьшило среднюю абсолютную ошибку относительно вчерашнего значения. Лес оказался хуже линейной модели по этому критерию. Это наблюдаемый результат конкретной постановки и канала, а не универсальное утверждение о бесполезности машинного обучения для воздуха. Проверка не менялась после получения результата. RMSE и коэффициент детерминации доступны в отчёте; главный критерий остался MAE, выбранный до итогового сравнения.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results/metrics.csv и predictions.csv; единицы — мкг/м³.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График сопоставляет выбранное правило и фактический показатель. Предсказание по определению повторяет вчерашнюю величину и потому запаздывает относительно резкого изменения. В спокойные периоды такое правило может выглядеть очень точным. Однако средняя близость линий не устанавливает способность предупреждать редкие высокие эпизоды. Пропуски календаря разрывают линии и не скрыты интерполяцией. По сравнению с объяснительной моделью первого кейса ошибка меньше, поскольку здесь доступен недавний уровень самого канала. Это разные исследовательские задачи, поэтому прямой рейтинг двух кейсов по MAE некорректен.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results/predictions.csv; выбранная модель — persistence.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Высокие значения заранее определены через девяностый процентиль целевой величины обучающей и валидационной частей. В итоговой выборке ни одна дата этот порог не превышает. Следовательно, для такой группы невозможно оценить ошибку прогноза, и отсутствие строки пиков в таблице нельзя интерпретировать как хороший результат. Порог не меняли ради появления удобных примеров. Он статистический, а не медицинский или нормативный. Для системы предупреждений нужны новый период с достаточным числом событий, заранее заданное правило опасности и отдельные метрики обнаружения.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results/peak_metrics.csv; проверка фактических целей 2025 года.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Дополнительный пост выбран после обнаружения проблемы фракций основного ряда. Поэтому этот эксперимент явно обозначен как последующий исследовательский, а не независимое подтверждение первоначальной гипотезы. Признаки, годы разделения и уже выбранные гиперпараметры перенесены без нового поиска. Модели заново обучены на прошлом этой станции. На одинаковых часах фракции согласованы лучше, но это не заменяет поверку. Число дат и распределение целевой величины отличаются от основного поста, поэтому абсолютные ошибки двух станций нельзя сравнивать как чистый рейтинг качества моделей.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results/sensitivity235/metadata.json, metrics.csv; аудит общих часов.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После фиксации основных результатов выполнена парная проверка ошибок с календарными блоками. Показан вариант длиной четырнадцать суток, остальные длины также сохранены. Блоки сохраняют соседство наблюдений, а пропуски остаются пропусками. Диапазон разницы ошибок леса и простого правила на дополнительном посту пересекает ноль. Поэтому малое уменьшение наблюдаемой MAE нельзя уверенно считать устойчивым преимуществом. Это приближённая исследовательская проверка при непроверенных предположениях стационарности и механизма пропусков. Она не является интервалом отдельного будущего прогноза, подтверждающим тестом или основанием заново выбрать модель.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Künsch (1989), DOI 10.1214/aos/1176347265; results/paired_error_block_sensitivity.csv.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Собственные признаки не используют будущую целевую величину, но это только один слой корректности. Первый внешний барьер — непроверенные измерительные каналы и частое расхождение фракций на основном посту. Второй — очистка поставщика, которая могла использовать последующие соседние значения; исходный доступный в прошлом поток не восстановлен. Третий — отсутствие времени публикации, из-за чего нельзя гарантировать готовность вчерашнего среднего. Эти ограничения сохраняются даже при небольшой ошибке модели. Они препятствуют использованию результатов как проверенного оперативного предупреждения для населения.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AirData.kz DATASHEET; DATA_CARD.md; результаты проверки парных часов.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Основная гипотеза о добавленной пользе обученной модели не получила поддержки в выбранной схеме проверки. Прозрачное правило вчерашнего значения сохраняет роль контрольного метода. Дополнительный пост показывает, что локальная альтернатива существует, но его небольшой результат леса нельзя объявлять доказанным улучшением. Практическое продолжение начинается с поверки, времени доступности и накопления новых наблюдений, а не с перебора всё большего числа алгоритмов на том же проверочном году. Обучение, веса, предсказания, метрики и исполненный блокнот готовы для проверки; экологическая и эксплуатационная валидация остаются незавершёнными.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Report.md; results/metrics.csv; результаты дополнительного анализа 26.09.2026.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Архив: https://github.com/qazybekb/AirDatakz-OpenData . Методический пример: https://scikit-learn.org/stable/auto_examples/applications/plot_time_series_lagged_features.html . Первоисточник блочного подхода: https://doi.org/10.1214/aos/1176347265 . Рекомендации ВОЗ: https://www.who.int/publications/i/item/9789240034228 . Полные библиографические записи и лицензии находятся в References.md и sources.csv. Презентация генерируется из фактических результатов, а не из вручную введённых оценок. ИИ использован при исследовании, программировании и редактуре и раскрыт в отчёте. Студент должен проверить ссылки, понимать временное разделение и самостоятельно объяснять ограничения выводов. Повтор вычислений не заменяет метрологическую проверку измерений.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References.md; sources.csv; PREREGISTRATION.md и metadata.json.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af40a1db124ce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e148456de44c7a" /><Relationship Type="http://schemas.openxmlformats.org/officeDocument/2006/relationships/slideLayout" Target="/ppt/slideLayouts/slideLayout1.xml" Id="R6aeb876edfde42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eb876edfde42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7228c54d3f4641" /><Relationship Type="http://schemas.openxmlformats.org/officeDocument/2006/relationships/notesSlide" Target="/ppt/notesSlides/notesSlide1.xml" Id="R9f5148e1563846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1166c64331403b" /><Relationship Type="http://schemas.openxmlformats.org/officeDocument/2006/relationships/notesSlide" Target="/ppt/notesSlides/notesSlide2.xml" Id="R507cdafd59024ce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74cbd9173c4ca7" /><Relationship Type="http://schemas.openxmlformats.org/officeDocument/2006/relationships/notesSlide" Target="/ppt/notesSlides/notesSlide3.xml" Id="Rae904b6d247945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dcba18714f413b" /><Relationship Type="http://schemas.openxmlformats.org/officeDocument/2006/relationships/image" Target="/ppt/media/image.png" Id="Rf1728a1a12d843c5" /><Relationship Type="http://schemas.openxmlformats.org/officeDocument/2006/relationships/notesSlide" Target="/ppt/notesSlides/notesSlide4.xml" Id="R0eb2d7bd58dc44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54b04bef754078" /><Relationship Type="http://schemas.openxmlformats.org/officeDocument/2006/relationships/notesSlide" Target="/ppt/notesSlides/notesSlide5.xml" Id="R0fe8a33d8d8a479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3ea76dbb324754" /><Relationship Type="http://schemas.openxmlformats.org/officeDocument/2006/relationships/notesSlide" Target="/ppt/notesSlides/notesSlide6.xml" Id="R7a122497503e4d6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ef7eeabfdf45cc" /><Relationship Type="http://schemas.openxmlformats.org/officeDocument/2006/relationships/notesSlide" Target="/ppt/notesSlides/notesSlide7.xml" Id="R9366bb6afcd748f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44d2b4660645c5" /><Relationship Type="http://schemas.openxmlformats.org/officeDocument/2006/relationships/chart" Target="/ppt/slides/charts/chart1.xml" Id="R3ff011b82bb24245" /><Relationship Type="http://schemas.openxmlformats.org/officeDocument/2006/relationships/notesSlide" Target="/ppt/notesSlides/notesSlide8.xml" Id="Rdbe09d236923434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7f5b8d19414146" /><Relationship Type="http://schemas.openxmlformats.org/officeDocument/2006/relationships/image" Target="/ppt/media/image2.png" Id="R76a261f81af8441f" /><Relationship Type="http://schemas.openxmlformats.org/officeDocument/2006/relationships/notesSlide" Target="/ppt/notesSlides/notesSlide9.xml" Id="Rdc6eeeaf865044f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78821ab34b4783" /><Relationship Type="http://schemas.openxmlformats.org/officeDocument/2006/relationships/notesSlide" Target="/ppt/notesSlides/notesSlide10.xml" Id="R1f31236765cb4d2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fb5ce595324075" /><Relationship Type="http://schemas.openxmlformats.org/officeDocument/2006/relationships/notesSlide" Target="/ppt/notesSlides/notesSlide11.xml" Id="R1a59297f396746c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4ba0ce70e84bb3" /><Relationship Type="http://schemas.openxmlformats.org/officeDocument/2006/relationships/image" Target="/ppt/media/image3.png" Id="R2f3ce96b27694774" /><Relationship Type="http://schemas.openxmlformats.org/officeDocument/2006/relationships/notesSlide" Target="/ppt/notesSlides/notesSlide12.xml" Id="R700b8819e8594a9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9f352120864f5d" /><Relationship Type="http://schemas.openxmlformats.org/officeDocument/2006/relationships/notesSlide" Target="/ppt/notesSlides/notesSlide13.xml" Id="Rb62dbd5d07a9424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bbacfce39c4100" /><Relationship Type="http://schemas.openxmlformats.org/officeDocument/2006/relationships/notesSlide" Target="/ppt/notesSlides/notesSlide14.xml" Id="Rf8712134142b453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1aa9bc16d14475" /><Relationship Type="http://schemas.openxmlformats.org/officeDocument/2006/relationships/notesSlide" Target="/ppt/notesSlides/notesSlide15.xml" Id="Rcfe66e1aa0f5424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MAE, мкг/м³</c:v>
          </c:tx>
          <c:spPr>
            <a:solidFill xmlns:a="http://schemas.openxmlformats.org/drawingml/2006/main">
              <a:srgbClr val="2864AD"/>
            </a:solidFill>
          </c:spPr>
          <c:cat>
            <c:strRef>
              <c:f>'Chart Data'!$A$2:$A$5</c:f>
              <c:strCache>
                <c:ptCount val="4"/>
                <c:pt idx="0">
                  <c:v>Вчерашнее значение</c:v>
                </c:pt>
                <c:pt idx="1">
                  <c:v>Неделю назад</c:v>
                </c:pt>
                <c:pt idx="2">
                  <c:v>Ridge</c:v>
                </c:pt>
                <c:pt idx="3">
                  <c:v>Случайный лес</c:v>
                </c:pt>
              </c:strCache>
            </c:strRef>
          </c:cat>
          <c:val>
            <c:numRef>
              <c:f>'Chart Data'!$B$2:$B$5</c:f>
              <c:numCache>
                <c:formatCode>0.000</c:formatCode>
                <c:ptCount val="4"/>
                <c:pt idx="0">
                  <c:v>3.686</c:v>
                </c:pt>
                <c:pt idx="1">
                  <c:v>5.195</c:v>
                </c:pt>
                <c:pt idx="2">
                  <c:v>3.736</c:v>
                </c:pt>
                <c:pt idx="3">
                  <c:v>4.287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solidFill>
                    <a:srgbClr val="173342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47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9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16471"/>
                    </a:solidFill>
                    <a:latin typeface="Arial"/>
                    <a:ea typeface="Arial"/>
                    <a:cs typeface="Arial"/>
                  </a:rPr>
                  <a:t>MAE, мкг/м³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1647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1647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4551DA-F028-4E88-B90C-6EE73AD99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80CCD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80CCD2"/>
                </a:solidFill>
                <a:latin typeface="Arial"/>
                <a:ea typeface="Arial"/>
                <a:cs typeface="Arial"/>
              </a:rPr>
              <a:t>Исследовательский кейс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9002D1-E923-40DF-AF96-49B11B30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78230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Можно ли предсказать следующие сутки PM2.5?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B2F272-C758-473A-967D-ECB7186D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1002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DEE9E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EE9EE"/>
                </a:solidFill>
                <a:latin typeface="Arial"/>
                <a:ea typeface="Arial"/>
                <a:cs typeface="Arial"/>
              </a:rPr>
              <a:t>Лаговые признаки, честная проверка и границы применимости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48D319-CAA4-43CF-BA1B-33BA626F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9587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C0D5D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0D5DE"/>
                </a:solidFill>
                <a:latin typeface="Arial"/>
                <a:ea typeface="Arial"/>
                <a:cs typeface="Arial"/>
              </a:rPr>
              <a:t>Атырау, PCP #8 — пост № 32 · Исходный кейс № 10 | 2022–2025 · Редакция 26 сентября 2026 года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B6641F-5470-441A-AD7E-20E0915E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7215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4C1C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4C1CB"/>
                </a:solidFill>
                <a:latin typeface="Arial"/>
                <a:ea typeface="Arial"/>
                <a:cs typeface="Arial"/>
              </a:rPr>
              <a:t>Искусственный интеллект и машинное обучение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5A5D66-B750-4A9D-806C-640F70744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4C1C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4C1CB"/>
                </a:solidFill>
                <a:latin typeface="Arial"/>
                <a:ea typeface="Arial"/>
                <a:cs typeface="Arial"/>
              </a:rPr>
              <a:t>AirData.kz, архив и DATASHEET (commit 0fe9a615); расчёты автора, 2026.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531ECE-A538-4396-B26D-61759216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76975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4C1C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4C1CB"/>
                </a:solidFill>
                <a:latin typeface="Arial"/>
                <a:ea typeface="Arial"/>
                <a:cs typeface="Arial"/>
              </a:rPr>
              <a:t>1 / 15</a:t>
            </a:r>
          </a:p>
        </p:txBody>
      </p:sp>
    </p:spTree>
    <p:extLst>
      <p:ext uri="{BB962C8B-B14F-4D97-AF65-F5344CB8AC3E}">
        <p14:creationId xmlns:p14="http://schemas.microsoft.com/office/powerpoint/2010/main" val="1050688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46E0EF-E4F5-40DB-9762-FCD11B83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2"/>
                </a:solidFill>
                <a:latin typeface="Arial"/>
                <a:ea typeface="Arial"/>
                <a:cs typeface="Arial"/>
              </a:rPr>
              <a:t>Сначала фиксируем момент и цель прогноза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E7327B-678A-458C-962E-7BF19E32E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76425"/>
            <a:ext cx="5010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864A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864AD"/>
                </a:solidFill>
                <a:latin typeface="Arial"/>
                <a:ea typeface="Arial"/>
                <a:cs typeface="Arial"/>
              </a:rPr>
              <a:t>Известно к моменту выпуска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A62EA3-2208-40A4-B52E-ED10C7C35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57475"/>
            <a:ext cx="50101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3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342"/>
                </a:solidFill>
                <a:latin typeface="Arial"/>
                <a:ea typeface="Arial"/>
                <a:cs typeface="Arial"/>
              </a:rPr>
              <a:t>Предыдущие опубликованные значения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33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342"/>
                </a:solidFill>
                <a:latin typeface="Arial"/>
                <a:ea typeface="Arial"/>
                <a:cs typeface="Arial"/>
              </a:rPr>
              <a:t>Календарь следующего дня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33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342"/>
                </a:solidFill>
                <a:latin typeface="Arial"/>
                <a:ea typeface="Arial"/>
                <a:cs typeface="Arial"/>
              </a:rPr>
              <a:t>Фиксированные параметры модели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B5A7CA-9E54-44EC-A005-99734678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76425"/>
            <a:ext cx="5010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864A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864AD"/>
                </a:solidFill>
                <a:latin typeface="Arial"/>
                <a:ea typeface="Arial"/>
                <a:cs typeface="Arial"/>
              </a:rPr>
              <a:t>Оцениваем после окончания суток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ACAA43-BA39-42C8-8AE6-51FB555A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57475"/>
            <a:ext cx="50101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3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342"/>
                </a:solidFill>
                <a:latin typeface="Arial"/>
                <a:ea typeface="Arial"/>
                <a:cs typeface="Arial"/>
              </a:rPr>
              <a:t>Среднее PM2.5 за [t, t+1)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33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342"/>
                </a:solidFill>
                <a:latin typeface="Arial"/>
                <a:ea typeface="Arial"/>
                <a:cs typeface="Arial"/>
              </a:rPr>
              <a:t>Минимум 18 наблюдённых часов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33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342"/>
                </a:solidFill>
                <a:latin typeface="Arial"/>
                <a:ea typeface="Arial"/>
                <a:cs typeface="Arial"/>
              </a:rPr>
              <a:t>Никакой фактической будущей погоды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BB0128-4951-4B0E-A205-0E7C6D12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1647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16471"/>
                </a:solidFill>
                <a:latin typeface="Arial"/>
                <a:ea typeface="Arial"/>
                <a:cs typeface="Arial"/>
              </a:rPr>
              <a:t>models/metadata.json; DATA_CARD.md; results/predictions.csv.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AC0228-2785-4B2F-9F31-F3E6F997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76975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164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471"/>
                </a:solidFill>
                <a:latin typeface="Arial"/>
                <a:ea typeface="Arial"/>
                <a:cs typeface="Arial"/>
              </a:rPr>
              <a:t>2 / 15</a:t>
            </a:r>
          </a:p>
        </p:txBody>
      </p:sp>
    </p:spTree>
    <p:extLst>
      <p:ext uri="{BB962C8B-B14F-4D97-AF65-F5344CB8AC3E}">
        <p14:creationId xmlns:p14="http://schemas.microsoft.com/office/powerpoint/2010/main" val="6182638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36E827-481E-4743-8630-83F72950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2"/>
                </a:solidFill>
                <a:latin typeface="Arial"/>
                <a:ea typeface="Arial"/>
                <a:cs typeface="Arial"/>
              </a:rPr>
              <a:t>Доступность лагов уменьшает выборку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618637-F59C-4F5F-86BF-88E9B40F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3314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2864AD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64AD"/>
                </a:solidFill>
                <a:latin typeface="Arial"/>
                <a:ea typeface="Arial"/>
                <a:cs typeface="Arial"/>
              </a:rPr>
              <a:t>1209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9B6230-FE45-4384-B383-A7D3C4EE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38475"/>
            <a:ext cx="33147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3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2"/>
                </a:solidFill>
                <a:latin typeface="Arial"/>
                <a:ea typeface="Arial"/>
                <a:cs typeface="Arial"/>
              </a:rPr>
              <a:t>пригодных суточных целей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E6CF44-ECB1-47C4-84FD-ADCDCA44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952625"/>
            <a:ext cx="3314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2864AD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64AD"/>
                </a:solidFill>
                <a:latin typeface="Arial"/>
                <a:ea typeface="Arial"/>
                <a:cs typeface="Arial"/>
              </a:rPr>
              <a:t>101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B36FD0-F94B-4C59-9CDB-8B27F5B7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38475"/>
            <a:ext cx="33147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3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2"/>
                </a:solidFill>
                <a:latin typeface="Arial"/>
                <a:ea typeface="Arial"/>
                <a:cs typeface="Arial"/>
              </a:rPr>
              <a:t>исключено из-за лагов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C9451D-C0D4-4212-8DBC-81F50A8C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52625"/>
            <a:ext cx="3314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2864AD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64AD"/>
                </a:solidFill>
                <a:latin typeface="Arial"/>
                <a:ea typeface="Arial"/>
                <a:cs typeface="Arial"/>
              </a:rPr>
              <a:t>1108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4379CC-C3BC-42E6-A327-4F5822069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38475"/>
            <a:ext cx="33147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3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2"/>
                </a:solidFill>
                <a:latin typeface="Arial"/>
                <a:ea typeface="Arial"/>
                <a:cs typeface="Arial"/>
              </a:rPr>
              <a:t>строк для сравнения моделей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6DA715-5D04-49CC-B585-F1407112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00550"/>
            <a:ext cx="1047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1647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16471"/>
                </a:solidFill>
                <a:latin typeface="Arial"/>
                <a:ea typeface="Arial"/>
                <a:cs typeface="Arial"/>
              </a:rPr>
              <a:t>Одна строка — будущие сутки и исторические признаки</a:t>
            </a:r>
          </a:p>
          <a:p xmlns:a="http://schemas.openxmlformats.org/drawingml/2006/main">
            <a:pPr>
              <a:defRPr sz="1875" b="0">
                <a:solidFill>
                  <a:srgbClr val="51647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16471"/>
                </a:solidFill>
                <a:latin typeface="Arial"/>
                <a:ea typeface="Arial"/>
                <a:cs typeface="Arial"/>
              </a:rPr>
              <a:t>Пропущенные целевые величины не восстановлены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92E218-1B6B-4B44-B9CA-2E2F7852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1647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16471"/>
                </a:solidFill>
                <a:latin typeface="Arial"/>
                <a:ea typeface="Arial"/>
                <a:cs typeface="Arial"/>
              </a:rPr>
              <a:t>results/summary.json; dataset.csv; правило доступности в pipeline.py.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4C7B3A-A9BA-41F0-877F-3C703A3DE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76975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164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471"/>
                </a:solidFill>
                <a:latin typeface="Arial"/>
                <a:ea typeface="Arial"/>
                <a:cs typeface="Arial"/>
              </a:rPr>
              <a:t>3 / 15</a:t>
            </a:r>
          </a:p>
        </p:txBody>
      </p:sp>
    </p:spTree>
    <p:extLst>
      <p:ext uri="{BB962C8B-B14F-4D97-AF65-F5344CB8AC3E}">
        <p14:creationId xmlns:p14="http://schemas.microsoft.com/office/powerpoint/2010/main" val="13297919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BA6AF1-E0DB-4230-AB2A-04972EA9E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2"/>
                </a:solidFill>
                <a:latin typeface="Arial"/>
                <a:ea typeface="Arial"/>
                <a:cs typeface="Arial"/>
              </a:rPr>
              <a:t>Временное разделение сохраняет направление прогноза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728a1a12d843c5"/>
          <a:stretch xmlns:a="http://schemas.openxmlformats.org/drawingml/2006/main"/>
        </p:blipFill>
        <p:spPr>
          <a:xfrm xmlns:a="http://schemas.openxmlformats.org/drawingml/2006/main">
            <a:off x="504825" y="2283987"/>
            <a:ext cx="7791450" cy="3061551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CA433A-8944-4278-8797-5F1654B6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1876425"/>
            <a:ext cx="2943225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3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2"/>
                </a:solidFill>
                <a:latin typeface="Arial"/>
                <a:ea typeface="Arial"/>
                <a:cs typeface="Arial"/>
              </a:rPr>
              <a:t>Обучение: 631 • валидация: 204 • проверка: 273 суток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733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2"/>
                </a:solidFill>
                <a:latin typeface="Arial"/>
                <a:ea typeface="Arial"/>
                <a:cs typeface="Arial"/>
              </a:rPr>
              <a:t>Годы разделены до оценки моделей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E4FC8C-8F39-407F-978F-527603E2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1647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16471"/>
                </a:solidFill>
                <a:latin typeface="Arial"/>
                <a:ea typeface="Arial"/>
                <a:cs typeface="Arial"/>
              </a:rPr>
              <a:t>results/splits.json; dataset.csv; методический пример scikit-learn [11].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FFAF2C-DA98-4A75-9E81-9AFA2ED2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76975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164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471"/>
                </a:solidFill>
                <a:latin typeface="Arial"/>
                <a:ea typeface="Arial"/>
                <a:cs typeface="Arial"/>
              </a:rPr>
              <a:t>4 / 15</a:t>
            </a:r>
          </a:p>
        </p:txBody>
      </p:sp>
    </p:spTree>
    <p:extLst>
      <p:ext uri="{BB962C8B-B14F-4D97-AF65-F5344CB8AC3E}">
        <p14:creationId xmlns:p14="http://schemas.microsoft.com/office/powerpoint/2010/main" val="19401231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8D93E3-FEB8-495A-9895-733EE740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2"/>
                </a:solidFill>
                <a:latin typeface="Arial"/>
                <a:ea typeface="Arial"/>
                <a:cs typeface="Arial"/>
              </a:rPr>
              <a:t>В признаки не попадают будущие измерения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8446AB-B2B2-4670-A195-A255EA81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76425"/>
            <a:ext cx="5010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864A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864AD"/>
                </a:solidFill>
                <a:latin typeface="Arial"/>
                <a:ea typeface="Arial"/>
                <a:cs typeface="Arial"/>
              </a:rPr>
              <a:t>История канала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216B38-DEB9-4C2F-BB88-F34C9B71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57475"/>
            <a:ext cx="50101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3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342"/>
                </a:solidFill>
                <a:latin typeface="Arial"/>
                <a:ea typeface="Arial"/>
                <a:cs typeface="Arial"/>
              </a:rPr>
              <a:t>Лаги 1, 2, 3, 7, 14 суток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33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342"/>
                </a:solidFill>
                <a:latin typeface="Arial"/>
                <a:ea typeface="Arial"/>
                <a:cs typeface="Arial"/>
              </a:rPr>
              <a:t>Средние за 3, 7, 14 суток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33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342"/>
                </a:solidFill>
                <a:latin typeface="Arial"/>
                <a:ea typeface="Arial"/>
                <a:cs typeface="Arial"/>
              </a:rPr>
              <a:t>Разброс за 7 суток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BD55B0-7E36-4B8E-9917-095937BC8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76425"/>
            <a:ext cx="5010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864A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864AD"/>
                </a:solidFill>
                <a:latin typeface="Arial"/>
                <a:ea typeface="Arial"/>
                <a:cs typeface="Arial"/>
              </a:rPr>
              <a:t>Календарь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C5CCD8-D0EF-4969-B0D3-50208D98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57475"/>
            <a:ext cx="50101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3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342"/>
                </a:solidFill>
                <a:latin typeface="Arial"/>
                <a:ea typeface="Arial"/>
                <a:cs typeface="Arial"/>
              </a:rPr>
              <a:t>Синус и косинус дня года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33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342"/>
                </a:solidFill>
                <a:latin typeface="Arial"/>
                <a:ea typeface="Arial"/>
                <a:cs typeface="Arial"/>
              </a:rPr>
              <a:t>Синус и косинус дня недели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33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342"/>
                </a:solidFill>
                <a:latin typeface="Arial"/>
                <a:ea typeface="Arial"/>
                <a:cs typeface="Arial"/>
              </a:rPr>
              <a:t>Никаких измерений дня цели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F360C7-B7A3-4BF3-91E5-9C94C279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1647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16471"/>
                </a:solidFill>
                <a:latin typeface="Arial"/>
                <a:ea typeface="Arial"/>
                <a:cs typeface="Arial"/>
              </a:rPr>
              <a:t>pipeline.py; data_dictionary.csv; результаты независимого аудита признаков.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665532-2BCA-48E8-B440-C9CFA41E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76975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164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471"/>
                </a:solidFill>
                <a:latin typeface="Arial"/>
                <a:ea typeface="Arial"/>
                <a:cs typeface="Arial"/>
              </a:rPr>
              <a:t>5 / 15</a:t>
            </a:r>
          </a:p>
        </p:txBody>
      </p:sp>
    </p:spTree>
    <p:extLst>
      <p:ext uri="{BB962C8B-B14F-4D97-AF65-F5344CB8AC3E}">
        <p14:creationId xmlns:p14="http://schemas.microsoft.com/office/powerpoint/2010/main" val="2448907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247DCF-1A45-4BAE-BB08-5B6F9BDB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2"/>
                </a:solidFill>
                <a:latin typeface="Arial"/>
                <a:ea typeface="Arial"/>
                <a:cs typeface="Arial"/>
              </a:rPr>
              <a:t>Простые правила — обязательная точка сравнения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47700" y="1819275"/>
          <a:ext xmlns:a="http://schemas.openxmlformats.org/drawingml/2006/main" cx="10858500" cy="27146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909060"/>
                <a:gridCol w="6949440"/>
              </a:tblGrid>
              <a:tr h="5429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Метод</a:t>
                      </a:r>
                    </a:p>
                  </a:txBody>
                  <a:tcPr marL="91440" marR="91440" marT="45720" marB="45720">
                    <a:solidFill>
                      <a:srgbClr val="10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Правило или параметры</a:t>
                      </a:r>
                    </a:p>
                  </a:txBody>
                  <a:tcPr marL="91440" marR="91440" marT="45720" marB="45720">
                    <a:solidFill>
                      <a:srgbClr val="102B3A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2"/>
                          </a:solidFill>
                          <a:latin typeface="Arial"/>
                          <a:ea typeface="Arial"/>
                          <a:cs typeface="Arial"/>
                        </a:rPr>
                        <a:t>Вчерашнее значение</a:t>
                      </a:r>
                    </a:p>
                  </a:txBody>
                  <a:tcPr marL="91440" marR="91440" marT="45720" marB="4572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2"/>
                          </a:solidFill>
                          <a:latin typeface="Arial"/>
                          <a:ea typeface="Arial"/>
                          <a:cs typeface="Arial"/>
                        </a:rPr>
                        <a:t>Прогноз = PM2.5(t−1)</a:t>
                      </a:r>
                    </a:p>
                  </a:txBody>
                  <a:tcPr marL="91440" marR="91440" marT="45720" marB="45720">
                    <a:solidFill>
                      <a:srgbClr val="F2F6F8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2"/>
                          </a:solidFill>
                          <a:latin typeface="Arial"/>
                          <a:ea typeface="Arial"/>
                          <a:cs typeface="Arial"/>
                        </a:rPr>
                        <a:t>Неделю назад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2"/>
                          </a:solidFill>
                          <a:latin typeface="Arial"/>
                          <a:ea typeface="Arial"/>
                          <a:cs typeface="Arial"/>
                        </a:rPr>
                        <a:t>Прогноз = PM2.5(t−7)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2"/>
                          </a:solidFill>
                          <a:latin typeface="Arial"/>
                          <a:ea typeface="Arial"/>
                          <a:cs typeface="Arial"/>
                        </a:rPr>
                        <a:t>Ridge</a:t>
                      </a:r>
                    </a:p>
                  </a:txBody>
                  <a:tcPr marL="91440" marR="91440" marT="45720" marB="4572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2"/>
                          </a:solidFill>
                          <a:latin typeface="Arial"/>
                          <a:ea typeface="Arial"/>
                          <a:cs typeface="Arial"/>
                        </a:rPr>
                        <a:t>α выбран по валидации</a:t>
                      </a:r>
                    </a:p>
                  </a:txBody>
                  <a:tcPr marL="91440" marR="91440" marT="45720" marB="45720">
                    <a:solidFill>
                      <a:srgbClr val="F2F6F8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2"/>
                          </a:solidFill>
                          <a:latin typeface="Arial"/>
                          <a:ea typeface="Arial"/>
                          <a:cs typeface="Arial"/>
                        </a:rPr>
                        <a:t>Случайный лес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2"/>
                          </a:solidFill>
                          <a:latin typeface="Arial"/>
                          <a:ea typeface="Arial"/>
                          <a:cs typeface="Arial"/>
                        </a:rPr>
                        <a:t>200 деревьев; глубина ≤8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DD951A-33DD-4CDC-B1CE-609789B3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1647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16471"/>
                </a:solidFill>
                <a:latin typeface="Arial"/>
                <a:ea typeface="Arial"/>
                <a:cs typeface="Arial"/>
              </a:rPr>
              <a:t>Модели действительно обучены; контрольные правила заданы явно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BE853F-D4EE-493F-AC20-5135DCCC8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1647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16471"/>
                </a:solidFill>
                <a:latin typeface="Arial"/>
                <a:ea typeface="Arial"/>
                <a:cs typeface="Arial"/>
              </a:rPr>
              <a:t>models/baseline.json; models/metadata.json; results/validation_metrics.csv.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4942E4-6C07-4DF9-ABF5-B3ED85356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76975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164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471"/>
                </a:solidFill>
                <a:latin typeface="Arial"/>
                <a:ea typeface="Arial"/>
                <a:cs typeface="Arial"/>
              </a:rPr>
              <a:t>6 / 15</a:t>
            </a:r>
          </a:p>
        </p:txBody>
      </p:sp>
    </p:spTree>
    <p:extLst>
      <p:ext uri="{BB962C8B-B14F-4D97-AF65-F5344CB8AC3E}">
        <p14:creationId xmlns:p14="http://schemas.microsoft.com/office/powerpoint/2010/main" val="17401884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33E2F8-3C6B-47AE-891F-84E856DA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2"/>
                </a:solidFill>
                <a:latin typeface="Arial"/>
                <a:ea typeface="Arial"/>
                <a:cs typeface="Arial"/>
              </a:rPr>
              <a:t>Валидация выбирает вчерашнее значение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32AD12-4448-422F-A065-A81246A2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5105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2864AD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64AD"/>
                </a:solidFill>
                <a:latin typeface="Arial"/>
                <a:ea typeface="Arial"/>
                <a:cs typeface="Arial"/>
              </a:rPr>
              <a:t>6,273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1A4185-B72E-4FA9-9AD4-B1BB7A25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38475"/>
            <a:ext cx="51054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3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2"/>
                </a:solidFill>
                <a:latin typeface="Arial"/>
                <a:ea typeface="Arial"/>
                <a:cs typeface="Arial"/>
              </a:rPr>
              <a:t>MAE на валидации, мкг/м³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1212DF-7C95-4CD5-BC58-A3C325C2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52625"/>
            <a:ext cx="5105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2864AD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64AD"/>
                </a:solidFill>
                <a:latin typeface="Arial"/>
                <a:ea typeface="Arial"/>
                <a:cs typeface="Arial"/>
              </a:rPr>
              <a:t>t − 1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32E051-3EBB-4916-80EB-BB77079F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38475"/>
            <a:ext cx="51054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3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2"/>
                </a:solidFill>
                <a:latin typeface="Arial"/>
                <a:ea typeface="Arial"/>
                <a:cs typeface="Arial"/>
              </a:rPr>
              <a:t>выбранное контрольное правило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F56C8C-2FE1-4451-B482-3495746D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00550"/>
            <a:ext cx="1047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1647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16471"/>
                </a:solidFill>
                <a:latin typeface="Arial"/>
                <a:ea typeface="Arial"/>
                <a:cs typeface="Arial"/>
              </a:rPr>
              <a:t>Основной критерий — MAE</a:t>
            </a:r>
          </a:p>
          <a:p xmlns:a="http://schemas.openxmlformats.org/drawingml/2006/main">
            <a:pPr>
              <a:defRPr sz="1875" b="0">
                <a:solidFill>
                  <a:srgbClr val="51647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16471"/>
                </a:solidFill>
                <a:latin typeface="Arial"/>
                <a:ea typeface="Arial"/>
                <a:cs typeface="Arial"/>
              </a:rPr>
              <a:t>Выбор зафиксирован до итоговой проверки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8FE1BB-505F-4F5E-9835-230B6D5D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1647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16471"/>
                </a:solidFill>
                <a:latin typeface="Arial"/>
                <a:ea typeface="Arial"/>
                <a:cs typeface="Arial"/>
              </a:rPr>
              <a:t>results/validation_metrics.csv; models/metadata.json.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9F8744-7900-4C8A-8685-DD0A6393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76975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164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471"/>
                </a:solidFill>
                <a:latin typeface="Arial"/>
                <a:ea typeface="Arial"/>
                <a:cs typeface="Arial"/>
              </a:rPr>
              <a:t>7 / 15</a:t>
            </a:r>
          </a:p>
        </p:txBody>
      </p:sp>
    </p:spTree>
    <p:extLst>
      <p:ext uri="{BB962C8B-B14F-4D97-AF65-F5344CB8AC3E}">
        <p14:creationId xmlns:p14="http://schemas.microsoft.com/office/powerpoint/2010/main" val="5616334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5F6472-5DA3-46E3-802D-A602B0DB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2"/>
                </a:solidFill>
                <a:latin typeface="Arial"/>
                <a:ea typeface="Arial"/>
                <a:cs typeface="Arial"/>
              </a:rPr>
              <a:t>На основном посту обучение не уменьшило MAE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552450" y="1762125"/>
          <a:ext xmlns:a="http://schemas.openxmlformats.org/drawingml/2006/main" cx="7543800" cy="3962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ff011b82bb24245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53887C-7655-48B5-B492-4A7698C8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1876425"/>
            <a:ext cx="2943225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3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2"/>
                </a:solidFill>
                <a:latin typeface="Arial"/>
                <a:ea typeface="Arial"/>
                <a:cs typeface="Arial"/>
              </a:rPr>
              <a:t>273 одинаковых целей 2025 года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733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2"/>
                </a:solidFill>
                <a:latin typeface="Arial"/>
                <a:ea typeface="Arial"/>
                <a:cs typeface="Arial"/>
              </a:rPr>
              <a:t>Правило «вчера»: MAE 3,686 мкг/м³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E0B657-82D6-4683-94FE-6FB3A06EC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1647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16471"/>
                </a:solidFill>
                <a:latin typeface="Arial"/>
                <a:ea typeface="Arial"/>
                <a:cs typeface="Arial"/>
              </a:rPr>
              <a:t>results/metrics.csv и predictions.csv; единицы — мкг/м³.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FE050E-7F34-426D-8BE1-89846F6CD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76975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164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471"/>
                </a:solidFill>
                <a:latin typeface="Arial"/>
                <a:ea typeface="Arial"/>
                <a:cs typeface="Arial"/>
              </a:rPr>
              <a:t>8 / 15</a:t>
            </a:r>
          </a:p>
        </p:txBody>
      </p:sp>
    </p:spTree>
    <p:extLst>
      <p:ext uri="{BB962C8B-B14F-4D97-AF65-F5344CB8AC3E}">
        <p14:creationId xmlns:p14="http://schemas.microsoft.com/office/powerpoint/2010/main" val="11189217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E1A4D9-AAB6-450C-9B07-F7B2B3A7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2"/>
                </a:solidFill>
                <a:latin typeface="Arial"/>
                <a:ea typeface="Arial"/>
                <a:cs typeface="Arial"/>
              </a:rPr>
              <a:t>Прогноз следует за последним наблюдением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a261f81af8441f"/>
          <a:stretch xmlns:a="http://schemas.openxmlformats.org/drawingml/2006/main"/>
        </p:blipFill>
        <p:spPr>
          <a:xfrm xmlns:a="http://schemas.openxmlformats.org/drawingml/2006/main">
            <a:off x="504825" y="2281409"/>
            <a:ext cx="7791450" cy="3066708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64044D-1EFD-4E8B-93A8-1B4E20EB0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1876425"/>
            <a:ext cx="2943225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3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2"/>
                </a:solidFill>
                <a:latin typeface="Arial"/>
                <a:ea typeface="Arial"/>
                <a:cs typeface="Arial"/>
              </a:rPr>
              <a:t>Разрывы линии означают отсутствие пригодных данных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733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2"/>
                </a:solidFill>
                <a:latin typeface="Arial"/>
                <a:ea typeface="Arial"/>
                <a:cs typeface="Arial"/>
              </a:rPr>
              <a:t>Низкая средняя ошибка не гарантирует предупреждение о скачке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A3CFE9-7C69-459C-989E-A742D3B3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1647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16471"/>
                </a:solidFill>
                <a:latin typeface="Arial"/>
                <a:ea typeface="Arial"/>
                <a:cs typeface="Arial"/>
              </a:rPr>
              <a:t>results/predictions.csv; выбранная модель — persistence.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3F1CE6-8BA7-4EA6-80A8-84FA920F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76975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164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471"/>
                </a:solidFill>
                <a:latin typeface="Arial"/>
                <a:ea typeface="Arial"/>
                <a:cs typeface="Arial"/>
              </a:rPr>
              <a:t>9 / 15</a:t>
            </a:r>
          </a:p>
        </p:txBody>
      </p:sp>
    </p:spTree>
    <p:extLst>
      <p:ext uri="{BB962C8B-B14F-4D97-AF65-F5344CB8AC3E}">
        <p14:creationId xmlns:p14="http://schemas.microsoft.com/office/powerpoint/2010/main" val="11529884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A5C073-5476-447A-9DDD-265E4A585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2"/>
                </a:solidFill>
                <a:latin typeface="Arial"/>
                <a:ea typeface="Arial"/>
                <a:cs typeface="Arial"/>
              </a:rPr>
              <a:t>Прогноз высоких эпизодов пока не оценён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280108-7C6B-49DC-962B-DAD51466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5105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2864AD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64AD"/>
                </a:solidFill>
                <a:latin typeface="Arial"/>
                <a:ea typeface="Arial"/>
                <a:cs typeface="Arial"/>
              </a:rPr>
              <a:t>80,590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8A91A9-B544-4175-8EF7-B9B8693C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38475"/>
            <a:ext cx="51054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3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2"/>
                </a:solidFill>
                <a:latin typeface="Arial"/>
                <a:ea typeface="Arial"/>
                <a:cs typeface="Arial"/>
              </a:rPr>
              <a:t>порог P90 прошлого периода, мкг/м³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E5A258-D974-4367-AB9A-C4CCFD1D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52625"/>
            <a:ext cx="5105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2864AD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64A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163E4F-AAAC-4C8E-BE7F-83CAB9B4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38475"/>
            <a:ext cx="51054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3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2"/>
                </a:solidFill>
                <a:latin typeface="Arial"/>
                <a:ea typeface="Arial"/>
                <a:cs typeface="Arial"/>
              </a:rPr>
              <a:t>отложенных суток выше порога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3FA4D3-EB49-4E4F-B85E-5079D43B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00550"/>
            <a:ext cx="1047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1647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16471"/>
                </a:solidFill>
                <a:latin typeface="Arial"/>
                <a:ea typeface="Arial"/>
                <a:cs typeface="Arial"/>
              </a:rPr>
              <a:t>Порог взят из прошлого периода и не снижен после проверки</a:t>
            </a:r>
          </a:p>
          <a:p xmlns:a="http://schemas.openxmlformats.org/drawingml/2006/main">
            <a:pPr>
              <a:defRPr sz="1875" b="0">
                <a:solidFill>
                  <a:srgbClr val="51647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16471"/>
                </a:solidFill>
                <a:latin typeface="Arial"/>
                <a:ea typeface="Arial"/>
                <a:cs typeface="Arial"/>
              </a:rPr>
              <a:t>Нет оснований заявлять качество предупреждений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A4042F-6CEC-4A75-987D-2433779C3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1647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16471"/>
                </a:solidFill>
                <a:latin typeface="Arial"/>
                <a:ea typeface="Arial"/>
                <a:cs typeface="Arial"/>
              </a:rPr>
              <a:t>results/peak_metrics.csv; проверка фактических целей 2025 года.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7766D5-D30F-4A8D-BBA7-FCBB27B3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76975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164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471"/>
                </a:solidFill>
                <a:latin typeface="Arial"/>
                <a:ea typeface="Arial"/>
                <a:cs typeface="Arial"/>
              </a:rPr>
              <a:t>10 / 15</a:t>
            </a:r>
          </a:p>
        </p:txBody>
      </p:sp>
    </p:spTree>
    <p:extLst>
      <p:ext uri="{BB962C8B-B14F-4D97-AF65-F5344CB8AC3E}">
        <p14:creationId xmlns:p14="http://schemas.microsoft.com/office/powerpoint/2010/main" val="174639842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D605A8-0ABA-46A9-980A-9F021EE6F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2"/>
                </a:solidFill>
                <a:latin typeface="Arial"/>
                <a:ea typeface="Arial"/>
                <a:cs typeface="Arial"/>
              </a:rPr>
              <a:t>Другой пост: фиксированная методика без настройки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47700" y="1819275"/>
          <a:ext xmlns:a="http://schemas.openxmlformats.org/drawingml/2006/main" cx="10858500" cy="27146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909060"/>
                <a:gridCol w="2316480"/>
                <a:gridCol w="2316480"/>
                <a:gridCol w="2316480"/>
              </a:tblGrid>
              <a:tr h="5429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Модель</a:t>
                      </a:r>
                    </a:p>
                  </a:txBody>
                  <a:tcPr marL="91440" marR="91440" marT="45720" marB="45720">
                    <a:solidFill>
                      <a:srgbClr val="10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MAE</a:t>
                      </a:r>
                    </a:p>
                  </a:txBody>
                  <a:tcPr marL="91440" marR="91440" marT="45720" marB="45720">
                    <a:solidFill>
                      <a:srgbClr val="10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RMSE</a:t>
                      </a:r>
                    </a:p>
                  </a:txBody>
                  <a:tcPr marL="91440" marR="91440" marT="45720" marB="45720">
                    <a:solidFill>
                      <a:srgbClr val="10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R²</a:t>
                      </a:r>
                    </a:p>
                  </a:txBody>
                  <a:tcPr marL="91440" marR="91440" marT="45720" marB="45720">
                    <a:solidFill>
                      <a:srgbClr val="102B3A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2"/>
                          </a:solidFill>
                          <a:latin typeface="Arial"/>
                          <a:ea typeface="Arial"/>
                          <a:cs typeface="Arial"/>
                        </a:rPr>
                        <a:t>Вчерашнее значение</a:t>
                      </a:r>
                    </a:p>
                  </a:txBody>
                  <a:tcPr marL="91440" marR="91440" marT="45720" marB="4572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2"/>
                          </a:solidFill>
                          <a:latin typeface="Arial"/>
                          <a:ea typeface="Arial"/>
                          <a:cs typeface="Arial"/>
                        </a:rPr>
                        <a:t>2,928</a:t>
                      </a:r>
                    </a:p>
                  </a:txBody>
                  <a:tcPr marL="91440" marR="91440" marT="45720" marB="4572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2"/>
                          </a:solidFill>
                          <a:latin typeface="Arial"/>
                          <a:ea typeface="Arial"/>
                          <a:cs typeface="Arial"/>
                        </a:rPr>
                        <a:t>5,430</a:t>
                      </a:r>
                    </a:p>
                  </a:txBody>
                  <a:tcPr marL="91440" marR="91440" marT="45720" marB="4572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2"/>
                          </a:solidFill>
                          <a:latin typeface="Arial"/>
                          <a:ea typeface="Arial"/>
                          <a:cs typeface="Arial"/>
                        </a:rPr>
                        <a:t>0,490</a:t>
                      </a:r>
                    </a:p>
                  </a:txBody>
                  <a:tcPr marL="91440" marR="91440" marT="45720" marB="45720">
                    <a:solidFill>
                      <a:srgbClr val="F2F6F8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2"/>
                          </a:solidFill>
                          <a:latin typeface="Arial"/>
                          <a:ea typeface="Arial"/>
                          <a:cs typeface="Arial"/>
                        </a:rPr>
                        <a:t>Неделю назад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2"/>
                          </a:solidFill>
                          <a:latin typeface="Arial"/>
                          <a:ea typeface="Arial"/>
                          <a:cs typeface="Arial"/>
                        </a:rPr>
                        <a:t>4,609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2"/>
                          </a:solidFill>
                          <a:latin typeface="Arial"/>
                          <a:ea typeface="Arial"/>
                          <a:cs typeface="Arial"/>
                        </a:rPr>
                        <a:t>8,231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2"/>
                          </a:solidFill>
                          <a:latin typeface="Arial"/>
                          <a:ea typeface="Arial"/>
                          <a:cs typeface="Arial"/>
                        </a:rPr>
                        <a:t>−0,171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2"/>
                          </a:solidFill>
                          <a:latin typeface="Arial"/>
                          <a:ea typeface="Arial"/>
                          <a:cs typeface="Arial"/>
                        </a:rPr>
                        <a:t>Ridge</a:t>
                      </a:r>
                    </a:p>
                  </a:txBody>
                  <a:tcPr marL="91440" marR="91440" marT="45720" marB="4572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2"/>
                          </a:solidFill>
                          <a:latin typeface="Arial"/>
                          <a:ea typeface="Arial"/>
                          <a:cs typeface="Arial"/>
                        </a:rPr>
                        <a:t>3,071</a:t>
                      </a:r>
                    </a:p>
                  </a:txBody>
                  <a:tcPr marL="91440" marR="91440" marT="45720" marB="4572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2"/>
                          </a:solidFill>
                          <a:latin typeface="Arial"/>
                          <a:ea typeface="Arial"/>
                          <a:cs typeface="Arial"/>
                        </a:rPr>
                        <a:t>4,977</a:t>
                      </a:r>
                    </a:p>
                  </a:txBody>
                  <a:tcPr marL="91440" marR="91440" marT="45720" marB="4572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2"/>
                          </a:solidFill>
                          <a:latin typeface="Arial"/>
                          <a:ea typeface="Arial"/>
                          <a:cs typeface="Arial"/>
                        </a:rPr>
                        <a:t>0,572</a:t>
                      </a:r>
                    </a:p>
                  </a:txBody>
                  <a:tcPr marL="91440" marR="91440" marT="45720" marB="45720">
                    <a:solidFill>
                      <a:srgbClr val="F2F6F8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2"/>
                          </a:solidFill>
                          <a:latin typeface="Arial"/>
                          <a:ea typeface="Arial"/>
                          <a:cs typeface="Arial"/>
                        </a:rPr>
                        <a:t>Случайный лес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2"/>
                          </a:solidFill>
                          <a:latin typeface="Arial"/>
                          <a:ea typeface="Arial"/>
                          <a:cs typeface="Arial"/>
                        </a:rPr>
                        <a:t>2,912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2"/>
                          </a:solidFill>
                          <a:latin typeface="Arial"/>
                          <a:ea typeface="Arial"/>
                          <a:cs typeface="Arial"/>
                        </a:rPr>
                        <a:t>4,915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342"/>
                          </a:solidFill>
                          <a:latin typeface="Arial"/>
                          <a:ea typeface="Arial"/>
                          <a:cs typeface="Arial"/>
                        </a:rPr>
                        <a:t>0,583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127607-EFAA-455B-8FF7-EB96486A6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1647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16471"/>
                </a:solidFill>
                <a:latin typeface="Arial"/>
                <a:ea typeface="Arial"/>
                <a:cs typeface="Arial"/>
              </a:rPr>
              <a:t>PCP #10, пост № 235 — дополнительный исследовательский анализ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51647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16471"/>
                </a:solidFill>
                <a:latin typeface="Arial"/>
                <a:ea typeface="Arial"/>
                <a:cs typeface="Arial"/>
              </a:rPr>
              <a:t>353 отложенных суток; гиперпараметры взяты с поста № 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83C030-9E75-4149-802E-4E19EBCA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1647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16471"/>
                </a:solidFill>
                <a:latin typeface="Arial"/>
                <a:ea typeface="Arial"/>
                <a:cs typeface="Arial"/>
              </a:rPr>
              <a:t>results/sensitivity235/metadata.json, metrics.csv; аудит общих часов.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FF190B-3B10-4B2A-A586-4963DD63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76975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164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471"/>
                </a:solidFill>
                <a:latin typeface="Arial"/>
                <a:ea typeface="Arial"/>
                <a:cs typeface="Arial"/>
              </a:rPr>
              <a:t>11 / 15</a:t>
            </a:r>
          </a:p>
        </p:txBody>
      </p:sp>
    </p:spTree>
    <p:extLst>
      <p:ext uri="{BB962C8B-B14F-4D97-AF65-F5344CB8AC3E}">
        <p14:creationId xmlns:p14="http://schemas.microsoft.com/office/powerpoint/2010/main" val="80111283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AD0BE0-7C4E-4867-A1CA-A62D2BB6B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2"/>
                </a:solidFill>
                <a:latin typeface="Arial"/>
                <a:ea typeface="Arial"/>
                <a:cs typeface="Arial"/>
              </a:rPr>
              <a:t>Малый выигрыш леса на посту № 235 неустойчив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3ce96b27694774"/>
          <a:stretch xmlns:a="http://schemas.openxmlformats.org/drawingml/2006/main"/>
        </p:blipFill>
        <p:spPr>
          <a:xfrm xmlns:a="http://schemas.openxmlformats.org/drawingml/2006/main">
            <a:off x="504825" y="2095738"/>
            <a:ext cx="7791450" cy="3438048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92BF72-DE6E-4C16-90D6-6A045BF0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1876425"/>
            <a:ext cx="2943225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3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2"/>
                </a:solidFill>
                <a:latin typeface="Arial"/>
                <a:ea typeface="Arial"/>
                <a:cs typeface="Arial"/>
              </a:rPr>
              <a:t>Разница MAE лес − «вчера»: −0,017 мкг/м³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733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2"/>
                </a:solidFill>
                <a:latin typeface="Arial"/>
                <a:ea typeface="Arial"/>
                <a:cs typeface="Arial"/>
              </a:rPr>
              <a:t>95%-й диапазон пересэмплирования:</a:t>
            </a:r>
          </a:p>
          <a:p xmlns:a="http://schemas.openxmlformats.org/drawingml/2006/main">
            <a:pPr>
              <a:defRPr sz="1875" b="0">
                <a:solidFill>
                  <a:srgbClr val="1733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342"/>
                </a:solidFill>
                <a:latin typeface="Arial"/>
                <a:ea typeface="Arial"/>
                <a:cs typeface="Arial"/>
              </a:rPr>
              <a:t>[−0,312; 0,278]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DA18B6-327B-4806-A0D2-F10DB8CD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1647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16471"/>
                </a:solidFill>
                <a:latin typeface="Arial"/>
                <a:ea typeface="Arial"/>
                <a:cs typeface="Arial"/>
              </a:rPr>
              <a:t>Künsch (1989), DOI 10.1214/aos/1176347265; results/paired_error_block_sensitivity.csv.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579F19-43AF-450D-89B2-A3518316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76975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164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471"/>
                </a:solidFill>
                <a:latin typeface="Arial"/>
                <a:ea typeface="Arial"/>
                <a:cs typeface="Arial"/>
              </a:rPr>
              <a:t>12 / 15</a:t>
            </a:r>
          </a:p>
        </p:txBody>
      </p:sp>
    </p:spTree>
    <p:extLst>
      <p:ext uri="{BB962C8B-B14F-4D97-AF65-F5344CB8AC3E}">
        <p14:creationId xmlns:p14="http://schemas.microsoft.com/office/powerpoint/2010/main" val="52760184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D0C8CD-E6B9-46AD-82A4-93BA13040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2"/>
                </a:solidFill>
                <a:latin typeface="Arial"/>
                <a:ea typeface="Arial"/>
                <a:cs typeface="Arial"/>
              </a:rPr>
              <a:t>Три барьера перед реальным применением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D2AC52-ECCD-4A48-B093-BA15F768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76425"/>
            <a:ext cx="5010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864A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864AD"/>
                </a:solidFill>
                <a:latin typeface="Arial"/>
                <a:ea typeface="Arial"/>
                <a:cs typeface="Arial"/>
              </a:rPr>
              <a:t>Измерение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21780C-D598-49A5-A9F2-20155DB3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57475"/>
            <a:ext cx="50101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3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342"/>
                </a:solidFill>
                <a:latin typeface="Arial"/>
                <a:ea typeface="Arial"/>
                <a:cs typeface="Arial"/>
              </a:rPr>
              <a:t>Маркировка и поверка канала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33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342"/>
                </a:solidFill>
                <a:latin typeface="Arial"/>
                <a:ea typeface="Arial"/>
                <a:cs typeface="Arial"/>
              </a:rPr>
              <a:t>Сопоставление с независимым прибором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8F1F0F-BEF0-4B93-B19A-00B7C514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76425"/>
            <a:ext cx="5010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864A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864AD"/>
                </a:solidFill>
                <a:latin typeface="Arial"/>
                <a:ea typeface="Arial"/>
                <a:cs typeface="Arial"/>
              </a:rPr>
              <a:t>Доступность и оценка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9819F2-08C2-4CF0-A772-B4258398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57475"/>
            <a:ext cx="50101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3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342"/>
                </a:solidFill>
                <a:latin typeface="Arial"/>
                <a:ea typeface="Arial"/>
                <a:cs typeface="Arial"/>
              </a:rPr>
              <a:t>Журнал фактической публикации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33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342"/>
                </a:solidFill>
                <a:latin typeface="Arial"/>
                <a:ea typeface="Arial"/>
                <a:cs typeface="Arial"/>
              </a:rPr>
              <a:t>Версии до ретроспективной очистки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33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342"/>
                </a:solidFill>
                <a:latin typeface="Arial"/>
                <a:ea typeface="Arial"/>
                <a:cs typeface="Arial"/>
              </a:rPr>
              <a:t>Новый заранее сохранённый период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84EC82-A509-4C62-A270-7DD0EC85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1647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16471"/>
                </a:solidFill>
                <a:latin typeface="Arial"/>
                <a:ea typeface="Arial"/>
                <a:cs typeface="Arial"/>
              </a:rPr>
              <a:t>AirData.kz DATASHEET; DATA_CARD.md; результаты проверки парных часов.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D73CE5-D9EB-4857-B0CB-33EC8B24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76975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164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471"/>
                </a:solidFill>
                <a:latin typeface="Arial"/>
                <a:ea typeface="Arial"/>
                <a:cs typeface="Arial"/>
              </a:rPr>
              <a:t>13 / 15</a:t>
            </a:r>
          </a:p>
        </p:txBody>
      </p:sp>
    </p:spTree>
    <p:extLst>
      <p:ext uri="{BB962C8B-B14F-4D97-AF65-F5344CB8AC3E}">
        <p14:creationId xmlns:p14="http://schemas.microsoft.com/office/powerpoint/2010/main" val="119969892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02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49B19E-4EAC-45D6-969E-CE4BA0C17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85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Простой ориентир остаётся честным результатом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BD7901-9B41-42B4-B9B7-F71561EC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76450"/>
            <a:ext cx="1057275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DF4F7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DF4F7"/>
                </a:solidFill>
                <a:latin typeface="Arial"/>
                <a:ea typeface="Arial"/>
                <a:cs typeface="Arial"/>
              </a:rPr>
              <a:t>В основной проверке выигрыша от обучения нет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EDF4F7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DF4F7"/>
                </a:solidFill>
                <a:latin typeface="Arial"/>
                <a:ea typeface="Arial"/>
                <a:cs typeface="Arial"/>
              </a:rPr>
              <a:t>На посту № 235 небольшой выигрыш леса неустойчив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EDF4F7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DF4F7"/>
                </a:solidFill>
                <a:latin typeface="Arial"/>
                <a:ea typeface="Arial"/>
                <a:cs typeface="Arial"/>
              </a:rPr>
              <a:t>Следующий шаг — проверить данные и новый будущий период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ED4411-1095-41C8-A2F9-C66B95BD3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4C1C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4C1CB"/>
                </a:solidFill>
                <a:latin typeface="Arial"/>
                <a:ea typeface="Arial"/>
                <a:cs typeface="Arial"/>
              </a:rPr>
              <a:t>Report.md; results/metrics.csv; результаты дополнительного анализа 26.09.2026.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D0AFB5-2D39-4D8D-9E3D-E9E5E939F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76975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4C1C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4C1CB"/>
                </a:solidFill>
                <a:latin typeface="Arial"/>
                <a:ea typeface="Arial"/>
                <a:cs typeface="Arial"/>
              </a:rPr>
              <a:t>14 / 15</a:t>
            </a:r>
          </a:p>
        </p:txBody>
      </p:sp>
    </p:spTree>
    <p:extLst>
      <p:ext uri="{BB962C8B-B14F-4D97-AF65-F5344CB8AC3E}">
        <p14:creationId xmlns:p14="http://schemas.microsoft.com/office/powerpoint/2010/main" val="145531497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CEEF37-1E43-4164-AB55-2440CBED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2"/>
                </a:solidFill>
                <a:latin typeface="Arial"/>
                <a:ea typeface="Arial"/>
                <a:cs typeface="Arial"/>
              </a:rPr>
              <a:t>Источники, код и раскрытие помощи 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45CB40-2A84-4937-ABBD-01E35A4C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5010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864A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864AD"/>
                </a:solidFill>
                <a:latin typeface="Arial"/>
                <a:ea typeface="Arial"/>
                <a:cs typeface="Arial"/>
              </a:rPr>
              <a:t>Источники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1AC2C1-EEEC-4932-83DB-F5B5D166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43175"/>
            <a:ext cx="50101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3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342"/>
                </a:solidFill>
                <a:latin typeface="Arial"/>
                <a:ea typeface="Arial"/>
                <a:cs typeface="Arial"/>
              </a:rPr>
              <a:t>AirData.kz — наблюдения и ретроспективный контроль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33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342"/>
                </a:solidFill>
                <a:latin typeface="Arial"/>
                <a:ea typeface="Arial"/>
                <a:cs typeface="Arial"/>
              </a:rPr>
              <a:t>scikit-learn — пример временных лаговых признаков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33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342"/>
                </a:solidFill>
                <a:latin typeface="Arial"/>
                <a:ea typeface="Arial"/>
                <a:cs typeface="Arial"/>
              </a:rPr>
              <a:t>Künsch (1989) — блочное пересэмплирование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6EAEF4-449C-44D7-B4AE-9AA6A969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762125"/>
            <a:ext cx="5010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864A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864AD"/>
                </a:solidFill>
                <a:latin typeface="Arial"/>
                <a:ea typeface="Arial"/>
                <a:cs typeface="Arial"/>
              </a:rPr>
              <a:t>Методы и данные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49345B-1502-44F4-8034-540B8057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43175"/>
            <a:ext cx="50101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3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342"/>
                </a:solidFill>
                <a:latin typeface="Arial"/>
                <a:ea typeface="Arial"/>
                <a:cs typeface="Arial"/>
              </a:rPr>
              <a:t>ВОЗ (2021) — ориентиры воздействия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33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342"/>
                </a:solidFill>
                <a:latin typeface="Arial"/>
                <a:ea typeface="Arial"/>
                <a:cs typeface="Arial"/>
              </a:rPr>
              <a:t>Точные данные, версии и параметры — в пакете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F42FAD-6B27-476F-870F-74B55DA55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1647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16471"/>
                </a:solidFill>
                <a:latin typeface="Arial"/>
                <a:ea typeface="Arial"/>
                <a:cs typeface="Arial"/>
              </a:rPr>
              <a:t>References.md; sources.csv; PREREGISTRATION.md и metadata.json.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D6D18E-4A8C-46F4-BDEA-57B11503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276975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164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471"/>
                </a:solidFill>
                <a:latin typeface="Arial"/>
                <a:ea typeface="Arial"/>
                <a:cs typeface="Arial"/>
              </a:rPr>
              <a:t>15 / 15</a:t>
            </a:r>
          </a:p>
        </p:txBody>
      </p:sp>
    </p:spTree>
    <p:extLst>
      <p:ext uri="{BB962C8B-B14F-4D97-AF65-F5344CB8AC3E}">
        <p14:creationId xmlns:p14="http://schemas.microsoft.com/office/powerpoint/2010/main" val="7154876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2026-09-25T20:47:51.5870000Z</dcterms:created>
  <dcterms:modified xsi:type="dcterms:W3CDTF">2026-09-25T20:47:51.5870000Z</dcterms:modified>
</coreProperties>
</file>