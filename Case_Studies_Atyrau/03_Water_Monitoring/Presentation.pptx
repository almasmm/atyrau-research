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74df23fc8244b0" /><Relationship Type="http://schemas.openxmlformats.org/officeDocument/2006/relationships/extended-properties" Target="/docProps/app.xml" Id="R86abb837dd514456" /><Relationship Type="http://schemas.openxmlformats.org/officeDocument/2006/relationships/officeDocument" Target="/ppt/presentation.xml" Id="R061ea122801f4f43" /></Relationships>
</file>

<file path=ppt/presentation.xml><?xml version="1.0" encoding="utf-8"?>
<p:presentation xmlns:p="http://schemas.openxmlformats.org/presentationml/2006/main">
  <p:sldMasterIdLst>
    <p:sldMasterId xmlns:r="http://schemas.openxmlformats.org/officeDocument/2006/relationships" id="2147483648" r:id="Re291e41d9b994af3"/>
  </p:sldMasterIdLst>
  <p:notesMasterIdLst>
    <p:notesMasterId xmlns:r="http://schemas.openxmlformats.org/officeDocument/2006/relationships" r:id="R3a59df8b59904599"/>
  </p:notesMasterIdLst>
  <p:sldIdLst>
    <p:sldId xmlns:r="http://schemas.openxmlformats.org/officeDocument/2006/relationships" id="256" r:id="R008ba163280e4562"/>
    <p:sldId xmlns:r="http://schemas.openxmlformats.org/officeDocument/2006/relationships" id="257" r:id="Rcbce1f6b9ec64b4b"/>
    <p:sldId xmlns:r="http://schemas.openxmlformats.org/officeDocument/2006/relationships" id="258" r:id="Ra065cfdcee1f44d2"/>
    <p:sldId xmlns:r="http://schemas.openxmlformats.org/officeDocument/2006/relationships" id="259" r:id="R643ce4364daf4df4"/>
    <p:sldId xmlns:r="http://schemas.openxmlformats.org/officeDocument/2006/relationships" id="260" r:id="Rd8b953c0769b42c3"/>
    <p:sldId xmlns:r="http://schemas.openxmlformats.org/officeDocument/2006/relationships" id="261" r:id="R27ba31295cc94fd3"/>
    <p:sldId xmlns:r="http://schemas.openxmlformats.org/officeDocument/2006/relationships" id="262" r:id="R9ab80103af534aa5"/>
    <p:sldId xmlns:r="http://schemas.openxmlformats.org/officeDocument/2006/relationships" id="263" r:id="Rccf80901368d451d"/>
    <p:sldId xmlns:r="http://schemas.openxmlformats.org/officeDocument/2006/relationships" id="264" r:id="Re80b978d29c84a45"/>
    <p:sldId xmlns:r="http://schemas.openxmlformats.org/officeDocument/2006/relationships" id="265" r:id="R8aec3e72a37042ab"/>
    <p:sldId xmlns:r="http://schemas.openxmlformats.org/officeDocument/2006/relationships" id="266" r:id="R66a8aa5120864e2b"/>
    <p:sldId xmlns:r="http://schemas.openxmlformats.org/officeDocument/2006/relationships" id="267" r:id="Rf495853314314430"/>
    <p:sldId xmlns:r="http://schemas.openxmlformats.org/officeDocument/2006/relationships" id="268" r:id="R6f2dba0214404677"/>
    <p:sldId xmlns:r="http://schemas.openxmlformats.org/officeDocument/2006/relationships" id="269" r:id="Rd9cf54096538421b"/>
    <p:sldId xmlns:r="http://schemas.openxmlformats.org/officeDocument/2006/relationships" id="270" r:id="R5d7126d4b83545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94f8d83df04252" /><Relationship Type="http://schemas.openxmlformats.org/officeDocument/2006/relationships/slideMaster" Target="/ppt/slideMasters/slideMaster1.xml" Id="Re291e41d9b994af3" /><Relationship Type="http://schemas.openxmlformats.org/officeDocument/2006/relationships/notesMaster" Target="/ppt/notesMasters/notesMaster1.xml" Id="R3a59df8b59904599" /><Relationship Type="http://schemas.openxmlformats.org/officeDocument/2006/relationships/presProps" Target="/ppt/presProps.xml" Id="Red0b0505124b4581" /><Relationship Type="http://schemas.openxmlformats.org/officeDocument/2006/relationships/tableStyles" Target="/ppt/tableStyles.xml" Id="R07e376a0fa604d3d" /><Relationship Type="http://schemas.openxmlformats.org/officeDocument/2006/relationships/slide" Target="/ppt/slides/slide1.xml" Id="R008ba163280e4562" /><Relationship Type="http://schemas.openxmlformats.org/officeDocument/2006/relationships/slide" Target="/ppt/slides/slide2.xml" Id="Rcbce1f6b9ec64b4b" /><Relationship Type="http://schemas.openxmlformats.org/officeDocument/2006/relationships/slide" Target="/ppt/slides/slide3.xml" Id="Ra065cfdcee1f44d2" /><Relationship Type="http://schemas.openxmlformats.org/officeDocument/2006/relationships/slide" Target="/ppt/slides/slide4.xml" Id="R643ce4364daf4df4" /><Relationship Type="http://schemas.openxmlformats.org/officeDocument/2006/relationships/slide" Target="/ppt/slides/slide5.xml" Id="Rd8b953c0769b42c3" /><Relationship Type="http://schemas.openxmlformats.org/officeDocument/2006/relationships/slide" Target="/ppt/slides/slide6.xml" Id="R27ba31295cc94fd3" /><Relationship Type="http://schemas.openxmlformats.org/officeDocument/2006/relationships/slide" Target="/ppt/slides/slide7.xml" Id="R9ab80103af534aa5" /><Relationship Type="http://schemas.openxmlformats.org/officeDocument/2006/relationships/slide" Target="/ppt/slides/slide8.xml" Id="Rccf80901368d451d" /><Relationship Type="http://schemas.openxmlformats.org/officeDocument/2006/relationships/slide" Target="/ppt/slides/slide9.xml" Id="Re80b978d29c84a45" /><Relationship Type="http://schemas.openxmlformats.org/officeDocument/2006/relationships/slide" Target="/ppt/slides/slide10.xml" Id="R8aec3e72a37042ab" /><Relationship Type="http://schemas.openxmlformats.org/officeDocument/2006/relationships/slide" Target="/ppt/slides/slide11.xml" Id="R66a8aa5120864e2b" /><Relationship Type="http://schemas.openxmlformats.org/officeDocument/2006/relationships/slide" Target="/ppt/slides/slide12.xml" Id="Rf495853314314430" /><Relationship Type="http://schemas.openxmlformats.org/officeDocument/2006/relationships/slide" Target="/ppt/slides/slide13.xml" Id="R6f2dba0214404677" /><Relationship Type="http://schemas.openxmlformats.org/officeDocument/2006/relationships/slide" Target="/ppt/slides/slide14.xml" Id="Rd9cf54096538421b" /><Relationship Type="http://schemas.openxmlformats.org/officeDocument/2006/relationships/slide" Target="/ppt/slides/slide15.xml" Id="R5d7126d4b83545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14ef52f51e47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93ea1b296e4c75" /><Relationship Type="http://schemas.openxmlformats.org/officeDocument/2006/relationships/notesMaster" Target="/ppt/notesMasters/notesMaster1.xml" Id="Raadd83e930e841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c74dedbd514db0" /><Relationship Type="http://schemas.openxmlformats.org/officeDocument/2006/relationships/notesMaster" Target="/ppt/notesMasters/notesMaster1.xml" Id="Rcdef0d85e24c4e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afd3581ddc4439" /><Relationship Type="http://schemas.openxmlformats.org/officeDocument/2006/relationships/notesMaster" Target="/ppt/notesMasters/notesMaster1.xml" Id="R5f6ec7bad91743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ef425985464e3c" /><Relationship Type="http://schemas.openxmlformats.org/officeDocument/2006/relationships/notesMaster" Target="/ppt/notesMasters/notesMaster1.xml" Id="R0f97265abec746e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a8d479804b4f0e" /><Relationship Type="http://schemas.openxmlformats.org/officeDocument/2006/relationships/notesMaster" Target="/ppt/notesMasters/notesMaster1.xml" Id="Rf53e5b8ff8bc41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f8d365043f490e" /><Relationship Type="http://schemas.openxmlformats.org/officeDocument/2006/relationships/notesMaster" Target="/ppt/notesMasters/notesMaster1.xml" Id="R0dda673a60804b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c3e4e28f4d4111" /><Relationship Type="http://schemas.openxmlformats.org/officeDocument/2006/relationships/notesMaster" Target="/ppt/notesMasters/notesMaster1.xml" Id="R31a849d11c8b41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73d90ba49b94e79" /><Relationship Type="http://schemas.openxmlformats.org/officeDocument/2006/relationships/notesMaster" Target="/ppt/notesMasters/notesMaster1.xml" Id="R6ad317dc65814b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cbd2a71e374d2c" /><Relationship Type="http://schemas.openxmlformats.org/officeDocument/2006/relationships/notesMaster" Target="/ppt/notesMasters/notesMaster1.xml" Id="Re0b0ed01443246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a2e264f4bb4314" /><Relationship Type="http://schemas.openxmlformats.org/officeDocument/2006/relationships/notesMaster" Target="/ppt/notesMasters/notesMaster1.xml" Id="R2bb102405cc240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b432aeaaceb4d20" /><Relationship Type="http://schemas.openxmlformats.org/officeDocument/2006/relationships/notesMaster" Target="/ppt/notesMasters/notesMaster1.xml" Id="Rbf0b8c987da2408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3fb096e028498b" /><Relationship Type="http://schemas.openxmlformats.org/officeDocument/2006/relationships/notesMaster" Target="/ppt/notesMasters/notesMaster1.xml" Id="R8c350c17cc9442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49d222f652494c" /><Relationship Type="http://schemas.openxmlformats.org/officeDocument/2006/relationships/notesMaster" Target="/ppt/notesMasters/notesMaster1.xml" Id="R426e1a49a5d241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a7d76e35d614ac0" /><Relationship Type="http://schemas.openxmlformats.org/officeDocument/2006/relationships/notesMaster" Target="/ppt/notesMasters/notesMaster1.xml" Id="R021a220ecc4943d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269eb156cc423b" /><Relationship Type="http://schemas.openxmlformats.org/officeDocument/2006/relationships/notesMaster" Target="/ppt/notesMasters/notesMaster1.xml" Id="Rd7639e246bbc42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Работа посвящена среднесуточному уровню Урала на гидропосту Атырау. Сначала устанавливаются происхождение и единицы наблюдений, затем проверяется прогноз следующего дня и журнал контроля поступающих записей. Главный результат отрицательный: выбранная по валидации Ridge имеет ошибку MAE 7,039 сантиметра, а простое сохранение последнего уровня — 6,966. Это полноценный результат проверки гипотезы. Презентация описывает архивный эксперимент, а не действующую систему управления сооружениями. Помощь ИИ раскрыта в пакете; методы и выводы требуют самостоятельного понимания перед защитой.</a:t>
            </a:r>
          </a:p>
          <a:p xmlns:a="http://schemas.openxmlformats.org/drawingml/2006/main">
            <a:r>
              <a:t/>
            </a:r>
          </a:p>
          <a:p xmlns:a="http://schemas.openxmlformats.org/drawingml/2006/main">
            <a:r>
              <a:t>Источники: Казгидромет: ЕДС 2018, 2019, 2022; таблица 1.2, пост 19802.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Единица анализа — среднесуточный уровень одного гидропоста, а не отдельный цифровой отсчёт датчика. В ежегодниках указаны код 19802, название Урал — Атырау и ноль поста минус тридцать метров Балтийской системы высот. Опубликованные значения выражены в сантиметрах относительно этого нуля. Каждый выбранный год содержит 365 записей. Между 2019 и 2022 годами оставлен настоящий разрыв: пропущенные годы не восстановлены и не объявлены безаварийными. Тип прибора, телеметрия и оперативная задержка публикации по этим таблицам не установлены.</a:t>
            </a:r>
          </a:p>
          <a:p xmlns:a="http://schemas.openxmlformats.org/drawingml/2006/main">
            <a:r>
              <a:t/>
            </a:r>
          </a:p>
          <a:p xmlns:a="http://schemas.openxmlformats.org/drawingml/2006/main">
            <a:r>
              <a:t>Источники: Казгидромет: ЕДС 2018, 2019, 2022; таблица 1.2, пост 19802.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Исследовательские вопросы разделены, поскольку хороший прогноз и исправный процесс обработки данных — разные свойства. Для прогноза заранее задана проверка средней абсолютной ошибки на отложенном году. Для процесса проверяются последовательное чтение, корректная дата цели и совпадение с пакетным расчётом. При необычном изменении система предлагает проверить запись. Такое предложение не является диагнозом неисправности или предупреждением об опасном уровне. В наборе нет независимых аварийных меток, поэтому точность классификации аномалий здесь оценивать нельзя. Эти границы задают смысл последующих чисел.</a:t>
            </a:r>
          </a:p>
          <a:p xmlns:a="http://schemas.openxmlformats.org/drawingml/2006/main">
            <a:r>
              <a:t/>
            </a:r>
          </a:p>
          <a:p xmlns:a="http://schemas.openxmlformats.org/drawingml/2006/main">
            <a:r>
              <a:t>Источники: План EXPERIMENT_PLAN.md; Hyndman и Athanasopoulos, FPP3, §5.8.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Числа извлечены из таблицы 1.2 трёх официальных ежегодников. Контроль включает календарную сетку, отсутствие повторов дат, сохранение условных пометок и сравнение всех 36 месячных средних с опубликованными значениями. Допуск связан с округлением среднего до целого сантиметра. Во время повторного аудита другой PDF-движок независимо прочитал все 1095 ячеек, и они совпали с набором. Минимумы и максимумы в таблице относятся именно к суточным средним; экстремумы отдельных внутрисуточных отсчётов могут отличаться. Полные книги не включены в распространяемый архив.</a:t>
            </a:r>
          </a:p>
          <a:p xmlns:a="http://schemas.openxmlformats.org/drawingml/2006/main">
            <a:r>
              <a:t/>
            </a:r>
          </a:p>
          <a:p xmlns:a="http://schemas.openxmlformats.org/drawingml/2006/main">
            <a:r>
              <a:t>Источники: Казгидромет: PDF с. 35 / 35 / 37; results/annual_summary.csv.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графике каждый год имеет собственную линию и форму маркера. Профили показывают сезонную структуру, однако её высота и развитие заметно различаются. В частности, средний годовой уровень 2018 года выше средних 2019 и 2022 годов. Из этого нельзя вывести устойчивое многолетнее снижение: годы выбраны по доступности проверенных источников и разделены пропуском. Сезонность используется как известный календарный признак, но не как доказанная неизменная закономерность. Причины различий потребовали бы дополнительных наблюдений по бассейну и морскому воздействию.</a:t>
            </a:r>
          </a:p>
          <a:p xmlns:a="http://schemas.openxmlformats.org/drawingml/2006/main">
            <a:r>
              <a:t/>
            </a:r>
          </a:p>
          <a:p xmlns:a="http://schemas.openxmlformats.org/drawingml/2006/main">
            <a:r>
              <a:t>Источники: Месячные средние из 1095 наблюдений; results/monthly_means.csv.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Дата целевого значения определяет этап эксперимента. Модель обучается на целях 2018 года, параметры выбираются по 2019 году, итоговая оценка выполняется на 2022 году. Для начала 2019 года разрешена известная история конца 2018: это прошлые наблюдения, а не утечка. Для начала 2022 года предшествующая неделя недоступна, поэтому первые семь дат исключены. Соседние окна признаков могут пересекаться, поскольку это последовательный прогноз. Целевые даты разных этапов не пересекаются. Предполагаемая доступность завершённого суточного среднего остаётся условием архивной оценки.</a:t>
            </a:r>
          </a:p>
          <a:p xmlns:a="http://schemas.openxmlformats.org/drawingml/2006/main">
            <a:r>
              <a:t/>
            </a:r>
          </a:p>
          <a:p xmlns:a="http://schemas.openxmlformats.org/drawingml/2006/main">
            <a:r>
              <a:t>Источники: Зафиксированный план; models/metadata.json; results/split_manifest.csv.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Обучаемая регрессия оценивает следующее изменение, которое затем прибавляется к последнему известному уровню. Все измеряемые признаки берутся из семи завершённых дней. Среднее изменение в семидневном окне равно разности последнего и первого уровней, делённой на шесть межсуточных интервалов; его единица — сантиметры в сутки. День будущей календарной даты известен заранее, поэтому синус и косинус допустимы. Независимый аудит восстановил все девять признаков для 1081 цели по прошлым датам. Ни исходные пометки будущего дня, ни его измеренное значение в модель не входят.</a:t>
            </a:r>
          </a:p>
          <a:p xmlns:a="http://schemas.openxmlformats.org/drawingml/2006/main">
            <a:r>
              <a:t/>
            </a:r>
          </a:p>
          <a:p xmlns:a="http://schemas.openxmlformats.org/drawingml/2006/main">
            <a:r>
              <a:t>Источники: code/pipeline.py: make_features; data_dictionary.csv.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Проверены четыре значения регуляризации Ridge и два минимальных размера листа Random Forest. Лес содержит двести деревьев с максимальной глубиной шесть. Скейлер Ridge обучался внутри pipeline только на данных обучения. По минимальной MAE 2019 года выбраны Ridge с alpha сто и лес с минимальным листом три; лучший общий результат дала Ridge. После фиксации параметров обе обучаемые модели переобучены на 723 целях 2018 и 2019 годов. Наблюдения 2022 года не использованы для настройки. Полный поиск сохранён, а не заменён одной удачной конфигурацией.</a:t>
            </a:r>
          </a:p>
          <a:p xmlns:a="http://schemas.openxmlformats.org/drawingml/2006/main">
            <a:r>
              <a:t/>
            </a:r>
          </a:p>
          <a:p xmlns:a="http://schemas.openxmlformats.org/drawingml/2006/main">
            <a:r>
              <a:t>Источники: results/validation_search.csv; scikit-learn: Ridge, RandomForestRegressor.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Столбцы сравнивают ошибки на одних и тех же 358 целевых днях 2022 года. Меньшее значение лучше. Ridge была выбрана заранее, но её MAE оказалась на 0,072 сантиметра выше baseline. Относительное улучшение равно минус 1,04 процента. Различие невелико и без оценки неопределённости не объявляется статистически значимым. RMSE Ridge немного ниже, однако сменить главный критерий после просмотра результата нельзя. Random Forest также не показал выигрыша по MAE. Отрицательный результат сохраняется в выводе.</a:t>
            </a:r>
          </a:p>
          <a:p xmlns:a="http://schemas.openxmlformats.org/drawingml/2006/main">
            <a:r>
              <a:t/>
            </a:r>
          </a:p>
          <a:p xmlns:a="http://schemas.openxmlformats.org/drawingml/2006/main">
            <a:r>
              <a:t>Источники: Расчёт по локальному архиву: results/metrics.csv; критерий выбора — MAE.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Пятого марта 2022 года опубликованное суточное среднее достигло 242 сантиметров после 158 сантиметров накануне. Прогноз Ridge оставался около 160 сантиметров, что дало крупнейшую абсолютную ошибку. Значение сверено с первоисточником и не удалено как неудобный выброс. Пример показывает ограничение прогноза, использующего только прошлые уровни: резкий внешний импульс может не проявиться заранее в недельном окне. Причину данного скачка модель не устанавливает. Условные пометки ежегодника сохранены, но не превращены без проверки в истинные метки аварии или неисправности.</a:t>
            </a:r>
          </a:p>
          <a:p xmlns:a="http://schemas.openxmlformats.org/drawingml/2006/main">
            <a:r>
              <a:t/>
            </a:r>
          </a:p>
          <a:p xmlns:a="http://schemas.openxmlformats.org/drawingml/2006/main">
            <a:r>
              <a:t>Источники: ЕДС 2022, PDF с. 37; results/largest_errors.csv.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Средняя абсолютная ошибка обоих методов максимальна весной. Летом Ridge немного точнее последнего уровня, зимой — хуже; осенью различие небольшое. Эти оценки относятся к одному отложенному году. Зимних целей меньше из-за семидневного прогрева в начале января, а не из-за выборочного удаления неудобных наблюдений. Таблица помогает определить, где нужна дополнительная информация и экспертный разбор, но не разрешает задним числом выбирать отдельную модель для каждого сезона. Новое правило сезонного выбора потребовало бы другого периода проверки, не использованного при разработке.</a:t>
            </a:r>
          </a:p>
          <a:p xmlns:a="http://schemas.openxmlformats.org/drawingml/2006/main">
            <a:r>
              <a:t/>
            </a:r>
          </a:p>
          <a:p xmlns:a="http://schemas.openxmlformats.org/drawingml/2006/main">
            <a:r>
              <a:t>Источники: results/seasonal_metrics.csv; фиксированный test 2022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Replay читает по одной реальной записи 2022 года. После семи известных дней формируется прогноз; последняя запись даёт цель первого января 2023 года, которой в наборе нет. Поэтому прогнозов 359, а оценённых целей 358. Порог флага равен 99-му процентилю абсолютных изменений на 2018 и 2019 годах, причём применяется строгое превышение. Флаг относится к уже полученному измерению и предлагает ручную проверку. При разрыве или нечисловом значении окно сбрасывается. Сообщения людям не отправляются, исполнительные устройства не подключены.</a:t>
            </a:r>
          </a:p>
          <a:p xmlns:a="http://schemas.openxmlformats.org/drawingml/2006/main">
            <a:r>
              <a:t/>
            </a:r>
          </a:p>
          <a:p xmlns:a="http://schemas.openxmlformats.org/drawingml/2006/main">
            <a:r>
              <a:t>Источники: code/replay.py; results/replay_actions.csv; results/replay_summary.json.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Вычислительные части задания закрыты реальными данными и результатами. Изолированный повтор без прежних моделей и PDF-кеша воспроизвёл прогнозы, а независимые проверки подтвердили признаки, единицы и метрики. Однако архивный ряд не доказывает работающую телеметрию. Не измерены экономия воды, предотвращённый ущерб или надёжность предупреждений. Для этих утверждений нужны оборудование, журнал задержек, проверенная разметка событий и отдельная эксплуатационная оценка. Поэтому статус исходного кейса остаётся PARTIAL. Дополнительное оформление не заменяет отсутствующие полевые сведения и не меняет границу применимости исследования.</a:t>
            </a:r>
          </a:p>
          <a:p xmlns:a="http://schemas.openxmlformats.org/drawingml/2006/main">
            <a:r>
              <a:t/>
            </a:r>
          </a:p>
          <a:p xmlns:a="http://schemas.openxmlformats.org/drawingml/2006/main">
            <a:r>
              <a:t>Источники: results/revision_checks_20260926.json; DATA_CARD.md; статус PARTIAL.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Практический вывод состоит в приоритетах следующей работы. Сначала необходимо обеспечить наблюдение вместе со временем измерения, временем получения и сведениями о приборе. Затем специалист должен проверить отмеченные даты, чтобы отделить особенности речного режима от ошибок сбора. Persistence остаётся понятным ориентиром для сравнения. Новые признаки допустимы только после подтверждения их доступности до прогнозируемого дня; их пользу нужно оценивать на новом периоде. Текущий отрицательный результат полезен тем, что предотвращает необоснованную замену простого метода более сложной моделью без доказанного выигрыша.</a:t>
            </a:r>
          </a:p>
          <a:p xmlns:a="http://schemas.openxmlformats.org/drawingml/2006/main">
            <a:r>
              <a:t/>
            </a:r>
          </a:p>
          <a:p xmlns:a="http://schemas.openxmlformats.org/drawingml/2006/main">
            <a:r>
              <a:t>Источники: Выводы из фиксированного эксперимента и журнала replay.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Первичные таблицы подтверждают локальные значения и единицы; методические источники обосновывают отложенную проверку и сравнение с простым прогнозом. Работа GloFAS посвящена расходу, поэтому её численные результаты не переносились на уровень Урала. Полные источники, даты обращения и хеши находятся в References.md и реестре. Для проверки доступны Notebook, CSV прогнозов, параметры моделей и журнал replay. Полные ежегодники не распространяются из-за отсутствия подтверждённой открытой лицензии; код позволяет повторить загрузку с обязательной проверкой хеша. Ссылки приведены ниже для проверяемого перехода к первоисточникам.</a:t>
            </a:r>
          </a:p>
          <a:p xmlns:a="http://schemas.openxmlformats.org/drawingml/2006/main">
            <a:r>
              <a:t/>
            </a:r>
          </a:p>
          <a:p xmlns:a="http://schemas.openxmlformats.org/drawingml/2006/main">
            <a:r>
              <a:t>https://www.kazhydromet.kz/uploads/files/495/file/630840dd1094fbasseyn-rek-ural-srednee-i-nizhnee-techenie-i-emba-i-ustevaya-chast-reki-volga-vypusk-4-2018-god.pdf</a:t>
            </a:r>
          </a:p>
          <a:p xmlns:a="http://schemas.openxmlformats.org/drawingml/2006/main">
            <a:r>
              <a:t>https://kazhydromet.kz/uploads/files/496/file/630840f50875ebasseyn-rek-ural-srednee-i-nizhnee-techenie-i-emba-i-ustevaya-chast-reki-volga-vypusk-4-2019-god.pdf</a:t>
            </a:r>
          </a:p>
          <a:p xmlns:a="http://schemas.openxmlformats.org/drawingml/2006/main">
            <a:r>
              <a:t>https://www.kazhydromet.kz/uploads/files/1885/file/66e7e0b8ce51deds-vypusk-4-2022-ural-1.pdf</a:t>
            </a:r>
          </a:p>
          <a:p xmlns:a="http://schemas.openxmlformats.org/drawingml/2006/main">
            <a:r>
              <a:t>https://otexts.com/fpp3/accuracy.html</a:t>
            </a:r>
          </a:p>
          <a:p xmlns:a="http://schemas.openxmlformats.org/drawingml/2006/main">
            <a:r>
              <a:t>https://hess.copernicus.org/articles/27/1/2023/</a:t>
            </a:r>
          </a:p>
          <a:p xmlns:a="http://schemas.openxmlformats.org/drawingml/2006/main">
            <a:r>
              <a:t>https://scikit-learn.org/stable/modules/generated/sklearn.linear_model.Ridge.html</a:t>
            </a:r>
          </a:p>
          <a:p xmlns:a="http://schemas.openxmlformats.org/drawingml/2006/main">
            <a:r>
              <a:t>https://scikit-learn.org/stable/modules/generated/sklearn.ensemble.RandomForestRegressor.html</a:t>
            </a:r>
          </a:p>
          <a:p xmlns:a="http://schemas.openxmlformats.org/drawingml/2006/main">
            <a:r>
              <a:t/>
            </a:r>
          </a:p>
          <a:p xmlns:a="http://schemas.openxmlformats.org/drawingml/2006/main">
            <a:r>
              <a:t>Источники: Полные ссылки, страницы и SHA-256: References.md; SOURCE_REGISTER.csv.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424b11132f430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66e1d41fc74f72" /><Relationship Type="http://schemas.openxmlformats.org/officeDocument/2006/relationships/slideLayout" Target="/ppt/slideLayouts/slideLayout1.xml" Id="R8fd5744a7c214a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d5744a7c214a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a4ae52702f346d3" /><Relationship Type="http://schemas.openxmlformats.org/officeDocument/2006/relationships/notesSlide" Target="/ppt/notesSlides/notesSlide1.xml" Id="Rc2eaff973cac4e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1aec079aac43d5" /><Relationship Type="http://schemas.openxmlformats.org/officeDocument/2006/relationships/notesSlide" Target="/ppt/notesSlides/notesSlide2.xml" Id="R553397e4b36347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a5beab90254e60" /><Relationship Type="http://schemas.openxmlformats.org/officeDocument/2006/relationships/notesSlide" Target="/ppt/notesSlides/notesSlide3.xml" Id="R3e28f9de413141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a04ed576ee244b9" /><Relationship Type="http://schemas.openxmlformats.org/officeDocument/2006/relationships/notesSlide" Target="/ppt/notesSlides/notesSlide4.xml" Id="Re9569e6961ce43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3f03bda04743e6" /><Relationship Type="http://schemas.openxmlformats.org/officeDocument/2006/relationships/image" Target="/ppt/media/image.png" Id="R1ec4028fa2d94c49" /><Relationship Type="http://schemas.openxmlformats.org/officeDocument/2006/relationships/notesSlide" Target="/ppt/notesSlides/notesSlide5.xml" Id="Re51aa0aca73a4c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ec42e7cb8f4a54" /><Relationship Type="http://schemas.openxmlformats.org/officeDocument/2006/relationships/notesSlide" Target="/ppt/notesSlides/notesSlide6.xml" Id="Rc7283a93a11b4b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b14c27ff574951" /><Relationship Type="http://schemas.openxmlformats.org/officeDocument/2006/relationships/notesSlide" Target="/ppt/notesSlides/notesSlide7.xml" Id="R9a05ffceee8941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516cdeb7384ce2" /><Relationship Type="http://schemas.openxmlformats.org/officeDocument/2006/relationships/notesSlide" Target="/ppt/notesSlides/notesSlide8.xml" Id="R3202df9567df4a9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e2c9a1a3ed24917" /><Relationship Type="http://schemas.openxmlformats.org/officeDocument/2006/relationships/chart" Target="/ppt/slides/charts/chart1.xml" Id="R38af57637c474777" /><Relationship Type="http://schemas.openxmlformats.org/officeDocument/2006/relationships/notesSlide" Target="/ppt/notesSlides/notesSlide9.xml" Id="R246bade81052403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c3735f5d2e44bd" /><Relationship Type="http://schemas.openxmlformats.org/officeDocument/2006/relationships/image" Target="/ppt/media/image2.png" Id="R8039d696edd247da" /><Relationship Type="http://schemas.openxmlformats.org/officeDocument/2006/relationships/notesSlide" Target="/ppt/notesSlides/notesSlide10.xml" Id="R493c67607f1b4f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d9d9a3120b54091" /><Relationship Type="http://schemas.openxmlformats.org/officeDocument/2006/relationships/notesSlide" Target="/ppt/notesSlides/notesSlide11.xml" Id="R7a5f468f6da348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ef89799f8cb49a4" /><Relationship Type="http://schemas.openxmlformats.org/officeDocument/2006/relationships/notesSlide" Target="/ppt/notesSlides/notesSlide12.xml" Id="R4c459adae8d14c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cb9633852c44fa7" /><Relationship Type="http://schemas.openxmlformats.org/officeDocument/2006/relationships/notesSlide" Target="/ppt/notesSlides/notesSlide13.xml" Id="R101d31f840744c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4936033acd24047" /><Relationship Type="http://schemas.openxmlformats.org/officeDocument/2006/relationships/notesSlide" Target="/ppt/notesSlides/notesSlide14.xml" Id="Rf8b4699d7f40475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2608749d1554da5" /><Relationship Type="http://schemas.openxmlformats.org/officeDocument/2006/relationships/notesSlide" Target="/ppt/notesSlides/notesSlide15.xml" Id="R4627788fe9a94c7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см</c:v>
          </c:tx>
          <c:spPr>
            <a:solidFill xmlns:a="http://schemas.openxmlformats.org/drawingml/2006/main">
              <a:srgbClr val="28775A"/>
            </a:solidFill>
          </c:spPr>
          <c:cat>
            <c:strRef>
              <c:f>'Chart Data'!$A$2:$A$5</c:f>
              <c:strCache>
                <c:ptCount val="4"/>
                <c:pt idx="0">
                  <c:v>Последний уровень</c:v>
                </c:pt>
                <c:pt idx="1">
                  <c:v>Продолжение</c:v>
                </c:pt>
                <c:pt idx="2">
                  <c:v>Ridge</c:v>
                </c:pt>
                <c:pt idx="3">
                  <c:v>Random Forest</c:v>
                </c:pt>
              </c:strCache>
            </c:strRef>
          </c:cat>
          <c:val>
            <c:numRef>
              <c:f>'Chart Data'!$B$2:$B$5</c:f>
              <c:numCache>
                <c:formatCode>0.000</c:formatCode>
                <c:ptCount val="4"/>
                <c:pt idx="0">
                  <c:v>6.966</c:v>
                </c:pt>
                <c:pt idx="1">
                  <c:v>8.911</c:v>
                </c:pt>
                <c:pt idx="2">
                  <c:v>7.039</c:v>
                </c:pt>
                <c:pt idx="3">
                  <c:v>7.016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73342"/>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E3E9ED"/>
              </a:solidFill>
              <a:prstDash val="solid"/>
            </a:ln>
          </c:spPr>
        </c:majorGridlines>
        <c:title>
          <c:tx>
            <c:rich>
              <a:bodyPr xmlns:a="http://schemas.openxmlformats.org/drawingml/2006/main"/>
              <a:lstStyle xmlns:a="http://schemas.openxmlformats.org/drawingml/2006/main"/>
              <a:p xmlns:a="http://schemas.openxmlformats.org/drawingml/2006/main">
                <a:r>
                  <a:rPr sz="1575">
                    <a:solidFill>
                      <a:srgbClr val="516471"/>
                    </a:solidFill>
                    <a:latin typeface="Arial"/>
                    <a:ea typeface="Arial"/>
                    <a:cs typeface="Arial"/>
                  </a:rPr>
                  <a:t>MAE, см</a:t>
                </a:r>
              </a:p>
            </c:rich>
          </c:tx>
          <c:overlay val="0"/>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16471"/>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11EB81D-C5B3-4421-974C-4F6960132303}"/>
              </a:ext>
            </a:extLst>
          </p:cNvPr>
          <p:cNvSpPr>
            <a:spLocks xmlns:a="http://schemas.openxmlformats.org/drawingml/2006/main" noGrp="1"/>
          </p:cNvSpPr>
          <p:nvPr/>
        </p:nvSpPr>
        <p:spPr>
          <a:xfrm xmlns:a="http://schemas.openxmlformats.org/drawingml/2006/main">
            <a:off x="647700" y="6286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80CCD2"/>
                </a:solidFill>
                <a:latin typeface="Arial"/>
                <a:ea typeface="Arial"/>
                <a:cs typeface="Arial"/>
              </a:defRPr>
            </a:pPr>
            <a:r>
              <a:rPr sz="1800" b="0">
                <a:solidFill>
                  <a:srgbClr val="80CCD2"/>
                </a:solidFill>
                <a:latin typeface="Arial"/>
                <a:ea typeface="Arial"/>
                <a:cs typeface="Arial"/>
              </a:rPr>
              <a:t>Исследовательский кейс 12</a:t>
            </a:r>
          </a:p>
        </p:txBody>
      </p:sp>
      <p:sp>
        <p:nvSpPr>
          <p:cNvPr id="2" name="">
            <a:extLst xmlns:a="http://schemas.openxmlformats.org/drawingml/2006/main">
              <a:ext uri="{FF2B5EF4-FFF2-40B4-BE49-F238E27FC236}">
                <a16:creationId xmlns:a16="http://schemas.microsoft.com/office/drawing/2014/main" id="{FE896287-3842-455D-BED2-72523F143ACB}"/>
              </a:ext>
            </a:extLst>
          </p:cNvPr>
          <p:cNvSpPr>
            <a:spLocks xmlns:a="http://schemas.openxmlformats.org/drawingml/2006/main" noGrp="1"/>
          </p:cNvSpPr>
          <p:nvPr/>
        </p:nvSpPr>
        <p:spPr>
          <a:xfrm xmlns:a="http://schemas.openxmlformats.org/drawingml/2006/main">
            <a:off x="609600" y="1476375"/>
            <a:ext cx="107823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Урал — Атырау: прогноз на один день</a:t>
            </a:r>
          </a:p>
        </p:txBody>
      </p:sp>
      <p:sp>
        <p:nvSpPr>
          <p:cNvPr id="3" name="">
            <a:extLst xmlns:a="http://schemas.openxmlformats.org/drawingml/2006/main">
              <a:ext uri="{FF2B5EF4-FFF2-40B4-BE49-F238E27FC236}">
                <a16:creationId xmlns:a16="http://schemas.microsoft.com/office/drawing/2014/main" id="{2FACCC9D-3811-45F1-8F4D-1C15DE8BC80F}"/>
              </a:ext>
            </a:extLst>
          </p:cNvPr>
          <p:cNvSpPr>
            <a:spLocks xmlns:a="http://schemas.openxmlformats.org/drawingml/2006/main" noGrp="1"/>
          </p:cNvSpPr>
          <p:nvPr/>
        </p:nvSpPr>
        <p:spPr>
          <a:xfrm xmlns:a="http://schemas.openxmlformats.org/drawingml/2006/main">
            <a:off x="647700" y="40100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DEE9EE"/>
                </a:solidFill>
                <a:latin typeface="Arial"/>
                <a:ea typeface="Arial"/>
                <a:cs typeface="Arial"/>
              </a:defRPr>
            </a:pPr>
            <a:r>
              <a:rPr sz="2175" b="0">
                <a:solidFill>
                  <a:srgbClr val="DEE9EE"/>
                </a:solidFill>
                <a:latin typeface="Arial"/>
                <a:ea typeface="Arial"/>
                <a:cs typeface="Arial"/>
              </a:rPr>
              <a:t>Кейс №12 · локальные наблюдения · исторический мониторинг</a:t>
            </a:r>
          </a:p>
        </p:txBody>
      </p:sp>
      <p:sp>
        <p:nvSpPr>
          <p:cNvPr id="4" name="">
            <a:extLst xmlns:a="http://schemas.openxmlformats.org/drawingml/2006/main">
              <a:ext uri="{FF2B5EF4-FFF2-40B4-BE49-F238E27FC236}">
                <a16:creationId xmlns:a16="http://schemas.microsoft.com/office/drawing/2014/main" id="{B0C3851A-6344-4E34-BE82-9ACE88A73F34}"/>
              </a:ext>
            </a:extLst>
          </p:cNvPr>
          <p:cNvSpPr>
            <a:spLocks xmlns:a="http://schemas.openxmlformats.org/drawingml/2006/main" noGrp="1"/>
          </p:cNvSpPr>
          <p:nvPr/>
        </p:nvSpPr>
        <p:spPr>
          <a:xfrm xmlns:a="http://schemas.openxmlformats.org/drawingml/2006/main">
            <a:off x="647700" y="50958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C0D5DE"/>
                </a:solidFill>
                <a:latin typeface="Arial"/>
                <a:ea typeface="Arial"/>
                <a:cs typeface="Arial"/>
              </a:defRPr>
            </a:pPr>
            <a:r>
              <a:rPr sz="1500" b="0">
                <a:solidFill>
                  <a:srgbClr val="C0D5DE"/>
                </a:solidFill>
                <a:latin typeface="Arial"/>
                <a:ea typeface="Arial"/>
                <a:cs typeface="Arial"/>
              </a:rPr>
              <a:t>Выбранная модель не улучшила основной критерий относительно последнего уровня.</a:t>
            </a:r>
          </a:p>
        </p:txBody>
      </p:sp>
      <p:sp>
        <p:nvSpPr>
          <p:cNvPr id="5" name="">
            <a:extLst xmlns:a="http://schemas.openxmlformats.org/drawingml/2006/main">
              <a:ext uri="{FF2B5EF4-FFF2-40B4-BE49-F238E27FC236}">
                <a16:creationId xmlns:a16="http://schemas.microsoft.com/office/drawing/2014/main" id="{9FADE981-2412-4A80-8F9F-B1C6DE5C75FD}"/>
              </a:ext>
            </a:extLst>
          </p:cNvPr>
          <p:cNvSpPr>
            <a:spLocks xmlns:a="http://schemas.openxmlformats.org/drawingml/2006/main" noGrp="1"/>
          </p:cNvSpPr>
          <p:nvPr/>
        </p:nvSpPr>
        <p:spPr>
          <a:xfrm xmlns:a="http://schemas.openxmlformats.org/drawingml/2006/main">
            <a:off x="647700" y="5772150"/>
            <a:ext cx="990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A4C1CB"/>
                </a:solidFill>
                <a:latin typeface="Arial"/>
                <a:ea typeface="Arial"/>
                <a:cs typeface="Arial"/>
              </a:defRPr>
            </a:pPr>
            <a:r>
              <a:rPr sz="1425" b="0">
                <a:solidFill>
                  <a:srgbClr val="A4C1CB"/>
                </a:solidFill>
                <a:latin typeface="Arial"/>
                <a:ea typeface="Arial"/>
                <a:cs typeface="Arial"/>
              </a:rPr>
              <a:t>Искусственный интеллект и машинное обучение</a:t>
            </a:r>
          </a:p>
        </p:txBody>
      </p:sp>
      <p:sp>
        <p:nvSpPr>
          <p:cNvPr id="6" name="">
            <a:extLst xmlns:a="http://schemas.openxmlformats.org/drawingml/2006/main">
              <a:ext uri="{FF2B5EF4-FFF2-40B4-BE49-F238E27FC236}">
                <a16:creationId xmlns:a16="http://schemas.microsoft.com/office/drawing/2014/main" id="{6424F7E4-964A-4C79-B278-C872A22E3927}"/>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Казгидромет: ЕДС 2018, 2019, 2022; таблица 1.2, пост 19802.</a:t>
            </a:r>
          </a:p>
        </p:txBody>
      </p:sp>
      <p:sp>
        <p:nvSpPr>
          <p:cNvPr id="7" name="">
            <a:extLst xmlns:a="http://schemas.openxmlformats.org/drawingml/2006/main">
              <a:ext uri="{FF2B5EF4-FFF2-40B4-BE49-F238E27FC236}">
                <a16:creationId xmlns:a16="http://schemas.microsoft.com/office/drawing/2014/main" id="{977EB084-A883-459E-9880-32955C567355}"/>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 / 15</a:t>
            </a:r>
          </a:p>
        </p:txBody>
      </p:sp>
    </p:spTree>
    <p:extLst>
      <p:ext uri="{BB962C8B-B14F-4D97-AF65-F5344CB8AC3E}">
        <p14:creationId xmlns:p14="http://schemas.microsoft.com/office/powerpoint/2010/main" val="15792717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EF88B56-A5F2-439C-B733-2AFA025F6239}"/>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Наблюдения действительно относятся к Атырау</a:t>
            </a:r>
          </a:p>
        </p:txBody>
      </p:sp>
      <p:sp>
        <p:nvSpPr>
          <p:cNvPr id="2" name="">
            <a:extLst xmlns:a="http://schemas.openxmlformats.org/drawingml/2006/main">
              <a:ext uri="{FF2B5EF4-FFF2-40B4-BE49-F238E27FC236}">
                <a16:creationId xmlns:a16="http://schemas.microsoft.com/office/drawing/2014/main" id="{45F8BC51-D9B4-44E0-A147-AD97CB9B181F}"/>
              </a:ext>
            </a:extLst>
          </p:cNvPr>
          <p:cNvSpPr>
            <a:spLocks xmlns:a="http://schemas.openxmlformats.org/drawingml/2006/main" noGrp="1"/>
          </p:cNvSpPr>
          <p:nvPr/>
        </p:nvSpPr>
        <p:spPr>
          <a:xfrm xmlns:a="http://schemas.openxmlformats.org/drawingml/2006/main">
            <a:off x="6477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1095</a:t>
            </a:r>
          </a:p>
        </p:txBody>
      </p:sp>
      <p:sp>
        <p:nvSpPr>
          <p:cNvPr id="3" name="">
            <a:extLst xmlns:a="http://schemas.openxmlformats.org/drawingml/2006/main">
              <a:ext uri="{FF2B5EF4-FFF2-40B4-BE49-F238E27FC236}">
                <a16:creationId xmlns:a16="http://schemas.microsoft.com/office/drawing/2014/main" id="{9C858BC1-8361-44FA-A82D-2342506D965D}"/>
              </a:ext>
            </a:extLst>
          </p:cNvPr>
          <p:cNvSpPr>
            <a:spLocks xmlns:a="http://schemas.openxmlformats.org/drawingml/2006/main" noGrp="1"/>
          </p:cNvSpPr>
          <p:nvPr/>
        </p:nvSpPr>
        <p:spPr>
          <a:xfrm xmlns:a="http://schemas.openxmlformats.org/drawingml/2006/main">
            <a:off x="6477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суточных наблюдений</a:t>
            </a:r>
          </a:p>
        </p:txBody>
      </p:sp>
      <p:sp>
        <p:nvSpPr>
          <p:cNvPr id="4" name="">
            <a:extLst xmlns:a="http://schemas.openxmlformats.org/drawingml/2006/main">
              <a:ext uri="{FF2B5EF4-FFF2-40B4-BE49-F238E27FC236}">
                <a16:creationId xmlns:a16="http://schemas.microsoft.com/office/drawing/2014/main" id="{798BF9D9-0CC8-4BC8-AD83-008E8670E06D}"/>
              </a:ext>
            </a:extLst>
          </p:cNvPr>
          <p:cNvSpPr>
            <a:spLocks xmlns:a="http://schemas.openxmlformats.org/drawingml/2006/main" noGrp="1"/>
          </p:cNvSpPr>
          <p:nvPr/>
        </p:nvSpPr>
        <p:spPr>
          <a:xfrm xmlns:a="http://schemas.openxmlformats.org/drawingml/2006/main">
            <a:off x="42291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8917325E-71EC-43C8-BE99-28A5A9543CD1}"/>
              </a:ext>
            </a:extLst>
          </p:cNvPr>
          <p:cNvSpPr>
            <a:spLocks xmlns:a="http://schemas.openxmlformats.org/drawingml/2006/main" noGrp="1"/>
          </p:cNvSpPr>
          <p:nvPr/>
        </p:nvSpPr>
        <p:spPr>
          <a:xfrm xmlns:a="http://schemas.openxmlformats.org/drawingml/2006/main">
            <a:off x="42291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проверенных года</a:t>
            </a:r>
          </a:p>
        </p:txBody>
      </p:sp>
      <p:sp>
        <p:nvSpPr>
          <p:cNvPr id="6" name="">
            <a:extLst xmlns:a="http://schemas.openxmlformats.org/drawingml/2006/main">
              <a:ext uri="{FF2B5EF4-FFF2-40B4-BE49-F238E27FC236}">
                <a16:creationId xmlns:a16="http://schemas.microsoft.com/office/drawing/2014/main" id="{FB7CED52-4E4A-4C5C-9D61-D13216EB6E24}"/>
              </a:ext>
            </a:extLst>
          </p:cNvPr>
          <p:cNvSpPr>
            <a:spLocks xmlns:a="http://schemas.openxmlformats.org/drawingml/2006/main" noGrp="1"/>
          </p:cNvSpPr>
          <p:nvPr/>
        </p:nvSpPr>
        <p:spPr>
          <a:xfrm xmlns:a="http://schemas.openxmlformats.org/drawingml/2006/main">
            <a:off x="78105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19802</a:t>
            </a:r>
          </a:p>
        </p:txBody>
      </p:sp>
      <p:sp>
        <p:nvSpPr>
          <p:cNvPr id="7" name="">
            <a:extLst xmlns:a="http://schemas.openxmlformats.org/drawingml/2006/main">
              <a:ext uri="{FF2B5EF4-FFF2-40B4-BE49-F238E27FC236}">
                <a16:creationId xmlns:a16="http://schemas.microsoft.com/office/drawing/2014/main" id="{03EF014B-DA17-4F91-893B-612B62BEDDD5}"/>
              </a:ext>
            </a:extLst>
          </p:cNvPr>
          <p:cNvSpPr>
            <a:spLocks xmlns:a="http://schemas.openxmlformats.org/drawingml/2006/main" noGrp="1"/>
          </p:cNvSpPr>
          <p:nvPr/>
        </p:nvSpPr>
        <p:spPr>
          <a:xfrm xmlns:a="http://schemas.openxmlformats.org/drawingml/2006/main">
            <a:off x="78105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код гидропоста</a:t>
            </a:r>
          </a:p>
        </p:txBody>
      </p:sp>
      <p:sp>
        <p:nvSpPr>
          <p:cNvPr id="8" name="">
            <a:extLst xmlns:a="http://schemas.openxmlformats.org/drawingml/2006/main">
              <a:ext uri="{FF2B5EF4-FFF2-40B4-BE49-F238E27FC236}">
                <a16:creationId xmlns:a16="http://schemas.microsoft.com/office/drawing/2014/main" id="{6CBDFC39-9F23-422E-B1BF-B0B6D81C4908}"/>
              </a:ext>
            </a:extLst>
          </p:cNvPr>
          <p:cNvSpPr>
            <a:spLocks xmlns:a="http://schemas.openxmlformats.org/drawingml/2006/main" noGrp="1"/>
          </p:cNvSpPr>
          <p:nvPr/>
        </p:nvSpPr>
        <p:spPr>
          <a:xfrm xmlns:a="http://schemas.openxmlformats.org/drawingml/2006/main">
            <a:off x="647700" y="44005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2018, 2019 и 2022 годы</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Уровень в см относительно нуля −30,00 м БС</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Данные за 2020–2021 годы отсутствуют</a:t>
            </a:r>
          </a:p>
        </p:txBody>
      </p:sp>
      <p:sp>
        <p:nvSpPr>
          <p:cNvPr id="9" name="">
            <a:extLst xmlns:a="http://schemas.openxmlformats.org/drawingml/2006/main">
              <a:ext uri="{FF2B5EF4-FFF2-40B4-BE49-F238E27FC236}">
                <a16:creationId xmlns:a16="http://schemas.microsoft.com/office/drawing/2014/main" id="{BC6C50BE-59CF-462E-9CA2-7A410051F5A1}"/>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Казгидромет: ЕДС 2018, 2019, 2022; таблица 1.2, пост 19802.</a:t>
            </a:r>
          </a:p>
        </p:txBody>
      </p:sp>
      <p:sp>
        <p:nvSpPr>
          <p:cNvPr id="10" name="">
            <a:extLst xmlns:a="http://schemas.openxmlformats.org/drawingml/2006/main">
              <a:ext uri="{FF2B5EF4-FFF2-40B4-BE49-F238E27FC236}">
                <a16:creationId xmlns:a16="http://schemas.microsoft.com/office/drawing/2014/main" id="{35370FB2-491F-43BA-BED1-DBD5300DB984}"/>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2 / 15</a:t>
            </a:r>
          </a:p>
        </p:txBody>
      </p:sp>
    </p:spTree>
    <p:extLst>
      <p:ext uri="{BB962C8B-B14F-4D97-AF65-F5344CB8AC3E}">
        <p14:creationId xmlns:p14="http://schemas.microsoft.com/office/powerpoint/2010/main" val="16355100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D56884-F60A-4A93-B731-B4C05EFD84C9}"/>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Два вопроса: полезен ли прогноз и проверяем ли поток</a:t>
            </a:r>
          </a:p>
        </p:txBody>
      </p:sp>
      <p:sp>
        <p:nvSpPr>
          <p:cNvPr id="2" name="">
            <a:extLst xmlns:a="http://schemas.openxmlformats.org/drawingml/2006/main">
              <a:ext uri="{FF2B5EF4-FFF2-40B4-BE49-F238E27FC236}">
                <a16:creationId xmlns:a16="http://schemas.microsoft.com/office/drawing/2014/main" id="{39BA6436-7472-40AC-B65E-1D5BA1D90BF9}"/>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Прогноз</a:t>
            </a:r>
          </a:p>
        </p:txBody>
      </p:sp>
      <p:sp>
        <p:nvSpPr>
          <p:cNvPr id="3" name="">
            <a:extLst xmlns:a="http://schemas.openxmlformats.org/drawingml/2006/main">
              <a:ext uri="{FF2B5EF4-FFF2-40B4-BE49-F238E27FC236}">
                <a16:creationId xmlns:a16="http://schemas.microsoft.com/office/drawing/2014/main" id="{A9102C92-E8DF-4E25-9E7C-1B260694B327}"/>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Следующий календарный день</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Сравнение с последним уровнем</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Главный критерий — MAE</a:t>
            </a:r>
          </a:p>
        </p:txBody>
      </p:sp>
      <p:sp>
        <p:nvSpPr>
          <p:cNvPr id="4" name="">
            <a:extLst xmlns:a="http://schemas.openxmlformats.org/drawingml/2006/main">
              <a:ext uri="{FF2B5EF4-FFF2-40B4-BE49-F238E27FC236}">
                <a16:creationId xmlns:a16="http://schemas.microsoft.com/office/drawing/2014/main" id="{BF88F266-E6C4-480B-B06C-35D18B36E87C}"/>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Контроль наблюдений</a:t>
            </a:r>
          </a:p>
        </p:txBody>
      </p:sp>
      <p:sp>
        <p:nvSpPr>
          <p:cNvPr id="5" name="">
            <a:extLst xmlns:a="http://schemas.openxmlformats.org/drawingml/2006/main">
              <a:ext uri="{FF2B5EF4-FFF2-40B4-BE49-F238E27FC236}">
                <a16:creationId xmlns:a16="http://schemas.microsoft.com/office/drawing/2014/main" id="{E06FC058-B800-4686-BF76-52311BA07F35}"/>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Проверка дат и значений</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Флаги необычных изменений</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Журнал предложенных действий</a:t>
            </a:r>
          </a:p>
        </p:txBody>
      </p:sp>
      <p:sp>
        <p:nvSpPr>
          <p:cNvPr id="6" name="">
            <a:extLst xmlns:a="http://schemas.openxmlformats.org/drawingml/2006/main">
              <a:ext uri="{FF2B5EF4-FFF2-40B4-BE49-F238E27FC236}">
                <a16:creationId xmlns:a16="http://schemas.microsoft.com/office/drawing/2014/main" id="{4D213800-5570-495C-BE41-41A53995EE69}"/>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План EXPERIMENT_PLAN.md; Hyndman и Athanasopoulos, FPP3, §5.8.</a:t>
            </a:r>
          </a:p>
        </p:txBody>
      </p:sp>
      <p:sp>
        <p:nvSpPr>
          <p:cNvPr id="7" name="">
            <a:extLst xmlns:a="http://schemas.openxmlformats.org/drawingml/2006/main">
              <a:ext uri="{FF2B5EF4-FFF2-40B4-BE49-F238E27FC236}">
                <a16:creationId xmlns:a16="http://schemas.microsoft.com/office/drawing/2014/main" id="{8803D88D-F77F-404A-99B0-EF1E9E421598}"/>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3 / 15</a:t>
            </a:r>
          </a:p>
        </p:txBody>
      </p:sp>
    </p:spTree>
    <p:extLst>
      <p:ext uri="{BB962C8B-B14F-4D97-AF65-F5344CB8AC3E}">
        <p14:creationId xmlns:p14="http://schemas.microsoft.com/office/powerpoint/2010/main" val="12599009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BFDCB3-254E-40F1-9CA2-CD34E769BECF}"/>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Извлечение проверено по исходным таблицам</a:t>
            </a:r>
          </a:p>
        </p:txBody>
      </p:sp>
      <p:graphicFrame>
        <p:nvGraphicFramePr>
          <p:cNvPr id="7" name=""/>
          <p:cNvGraphicFramePr/>
          <p:nvPr/>
        </p:nvGraphicFramePr>
        <p:xfrm>
          <a:off xmlns:a="http://schemas.openxmlformats.org/drawingml/2006/main" x="647700" y="1819275"/>
          <a:ext xmlns:a="http://schemas.openxmlformats.org/drawingml/2006/main" cx="10858500" cy="2171700"/>
        </p:xfrm>
        <a:graphic xmlns:a="http://schemas.openxmlformats.org/drawingml/2006/main">
          <a:graphicData uri="http://schemas.openxmlformats.org/drawingml/2006/table">
            <a:tbl>
              <a:tblPr firstRow="1" bandRow="0"/>
              <a:tblGrid>
                <a:gridCol w="3909060"/>
                <a:gridCol w="1737360"/>
                <a:gridCol w="1737360"/>
                <a:gridCol w="1737360"/>
                <a:gridCol w="1737360"/>
              </a:tblGrid>
              <a:tr h="542925">
                <a:tc>
                  <a:txBody>
                    <a:bodyPr/>
                    <a:lstStyle/>
                    <a:p>
                      <a:r>
                        <a:rPr sz="1650" b="1">
                          <a:solidFill>
                            <a:srgbClr val="FFFFFF"/>
                          </a:solidFill>
                          <a:latin typeface="Arial"/>
                          <a:ea typeface="Arial"/>
                          <a:cs typeface="Arial"/>
                        </a:rPr>
                        <a:t>Год</a:t>
                      </a:r>
                    </a:p>
                  </a:txBody>
                  <a:tcPr marL="91440" marR="91440" marT="45720" marB="45720">
                    <a:solidFill>
                      <a:srgbClr val="102B3A"/>
                    </a:solidFill>
                  </a:tcPr>
                </a:tc>
                <a:tc>
                  <a:txBody>
                    <a:bodyPr/>
                    <a:lstStyle/>
                    <a:p>
                      <a:r>
                        <a:rPr sz="1650" b="1">
                          <a:solidFill>
                            <a:srgbClr val="FFFFFF"/>
                          </a:solidFill>
                          <a:latin typeface="Arial"/>
                          <a:ea typeface="Arial"/>
                          <a:cs typeface="Arial"/>
                        </a:rPr>
                        <a:t>Дней</a:t>
                      </a:r>
                    </a:p>
                  </a:txBody>
                  <a:tcPr marL="91440" marR="91440" marT="45720" marB="45720">
                    <a:solidFill>
                      <a:srgbClr val="102B3A"/>
                    </a:solidFill>
                  </a:tcPr>
                </a:tc>
                <a:tc>
                  <a:txBody>
                    <a:bodyPr/>
                    <a:lstStyle/>
                    <a:p>
                      <a:r>
                        <a:rPr sz="1650" b="1">
                          <a:solidFill>
                            <a:srgbClr val="FFFFFF"/>
                          </a:solidFill>
                          <a:latin typeface="Arial"/>
                          <a:ea typeface="Arial"/>
                          <a:cs typeface="Arial"/>
                        </a:rPr>
                        <a:t>Средний, см</a:t>
                      </a:r>
                    </a:p>
                  </a:txBody>
                  <a:tcPr marL="91440" marR="91440" marT="45720" marB="45720">
                    <a:solidFill>
                      <a:srgbClr val="102B3A"/>
                    </a:solidFill>
                  </a:tcPr>
                </a:tc>
                <a:tc>
                  <a:txBody>
                    <a:bodyPr/>
                    <a:lstStyle/>
                    <a:p>
                      <a:r>
                        <a:rPr sz="1650" b="1">
                          <a:solidFill>
                            <a:srgbClr val="FFFFFF"/>
                          </a:solidFill>
                          <a:latin typeface="Arial"/>
                          <a:ea typeface="Arial"/>
                          <a:cs typeface="Arial"/>
                        </a:rPr>
                        <a:t>Мин., см</a:t>
                      </a:r>
                    </a:p>
                  </a:txBody>
                  <a:tcPr marL="91440" marR="91440" marT="45720" marB="45720">
                    <a:solidFill>
                      <a:srgbClr val="102B3A"/>
                    </a:solidFill>
                  </a:tcPr>
                </a:tc>
                <a:tc>
                  <a:txBody>
                    <a:bodyPr/>
                    <a:lstStyle/>
                    <a:p>
                      <a:r>
                        <a:rPr sz="1650" b="1">
                          <a:solidFill>
                            <a:srgbClr val="FFFFFF"/>
                          </a:solidFill>
                          <a:latin typeface="Arial"/>
                          <a:ea typeface="Arial"/>
                          <a:cs typeface="Arial"/>
                        </a:rPr>
                        <a:t>Макс., см</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2018</a:t>
                      </a:r>
                    </a:p>
                  </a:txBody>
                  <a:tcPr marL="91440" marR="91440" marT="45720" marB="45720">
                    <a:solidFill>
                      <a:srgbClr val="F2F6F8"/>
                    </a:solidFill>
                  </a:tcPr>
                </a:tc>
                <a:tc>
                  <a:txBody>
                    <a:bodyPr/>
                    <a:lstStyle/>
                    <a:p>
                      <a:r>
                        <a:rPr sz="1800" b="0">
                          <a:solidFill>
                            <a:srgbClr val="173342"/>
                          </a:solidFill>
                          <a:latin typeface="Arial"/>
                          <a:ea typeface="Arial"/>
                          <a:cs typeface="Arial"/>
                        </a:rPr>
                        <a:t>365</a:t>
                      </a:r>
                    </a:p>
                  </a:txBody>
                  <a:tcPr marL="91440" marR="91440" marT="45720" marB="45720">
                    <a:solidFill>
                      <a:srgbClr val="F2F6F8"/>
                    </a:solidFill>
                  </a:tcPr>
                </a:tc>
                <a:tc>
                  <a:txBody>
                    <a:bodyPr/>
                    <a:lstStyle/>
                    <a:p>
                      <a:r>
                        <a:rPr sz="1800" b="0">
                          <a:solidFill>
                            <a:srgbClr val="173342"/>
                          </a:solidFill>
                          <a:latin typeface="Arial"/>
                          <a:ea typeface="Arial"/>
                          <a:cs typeface="Arial"/>
                        </a:rPr>
                        <a:t>270,50</a:t>
                      </a:r>
                    </a:p>
                  </a:txBody>
                  <a:tcPr marL="91440" marR="91440" marT="45720" marB="45720">
                    <a:solidFill>
                      <a:srgbClr val="F2F6F8"/>
                    </a:solidFill>
                  </a:tcPr>
                </a:tc>
                <a:tc>
                  <a:txBody>
                    <a:bodyPr/>
                    <a:lstStyle/>
                    <a:p>
                      <a:r>
                        <a:rPr sz="1800" b="0">
                          <a:solidFill>
                            <a:srgbClr val="173342"/>
                          </a:solidFill>
                          <a:latin typeface="Arial"/>
                          <a:ea typeface="Arial"/>
                          <a:cs typeface="Arial"/>
                        </a:rPr>
                        <a:t>180</a:t>
                      </a:r>
                    </a:p>
                  </a:txBody>
                  <a:tcPr marL="91440" marR="91440" marT="45720" marB="45720">
                    <a:solidFill>
                      <a:srgbClr val="F2F6F8"/>
                    </a:solidFill>
                  </a:tcPr>
                </a:tc>
                <a:tc>
                  <a:txBody>
                    <a:bodyPr/>
                    <a:lstStyle/>
                    <a:p>
                      <a:r>
                        <a:rPr sz="1800" b="0">
                          <a:solidFill>
                            <a:srgbClr val="173342"/>
                          </a:solidFill>
                          <a:latin typeface="Arial"/>
                          <a:ea typeface="Arial"/>
                          <a:cs typeface="Arial"/>
                        </a:rPr>
                        <a:t>413</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2019</a:t>
                      </a:r>
                    </a:p>
                  </a:txBody>
                  <a:tcPr marL="91440" marR="91440" marT="45720" marB="45720">
                    <a:solidFill>
                      <a:srgbClr val="FFFFFF"/>
                    </a:solidFill>
                  </a:tcPr>
                </a:tc>
                <a:tc>
                  <a:txBody>
                    <a:bodyPr/>
                    <a:lstStyle/>
                    <a:p>
                      <a:r>
                        <a:rPr sz="1800" b="0">
                          <a:solidFill>
                            <a:srgbClr val="173342"/>
                          </a:solidFill>
                          <a:latin typeface="Arial"/>
                          <a:ea typeface="Arial"/>
                          <a:cs typeface="Arial"/>
                        </a:rPr>
                        <a:t>365</a:t>
                      </a:r>
                    </a:p>
                  </a:txBody>
                  <a:tcPr marL="91440" marR="91440" marT="45720" marB="45720">
                    <a:solidFill>
                      <a:srgbClr val="FFFFFF"/>
                    </a:solidFill>
                  </a:tcPr>
                </a:tc>
                <a:tc>
                  <a:txBody>
                    <a:bodyPr/>
                    <a:lstStyle/>
                    <a:p>
                      <a:r>
                        <a:rPr sz="1800" b="0">
                          <a:solidFill>
                            <a:srgbClr val="173342"/>
                          </a:solidFill>
                          <a:latin typeface="Arial"/>
                          <a:ea typeface="Arial"/>
                          <a:cs typeface="Arial"/>
                        </a:rPr>
                        <a:t>241,38</a:t>
                      </a:r>
                    </a:p>
                  </a:txBody>
                  <a:tcPr marL="91440" marR="91440" marT="45720" marB="45720">
                    <a:solidFill>
                      <a:srgbClr val="FFFFFF"/>
                    </a:solidFill>
                  </a:tcPr>
                </a:tc>
                <a:tc>
                  <a:txBody>
                    <a:bodyPr/>
                    <a:lstStyle/>
                    <a:p>
                      <a:r>
                        <a:rPr sz="1800" b="0">
                          <a:solidFill>
                            <a:srgbClr val="173342"/>
                          </a:solidFill>
                          <a:latin typeface="Arial"/>
                          <a:ea typeface="Arial"/>
                          <a:cs typeface="Arial"/>
                        </a:rPr>
                        <a:t>153</a:t>
                      </a:r>
                    </a:p>
                  </a:txBody>
                  <a:tcPr marL="91440" marR="91440" marT="45720" marB="45720">
                    <a:solidFill>
                      <a:srgbClr val="FFFFFF"/>
                    </a:solidFill>
                  </a:tcPr>
                </a:tc>
                <a:tc>
                  <a:txBody>
                    <a:bodyPr/>
                    <a:lstStyle/>
                    <a:p>
                      <a:r>
                        <a:rPr sz="1800" b="0">
                          <a:solidFill>
                            <a:srgbClr val="173342"/>
                          </a:solidFill>
                          <a:latin typeface="Arial"/>
                          <a:ea typeface="Arial"/>
                          <a:cs typeface="Arial"/>
                        </a:rPr>
                        <a:t>324</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2022</a:t>
                      </a:r>
                    </a:p>
                  </a:txBody>
                  <a:tcPr marL="91440" marR="91440" marT="45720" marB="45720">
                    <a:solidFill>
                      <a:srgbClr val="F2F6F8"/>
                    </a:solidFill>
                  </a:tcPr>
                </a:tc>
                <a:tc>
                  <a:txBody>
                    <a:bodyPr/>
                    <a:lstStyle/>
                    <a:p>
                      <a:r>
                        <a:rPr sz="1800" b="0">
                          <a:solidFill>
                            <a:srgbClr val="173342"/>
                          </a:solidFill>
                          <a:latin typeface="Arial"/>
                          <a:ea typeface="Arial"/>
                          <a:cs typeface="Arial"/>
                        </a:rPr>
                        <a:t>365</a:t>
                      </a:r>
                    </a:p>
                  </a:txBody>
                  <a:tcPr marL="91440" marR="91440" marT="45720" marB="45720">
                    <a:solidFill>
                      <a:srgbClr val="F2F6F8"/>
                    </a:solidFill>
                  </a:tcPr>
                </a:tc>
                <a:tc>
                  <a:txBody>
                    <a:bodyPr/>
                    <a:lstStyle/>
                    <a:p>
                      <a:r>
                        <a:rPr sz="1800" b="0">
                          <a:solidFill>
                            <a:srgbClr val="173342"/>
                          </a:solidFill>
                          <a:latin typeface="Arial"/>
                          <a:ea typeface="Arial"/>
                          <a:cs typeface="Arial"/>
                        </a:rPr>
                        <a:t>219,91</a:t>
                      </a:r>
                    </a:p>
                  </a:txBody>
                  <a:tcPr marL="91440" marR="91440" marT="45720" marB="45720">
                    <a:solidFill>
                      <a:srgbClr val="F2F6F8"/>
                    </a:solidFill>
                  </a:tcPr>
                </a:tc>
                <a:tc>
                  <a:txBody>
                    <a:bodyPr/>
                    <a:lstStyle/>
                    <a:p>
                      <a:r>
                        <a:rPr sz="1800" b="0">
                          <a:solidFill>
                            <a:srgbClr val="173342"/>
                          </a:solidFill>
                          <a:latin typeface="Arial"/>
                          <a:ea typeface="Arial"/>
                          <a:cs typeface="Arial"/>
                        </a:rPr>
                        <a:t>144</a:t>
                      </a:r>
                    </a:p>
                  </a:txBody>
                  <a:tcPr marL="91440" marR="91440" marT="45720" marB="45720">
                    <a:solidFill>
                      <a:srgbClr val="F2F6F8"/>
                    </a:solidFill>
                  </a:tcPr>
                </a:tc>
                <a:tc>
                  <a:txBody>
                    <a:bodyPr/>
                    <a:lstStyle/>
                    <a:p>
                      <a:r>
                        <a:rPr sz="1800" b="0">
                          <a:solidFill>
                            <a:srgbClr val="173342"/>
                          </a:solidFill>
                          <a:latin typeface="Arial"/>
                          <a:ea typeface="Arial"/>
                          <a:cs typeface="Arial"/>
                        </a:rPr>
                        <a:t>375</a:t>
                      </a:r>
                    </a:p>
                  </a:txBody>
                  <a:tcPr marL="91440" marR="91440" marT="45720" marB="45720">
                    <a:solidFill>
                      <a:srgbClr val="F2F6F8"/>
                    </a:solidFill>
                  </a:tcPr>
                </a:tc>
              </a:tr>
            </a:tbl>
          </a:graphicData>
        </a:graphic>
      </p:graphicFrame>
      <p:sp>
        <p:nvSpPr>
          <p:cNvPr id="3" name="">
            <a:extLst xmlns:a="http://schemas.openxmlformats.org/drawingml/2006/main">
              <a:ext uri="{FF2B5EF4-FFF2-40B4-BE49-F238E27FC236}">
                <a16:creationId xmlns:a16="http://schemas.microsoft.com/office/drawing/2014/main" id="{9B160AFE-6977-4AD7-B3A5-F67FAE937499}"/>
              </a:ext>
            </a:extLst>
          </p:cNvPr>
          <p:cNvSpPr>
            <a:spLocks xmlns:a="http://schemas.openxmlformats.org/drawingml/2006/main" noGrp="1"/>
          </p:cNvSpPr>
          <p:nvPr/>
        </p:nvSpPr>
        <p:spPr>
          <a:xfrm xmlns:a="http://schemas.openxmlformats.org/drawingml/2006/main">
            <a:off x="647700" y="4143375"/>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36 месячных сверок; расхождение ≤ 0,5 см. Пики сохранены.</a:t>
            </a:r>
          </a:p>
        </p:txBody>
      </p:sp>
      <p:sp>
        <p:nvSpPr>
          <p:cNvPr id="4" name="">
            <a:extLst xmlns:a="http://schemas.openxmlformats.org/drawingml/2006/main">
              <a:ext uri="{FF2B5EF4-FFF2-40B4-BE49-F238E27FC236}">
                <a16:creationId xmlns:a16="http://schemas.microsoft.com/office/drawing/2014/main" id="{A2B8A6C0-9700-4E18-95A1-D6E621B1A6A6}"/>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Казгидромет: PDF с. 35 / 35 / 37; results/annual_summary.csv.</a:t>
            </a:r>
          </a:p>
        </p:txBody>
      </p:sp>
      <p:sp>
        <p:nvSpPr>
          <p:cNvPr id="5" name="">
            <a:extLst xmlns:a="http://schemas.openxmlformats.org/drawingml/2006/main">
              <a:ext uri="{FF2B5EF4-FFF2-40B4-BE49-F238E27FC236}">
                <a16:creationId xmlns:a16="http://schemas.microsoft.com/office/drawing/2014/main" id="{72FEF407-7BD0-46FE-9470-BCBC295CAE0B}"/>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4 / 15</a:t>
            </a:r>
          </a:p>
        </p:txBody>
      </p:sp>
    </p:spTree>
    <p:extLst>
      <p:ext uri="{BB962C8B-B14F-4D97-AF65-F5344CB8AC3E}">
        <p14:creationId xmlns:p14="http://schemas.microsoft.com/office/powerpoint/2010/main" val="45468246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4D80A8-B65E-4102-87BE-5C2031168390}"/>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Сезонный рисунок различается между годами</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ec4028fa2d94c49"/>
          <a:stretch xmlns:a="http://schemas.openxmlformats.org/drawingml/2006/main"/>
        </p:blipFill>
        <p:spPr>
          <a:xfrm xmlns:a="http://schemas.openxmlformats.org/drawingml/2006/main">
            <a:off x="504825" y="1852254"/>
            <a:ext cx="7791450" cy="39250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7BBB530-C526-4BE6-80DF-58407A0C4CC3}"/>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Весенний подъём различается по высоте и форме</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Три выбранных года не доказывают климатический тренд</a:t>
            </a:r>
          </a:p>
        </p:txBody>
      </p:sp>
      <p:sp>
        <p:nvSpPr>
          <p:cNvPr id="4" name="">
            <a:extLst xmlns:a="http://schemas.openxmlformats.org/drawingml/2006/main">
              <a:ext uri="{FF2B5EF4-FFF2-40B4-BE49-F238E27FC236}">
                <a16:creationId xmlns:a16="http://schemas.microsoft.com/office/drawing/2014/main" id="{4E9BCD47-B162-431E-BCF5-DD3238C48602}"/>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Месячные средние из 1095 наблюдений; results/monthly_means.csv.</a:t>
            </a:r>
          </a:p>
        </p:txBody>
      </p:sp>
      <p:sp>
        <p:nvSpPr>
          <p:cNvPr id="5" name="">
            <a:extLst xmlns:a="http://schemas.openxmlformats.org/drawingml/2006/main">
              <a:ext uri="{FF2B5EF4-FFF2-40B4-BE49-F238E27FC236}">
                <a16:creationId xmlns:a16="http://schemas.microsoft.com/office/drawing/2014/main" id="{EB10807E-9C28-4171-A080-09316B4A1490}"/>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5 / 15</a:t>
            </a:r>
          </a:p>
        </p:txBody>
      </p:sp>
    </p:spTree>
    <p:extLst>
      <p:ext uri="{BB962C8B-B14F-4D97-AF65-F5344CB8AC3E}">
        <p14:creationId xmlns:p14="http://schemas.microsoft.com/office/powerpoint/2010/main" val="9849294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4416DCA-54CF-43B6-964D-B2674BC1F5D7}"/>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Будущее отделено от обучения по календарю</a:t>
            </a:r>
          </a:p>
        </p:txBody>
      </p:sp>
      <p:graphicFrame>
        <p:nvGraphicFramePr>
          <p:cNvPr id="7" name=""/>
          <p:cNvGraphicFramePr/>
          <p:nvPr/>
        </p:nvGraphicFramePr>
        <p:xfrm>
          <a:off xmlns:a="http://schemas.openxmlformats.org/drawingml/2006/main" x="647700" y="1819275"/>
          <a:ext xmlns:a="http://schemas.openxmlformats.org/drawingml/2006/main" cx="10858500" cy="2171700"/>
        </p:xfrm>
        <a:graphic xmlns:a="http://schemas.openxmlformats.org/drawingml/2006/main">
          <a:graphicData uri="http://schemas.openxmlformats.org/drawingml/2006/table">
            <a:tbl>
              <a:tblPr firstRow="1" bandRow="0"/>
              <a:tblGrid>
                <a:gridCol w="3909060"/>
                <a:gridCol w="2316480"/>
                <a:gridCol w="2316480"/>
                <a:gridCol w="2316480"/>
              </a:tblGrid>
              <a:tr h="542925">
                <a:tc>
                  <a:txBody>
                    <a:bodyPr/>
                    <a:lstStyle/>
                    <a:p>
                      <a:r>
                        <a:rPr sz="1650" b="1">
                          <a:solidFill>
                            <a:srgbClr val="FFFFFF"/>
                          </a:solidFill>
                          <a:latin typeface="Arial"/>
                          <a:ea typeface="Arial"/>
                          <a:cs typeface="Arial"/>
                        </a:rPr>
                        <a:t>Этап</a:t>
                      </a:r>
                    </a:p>
                  </a:txBody>
                  <a:tcPr marL="91440" marR="91440" marT="45720" marB="45720">
                    <a:solidFill>
                      <a:srgbClr val="102B3A"/>
                    </a:solidFill>
                  </a:tcPr>
                </a:tc>
                <a:tc>
                  <a:txBody>
                    <a:bodyPr/>
                    <a:lstStyle/>
                    <a:p>
                      <a:r>
                        <a:rPr sz="1650" b="1">
                          <a:solidFill>
                            <a:srgbClr val="FFFFFF"/>
                          </a:solidFill>
                          <a:latin typeface="Arial"/>
                          <a:ea typeface="Arial"/>
                          <a:cs typeface="Arial"/>
                        </a:rPr>
                        <a:t>Год</a:t>
                      </a:r>
                    </a:p>
                  </a:txBody>
                  <a:tcPr marL="91440" marR="91440" marT="45720" marB="45720">
                    <a:solidFill>
                      <a:srgbClr val="102B3A"/>
                    </a:solidFill>
                  </a:tcPr>
                </a:tc>
                <a:tc>
                  <a:txBody>
                    <a:bodyPr/>
                    <a:lstStyle/>
                    <a:p>
                      <a:r>
                        <a:rPr sz="1650" b="1">
                          <a:solidFill>
                            <a:srgbClr val="FFFFFF"/>
                          </a:solidFill>
                          <a:latin typeface="Arial"/>
                          <a:ea typeface="Arial"/>
                          <a:cs typeface="Arial"/>
                        </a:rPr>
                        <a:t>Целей</a:t>
                      </a:r>
                    </a:p>
                  </a:txBody>
                  <a:tcPr marL="91440" marR="91440" marT="45720" marB="45720">
                    <a:solidFill>
                      <a:srgbClr val="102B3A"/>
                    </a:solidFill>
                  </a:tcPr>
                </a:tc>
                <a:tc>
                  <a:txBody>
                    <a:bodyPr/>
                    <a:lstStyle/>
                    <a:p>
                      <a:r>
                        <a:rPr sz="1650" b="1">
                          <a:solidFill>
                            <a:srgbClr val="FFFFFF"/>
                          </a:solidFill>
                          <a:latin typeface="Arial"/>
                          <a:ea typeface="Arial"/>
                          <a:cs typeface="Arial"/>
                        </a:rPr>
                        <a:t>Первая цель</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Обучение</a:t>
                      </a:r>
                    </a:p>
                  </a:txBody>
                  <a:tcPr marL="91440" marR="91440" marT="45720" marB="45720">
                    <a:solidFill>
                      <a:srgbClr val="F2F6F8"/>
                    </a:solidFill>
                  </a:tcPr>
                </a:tc>
                <a:tc>
                  <a:txBody>
                    <a:bodyPr/>
                    <a:lstStyle/>
                    <a:p>
                      <a:r>
                        <a:rPr sz="1800" b="0">
                          <a:solidFill>
                            <a:srgbClr val="173342"/>
                          </a:solidFill>
                          <a:latin typeface="Arial"/>
                          <a:ea typeface="Arial"/>
                          <a:cs typeface="Arial"/>
                        </a:rPr>
                        <a:t>2018</a:t>
                      </a:r>
                    </a:p>
                  </a:txBody>
                  <a:tcPr marL="91440" marR="91440" marT="45720" marB="45720">
                    <a:solidFill>
                      <a:srgbClr val="F2F6F8"/>
                    </a:solidFill>
                  </a:tcPr>
                </a:tc>
                <a:tc>
                  <a:txBody>
                    <a:bodyPr/>
                    <a:lstStyle/>
                    <a:p>
                      <a:r>
                        <a:rPr sz="1800" b="0">
                          <a:solidFill>
                            <a:srgbClr val="173342"/>
                          </a:solidFill>
                          <a:latin typeface="Arial"/>
                          <a:ea typeface="Arial"/>
                          <a:cs typeface="Arial"/>
                        </a:rPr>
                        <a:t>358</a:t>
                      </a:r>
                    </a:p>
                  </a:txBody>
                  <a:tcPr marL="91440" marR="91440" marT="45720" marB="45720">
                    <a:solidFill>
                      <a:srgbClr val="F2F6F8"/>
                    </a:solidFill>
                  </a:tcPr>
                </a:tc>
                <a:tc>
                  <a:txBody>
                    <a:bodyPr/>
                    <a:lstStyle/>
                    <a:p>
                      <a:r>
                        <a:rPr sz="1800" b="0">
                          <a:solidFill>
                            <a:srgbClr val="173342"/>
                          </a:solidFill>
                          <a:latin typeface="Arial"/>
                          <a:ea typeface="Arial"/>
                          <a:cs typeface="Arial"/>
                        </a:rPr>
                        <a:t>2018-01-08</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Выбор модели</a:t>
                      </a:r>
                    </a:p>
                  </a:txBody>
                  <a:tcPr marL="91440" marR="91440" marT="45720" marB="45720">
                    <a:solidFill>
                      <a:srgbClr val="FFFFFF"/>
                    </a:solidFill>
                  </a:tcPr>
                </a:tc>
                <a:tc>
                  <a:txBody>
                    <a:bodyPr/>
                    <a:lstStyle/>
                    <a:p>
                      <a:r>
                        <a:rPr sz="1800" b="0">
                          <a:solidFill>
                            <a:srgbClr val="173342"/>
                          </a:solidFill>
                          <a:latin typeface="Arial"/>
                          <a:ea typeface="Arial"/>
                          <a:cs typeface="Arial"/>
                        </a:rPr>
                        <a:t>2019</a:t>
                      </a:r>
                    </a:p>
                  </a:txBody>
                  <a:tcPr marL="91440" marR="91440" marT="45720" marB="45720">
                    <a:solidFill>
                      <a:srgbClr val="FFFFFF"/>
                    </a:solidFill>
                  </a:tcPr>
                </a:tc>
                <a:tc>
                  <a:txBody>
                    <a:bodyPr/>
                    <a:lstStyle/>
                    <a:p>
                      <a:r>
                        <a:rPr sz="1800" b="0">
                          <a:solidFill>
                            <a:srgbClr val="173342"/>
                          </a:solidFill>
                          <a:latin typeface="Arial"/>
                          <a:ea typeface="Arial"/>
                          <a:cs typeface="Arial"/>
                        </a:rPr>
                        <a:t>365</a:t>
                      </a:r>
                    </a:p>
                  </a:txBody>
                  <a:tcPr marL="91440" marR="91440" marT="45720" marB="45720">
                    <a:solidFill>
                      <a:srgbClr val="FFFFFF"/>
                    </a:solidFill>
                  </a:tcPr>
                </a:tc>
                <a:tc>
                  <a:txBody>
                    <a:bodyPr/>
                    <a:lstStyle/>
                    <a:p>
                      <a:r>
                        <a:rPr sz="1800" b="0">
                          <a:solidFill>
                            <a:srgbClr val="173342"/>
                          </a:solidFill>
                          <a:latin typeface="Arial"/>
                          <a:ea typeface="Arial"/>
                          <a:cs typeface="Arial"/>
                        </a:rPr>
                        <a:t>2019-01-01</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Итоговая оценка</a:t>
                      </a:r>
                    </a:p>
                  </a:txBody>
                  <a:tcPr marL="91440" marR="91440" marT="45720" marB="45720">
                    <a:solidFill>
                      <a:srgbClr val="F2F6F8"/>
                    </a:solidFill>
                  </a:tcPr>
                </a:tc>
                <a:tc>
                  <a:txBody>
                    <a:bodyPr/>
                    <a:lstStyle/>
                    <a:p>
                      <a:r>
                        <a:rPr sz="1800" b="0">
                          <a:solidFill>
                            <a:srgbClr val="173342"/>
                          </a:solidFill>
                          <a:latin typeface="Arial"/>
                          <a:ea typeface="Arial"/>
                          <a:cs typeface="Arial"/>
                        </a:rPr>
                        <a:t>2022</a:t>
                      </a:r>
                    </a:p>
                  </a:txBody>
                  <a:tcPr marL="91440" marR="91440" marT="45720" marB="45720">
                    <a:solidFill>
                      <a:srgbClr val="F2F6F8"/>
                    </a:solidFill>
                  </a:tcPr>
                </a:tc>
                <a:tc>
                  <a:txBody>
                    <a:bodyPr/>
                    <a:lstStyle/>
                    <a:p>
                      <a:r>
                        <a:rPr sz="1800" b="0">
                          <a:solidFill>
                            <a:srgbClr val="173342"/>
                          </a:solidFill>
                          <a:latin typeface="Arial"/>
                          <a:ea typeface="Arial"/>
                          <a:cs typeface="Arial"/>
                        </a:rPr>
                        <a:t>358</a:t>
                      </a:r>
                    </a:p>
                  </a:txBody>
                  <a:tcPr marL="91440" marR="91440" marT="45720" marB="45720">
                    <a:solidFill>
                      <a:srgbClr val="F2F6F8"/>
                    </a:solidFill>
                  </a:tcPr>
                </a:tc>
                <a:tc>
                  <a:txBody>
                    <a:bodyPr/>
                    <a:lstStyle/>
                    <a:p>
                      <a:r>
                        <a:rPr sz="1800" b="0">
                          <a:solidFill>
                            <a:srgbClr val="173342"/>
                          </a:solidFill>
                          <a:latin typeface="Arial"/>
                          <a:ea typeface="Arial"/>
                          <a:cs typeface="Arial"/>
                        </a:rPr>
                        <a:t>2022-01-08</a:t>
                      </a:r>
                    </a:p>
                  </a:txBody>
                  <a:tcPr marL="91440" marR="91440" marT="45720" marB="45720">
                    <a:solidFill>
                      <a:srgbClr val="F2F6F8"/>
                    </a:solidFill>
                  </a:tcPr>
                </a:tc>
              </a:tr>
            </a:tbl>
          </a:graphicData>
        </a:graphic>
      </p:graphicFrame>
      <p:sp>
        <p:nvSpPr>
          <p:cNvPr id="3" name="">
            <a:extLst xmlns:a="http://schemas.openxmlformats.org/drawingml/2006/main">
              <a:ext uri="{FF2B5EF4-FFF2-40B4-BE49-F238E27FC236}">
                <a16:creationId xmlns:a16="http://schemas.microsoft.com/office/drawing/2014/main" id="{ADEC4850-489D-4C0E-8786-DA4E01267048}"/>
              </a:ext>
            </a:extLst>
          </p:cNvPr>
          <p:cNvSpPr>
            <a:spLocks xmlns:a="http://schemas.openxmlformats.org/drawingml/2006/main" noGrp="1"/>
          </p:cNvSpPr>
          <p:nvPr/>
        </p:nvSpPr>
        <p:spPr>
          <a:xfrm xmlns:a="http://schemas.openxmlformats.org/drawingml/2006/main">
            <a:off x="647700" y="4143375"/>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Лаги строятся внутри непрерывных отрезков. Разрыв 2020–2021 не пересекается.</a:t>
            </a:r>
          </a:p>
        </p:txBody>
      </p:sp>
      <p:sp>
        <p:nvSpPr>
          <p:cNvPr id="4" name="">
            <a:extLst xmlns:a="http://schemas.openxmlformats.org/drawingml/2006/main">
              <a:ext uri="{FF2B5EF4-FFF2-40B4-BE49-F238E27FC236}">
                <a16:creationId xmlns:a16="http://schemas.microsoft.com/office/drawing/2014/main" id="{A7960864-EC14-418C-8A2E-A788493F3DD4}"/>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Зафиксированный план; models/metadata.json; results/split_manifest.csv.</a:t>
            </a:r>
          </a:p>
        </p:txBody>
      </p:sp>
      <p:sp>
        <p:nvSpPr>
          <p:cNvPr id="5" name="">
            <a:extLst xmlns:a="http://schemas.openxmlformats.org/drawingml/2006/main">
              <a:ext uri="{FF2B5EF4-FFF2-40B4-BE49-F238E27FC236}">
                <a16:creationId xmlns:a16="http://schemas.microsoft.com/office/drawing/2014/main" id="{5910C479-7991-43B2-8CB8-411375A5AB4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6 / 15</a:t>
            </a:r>
          </a:p>
        </p:txBody>
      </p:sp>
    </p:spTree>
    <p:extLst>
      <p:ext uri="{BB962C8B-B14F-4D97-AF65-F5344CB8AC3E}">
        <p14:creationId xmlns:p14="http://schemas.microsoft.com/office/powerpoint/2010/main" val="11196612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1C473D-3802-4081-A622-AFA16C45C917}"/>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Модель использует только уже известные уровни</a:t>
            </a:r>
          </a:p>
        </p:txBody>
      </p:sp>
      <p:sp>
        <p:nvSpPr>
          <p:cNvPr id="2" name="">
            <a:extLst xmlns:a="http://schemas.openxmlformats.org/drawingml/2006/main">
              <a:ext uri="{FF2B5EF4-FFF2-40B4-BE49-F238E27FC236}">
                <a16:creationId xmlns:a16="http://schemas.microsoft.com/office/drawing/2014/main" id="{C66334C2-FB91-4349-A11F-38A037F3A852}"/>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Девять признаков</a:t>
            </a:r>
          </a:p>
        </p:txBody>
      </p:sp>
      <p:sp>
        <p:nvSpPr>
          <p:cNvPr id="3" name="">
            <a:extLst xmlns:a="http://schemas.openxmlformats.org/drawingml/2006/main">
              <a:ext uri="{FF2B5EF4-FFF2-40B4-BE49-F238E27FC236}">
                <a16:creationId xmlns:a16="http://schemas.microsoft.com/office/drawing/2014/main" id="{C7AB5EC7-A582-43BC-8C02-167FD7270AE3}"/>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Последний уровень и три изменения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Отклонения от средних за 3 и 7 дней</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Среднее изменение; календарные sin/cos</a:t>
            </a:r>
          </a:p>
        </p:txBody>
      </p:sp>
      <p:sp>
        <p:nvSpPr>
          <p:cNvPr id="4" name="">
            <a:extLst xmlns:a="http://schemas.openxmlformats.org/drawingml/2006/main">
              <a:ext uri="{FF2B5EF4-FFF2-40B4-BE49-F238E27FC236}">
                <a16:creationId xmlns:a16="http://schemas.microsoft.com/office/drawing/2014/main" id="{7FF4714C-6BC9-4FA5-9253-5ABFB5BC8AE8}"/>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Что предсказывается</a:t>
            </a:r>
          </a:p>
        </p:txBody>
      </p:sp>
      <p:sp>
        <p:nvSpPr>
          <p:cNvPr id="5" name="">
            <a:extLst xmlns:a="http://schemas.openxmlformats.org/drawingml/2006/main">
              <a:ext uri="{FF2B5EF4-FFF2-40B4-BE49-F238E27FC236}">
                <a16:creationId xmlns:a16="http://schemas.microsoft.com/office/drawing/2014/main" id="{3E9612B0-2775-44FC-9CD7-07EFA9900E33}"/>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Изменение уровня следующего дня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Прогноз изменения + последний уровень</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Никакой фактической будущей погоды</a:t>
            </a:r>
          </a:p>
        </p:txBody>
      </p:sp>
      <p:sp>
        <p:nvSpPr>
          <p:cNvPr id="6" name="">
            <a:extLst xmlns:a="http://schemas.openxmlformats.org/drawingml/2006/main">
              <a:ext uri="{FF2B5EF4-FFF2-40B4-BE49-F238E27FC236}">
                <a16:creationId xmlns:a16="http://schemas.microsoft.com/office/drawing/2014/main" id="{6B0B032C-BEF0-429C-8134-D80ADDDF3E30}"/>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code/pipeline.py: make_features; data_dictionary.csv.</a:t>
            </a:r>
          </a:p>
        </p:txBody>
      </p:sp>
      <p:sp>
        <p:nvSpPr>
          <p:cNvPr id="7" name="">
            <a:extLst xmlns:a="http://schemas.openxmlformats.org/drawingml/2006/main">
              <a:ext uri="{FF2B5EF4-FFF2-40B4-BE49-F238E27FC236}">
                <a16:creationId xmlns:a16="http://schemas.microsoft.com/office/drawing/2014/main" id="{7ECBECC0-10F1-4946-BF89-3287B3869A11}"/>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7 / 15</a:t>
            </a:r>
          </a:p>
        </p:txBody>
      </p:sp>
    </p:spTree>
    <p:extLst>
      <p:ext uri="{BB962C8B-B14F-4D97-AF65-F5344CB8AC3E}">
        <p14:creationId xmlns:p14="http://schemas.microsoft.com/office/powerpoint/2010/main" val="92834499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767B89-A89E-491B-B78B-642260834CA0}"/>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Валидация выбрала Ridge до просмотра test</a:t>
            </a:r>
          </a:p>
        </p:txBody>
      </p:sp>
      <p:graphicFrame>
        <p:nvGraphicFramePr>
          <p:cNvPr id="7" name=""/>
          <p:cNvGraphicFramePr/>
          <p:nvPr/>
        </p:nvGraphicFramePr>
        <p:xfrm>
          <a:off xmlns:a="http://schemas.openxmlformats.org/drawingml/2006/main" x="647700" y="1819275"/>
          <a:ext xmlns:a="http://schemas.openxmlformats.org/drawingml/2006/main" cx="10858500" cy="2714625"/>
        </p:xfrm>
        <a:graphic xmlns:a="http://schemas.openxmlformats.org/drawingml/2006/main">
          <a:graphicData uri="http://schemas.openxmlformats.org/drawingml/2006/table">
            <a:tbl>
              <a:tblPr firstRow="1" bandRow="0"/>
              <a:tblGrid>
                <a:gridCol w="3909060"/>
                <a:gridCol w="3474720"/>
                <a:gridCol w="3474720"/>
              </a:tblGrid>
              <a:tr h="542925">
                <a:tc>
                  <a:txBody>
                    <a:bodyPr/>
                    <a:lstStyle/>
                    <a:p>
                      <a:r>
                        <a:rPr sz="1650" b="1">
                          <a:solidFill>
                            <a:srgbClr val="FFFFFF"/>
                          </a:solidFill>
                          <a:latin typeface="Arial"/>
                          <a:ea typeface="Arial"/>
                          <a:cs typeface="Arial"/>
                        </a:rPr>
                        <a:t>Метод</a:t>
                      </a:r>
                    </a:p>
                  </a:txBody>
                  <a:tcPr marL="91440" marR="91440" marT="45720" marB="45720">
                    <a:solidFill>
                      <a:srgbClr val="102B3A"/>
                    </a:solidFill>
                  </a:tcPr>
                </a:tc>
                <a:tc>
                  <a:txBody>
                    <a:bodyPr/>
                    <a:lstStyle/>
                    <a:p>
                      <a:r>
                        <a:rPr sz="1650" b="1">
                          <a:solidFill>
                            <a:srgbClr val="FFFFFF"/>
                          </a:solidFill>
                          <a:latin typeface="Arial"/>
                          <a:ea typeface="Arial"/>
                          <a:cs typeface="Arial"/>
                        </a:rPr>
                        <a:t>Настройка</a:t>
                      </a:r>
                    </a:p>
                  </a:txBody>
                  <a:tcPr marL="91440" marR="91440" marT="45720" marB="45720">
                    <a:solidFill>
                      <a:srgbClr val="102B3A"/>
                    </a:solidFill>
                  </a:tcPr>
                </a:tc>
                <a:tc>
                  <a:txBody>
                    <a:bodyPr/>
                    <a:lstStyle/>
                    <a:p>
                      <a:r>
                        <a:rPr sz="1650" b="1">
                          <a:solidFill>
                            <a:srgbClr val="FFFFFF"/>
                          </a:solidFill>
                          <a:latin typeface="Arial"/>
                          <a:ea typeface="Arial"/>
                          <a:cs typeface="Arial"/>
                        </a:rPr>
                        <a:t>MAE 2019, см</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Последний уровень</a:t>
                      </a:r>
                    </a:p>
                  </a:txBody>
                  <a:tcPr marL="91440" marR="91440" marT="45720" marB="45720">
                    <a:solidFill>
                      <a:srgbClr val="F2F6F8"/>
                    </a:solidFill>
                  </a:tcPr>
                </a:tc>
                <a:tc>
                  <a:txBody>
                    <a:bodyPr/>
                    <a:lstStyle/>
                    <a:p>
                      <a:r>
                        <a:rPr sz="1800" b="0">
                          <a:solidFill>
                            <a:srgbClr val="173342"/>
                          </a:solidFill>
                          <a:latin typeface="Arial"/>
                          <a:ea typeface="Arial"/>
                          <a:cs typeface="Arial"/>
                        </a:rPr>
                        <a:t>Без обучения</a:t>
                      </a:r>
                    </a:p>
                  </a:txBody>
                  <a:tcPr marL="91440" marR="91440" marT="45720" marB="45720">
                    <a:solidFill>
                      <a:srgbClr val="F2F6F8"/>
                    </a:solidFill>
                  </a:tcPr>
                </a:tc>
                <a:tc>
                  <a:txBody>
                    <a:bodyPr/>
                    <a:lstStyle/>
                    <a:p>
                      <a:r>
                        <a:rPr sz="1800" b="0">
                          <a:solidFill>
                            <a:srgbClr val="173342"/>
                          </a:solidFill>
                          <a:latin typeface="Arial"/>
                          <a:ea typeface="Arial"/>
                          <a:cs typeface="Arial"/>
                        </a:rPr>
                        <a:t>7,107</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Продолжение изменения</a:t>
                      </a:r>
                    </a:p>
                  </a:txBody>
                  <a:tcPr marL="91440" marR="91440" marT="45720" marB="45720">
                    <a:solidFill>
                      <a:srgbClr val="FFFFFF"/>
                    </a:solidFill>
                  </a:tcPr>
                </a:tc>
                <a:tc>
                  <a:txBody>
                    <a:bodyPr/>
                    <a:lstStyle/>
                    <a:p>
                      <a:r>
                        <a:rPr sz="1800" b="0">
                          <a:solidFill>
                            <a:srgbClr val="173342"/>
                          </a:solidFill>
                          <a:latin typeface="Arial"/>
                          <a:ea typeface="Arial"/>
                          <a:cs typeface="Arial"/>
                        </a:rPr>
                        <a:t>Без обучения</a:t>
                      </a:r>
                    </a:p>
                  </a:txBody>
                  <a:tcPr marL="91440" marR="91440" marT="45720" marB="45720">
                    <a:solidFill>
                      <a:srgbClr val="FFFFFF"/>
                    </a:solidFill>
                  </a:tcPr>
                </a:tc>
                <a:tc>
                  <a:txBody>
                    <a:bodyPr/>
                    <a:lstStyle/>
                    <a:p>
                      <a:r>
                        <a:rPr sz="1800" b="0">
                          <a:solidFill>
                            <a:srgbClr val="173342"/>
                          </a:solidFill>
                          <a:latin typeface="Arial"/>
                          <a:ea typeface="Arial"/>
                          <a:cs typeface="Arial"/>
                        </a:rPr>
                        <a:t>8,562</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Ridge</a:t>
                      </a:r>
                    </a:p>
                  </a:txBody>
                  <a:tcPr marL="91440" marR="91440" marT="45720" marB="45720">
                    <a:solidFill>
                      <a:srgbClr val="F2F6F8"/>
                    </a:solidFill>
                  </a:tcPr>
                </a:tc>
                <a:tc>
                  <a:txBody>
                    <a:bodyPr/>
                    <a:lstStyle/>
                    <a:p>
                      <a:r>
                        <a:rPr sz="1800" b="0">
                          <a:solidFill>
                            <a:srgbClr val="173342"/>
                          </a:solidFill>
                          <a:latin typeface="Arial"/>
                          <a:ea typeface="Arial"/>
                          <a:cs typeface="Arial"/>
                        </a:rPr>
                        <a:t>α = 100</a:t>
                      </a:r>
                    </a:p>
                  </a:txBody>
                  <a:tcPr marL="91440" marR="91440" marT="45720" marB="45720">
                    <a:solidFill>
                      <a:srgbClr val="F2F6F8"/>
                    </a:solidFill>
                  </a:tcPr>
                </a:tc>
                <a:tc>
                  <a:txBody>
                    <a:bodyPr/>
                    <a:lstStyle/>
                    <a:p>
                      <a:r>
                        <a:rPr sz="1800" b="0">
                          <a:solidFill>
                            <a:srgbClr val="173342"/>
                          </a:solidFill>
                          <a:latin typeface="Arial"/>
                          <a:ea typeface="Arial"/>
                          <a:cs typeface="Arial"/>
                        </a:rPr>
                        <a:t>6,596</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Random Forest</a:t>
                      </a:r>
                    </a:p>
                  </a:txBody>
                  <a:tcPr marL="91440" marR="91440" marT="45720" marB="45720">
                    <a:solidFill>
                      <a:srgbClr val="FFFFFF"/>
                    </a:solidFill>
                  </a:tcPr>
                </a:tc>
                <a:tc>
                  <a:txBody>
                    <a:bodyPr/>
                    <a:lstStyle/>
                    <a:p>
                      <a:r>
                        <a:rPr sz="1800" b="0">
                          <a:solidFill>
                            <a:srgbClr val="173342"/>
                          </a:solidFill>
                          <a:latin typeface="Arial"/>
                          <a:ea typeface="Arial"/>
                          <a:cs typeface="Arial"/>
                        </a:rPr>
                        <a:t>Лист ≥ 3</a:t>
                      </a:r>
                    </a:p>
                  </a:txBody>
                  <a:tcPr marL="91440" marR="91440" marT="45720" marB="45720">
                    <a:solidFill>
                      <a:srgbClr val="FFFFFF"/>
                    </a:solidFill>
                  </a:tcPr>
                </a:tc>
                <a:tc>
                  <a:txBody>
                    <a:bodyPr/>
                    <a:lstStyle/>
                    <a:p>
                      <a:r>
                        <a:rPr sz="1800" b="0">
                          <a:solidFill>
                            <a:srgbClr val="173342"/>
                          </a:solidFill>
                          <a:latin typeface="Arial"/>
                          <a:ea typeface="Arial"/>
                          <a:cs typeface="Arial"/>
                        </a:rPr>
                        <a:t>6,680</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CC0192E-1B8B-49C5-AB45-E36C8638BA4D}"/>
              </a:ext>
            </a:extLst>
          </p:cNvPr>
          <p:cNvSpPr>
            <a:spLocks xmlns:a="http://schemas.openxmlformats.org/drawingml/2006/main" noGrp="1"/>
          </p:cNvSpPr>
          <p:nvPr/>
        </p:nvSpPr>
        <p:spPr>
          <a:xfrm xmlns:a="http://schemas.openxmlformats.org/drawingml/2006/main">
            <a:off x="647700" y="46863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6 обучений кандидатов → выбор параметров → 2 финальных переобучения.</a:t>
            </a:r>
          </a:p>
        </p:txBody>
      </p:sp>
      <p:sp>
        <p:nvSpPr>
          <p:cNvPr id="4" name="">
            <a:extLst xmlns:a="http://schemas.openxmlformats.org/drawingml/2006/main">
              <a:ext uri="{FF2B5EF4-FFF2-40B4-BE49-F238E27FC236}">
                <a16:creationId xmlns:a16="http://schemas.microsoft.com/office/drawing/2014/main" id="{192F0E2D-8882-43C3-AFA5-BA04EB504187}"/>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results/validation_search.csv; scikit-learn: Ridge, RandomForestRegressor.</a:t>
            </a:r>
          </a:p>
        </p:txBody>
      </p:sp>
      <p:sp>
        <p:nvSpPr>
          <p:cNvPr id="5" name="">
            <a:extLst xmlns:a="http://schemas.openxmlformats.org/drawingml/2006/main">
              <a:ext uri="{FF2B5EF4-FFF2-40B4-BE49-F238E27FC236}">
                <a16:creationId xmlns:a16="http://schemas.microsoft.com/office/drawing/2014/main" id="{9F26F975-EA2D-4BA5-8C9F-513667980142}"/>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8 / 15</a:t>
            </a:r>
          </a:p>
        </p:txBody>
      </p:sp>
    </p:spTree>
    <p:extLst>
      <p:ext uri="{BB962C8B-B14F-4D97-AF65-F5344CB8AC3E}">
        <p14:creationId xmlns:p14="http://schemas.microsoft.com/office/powerpoint/2010/main" val="8554476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4F94DB4-85B4-4D60-9093-CDAC06BE0901}"/>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На test модель не превзошла последний уровень</a:t>
            </a:r>
          </a:p>
        </p:txBody>
      </p:sp>
      <p:graphicFrame>
        <p:nvGraphicFramePr>
          <p:cNvPr id="7" name="Chart"/>
          <p:cNvGraphicFramePr/>
          <p:nvPr/>
        </p:nvGraphicFramePr>
        <p:xfrm>
          <a:off xmlns:a="http://schemas.openxmlformats.org/drawingml/2006/main" x="552450" y="1762125"/>
          <a:ext xmlns:a="http://schemas.openxmlformats.org/drawingml/2006/main" cx="7543800" cy="3962400"/>
        </p:xfrm>
        <a:graphic xmlns:a="http://schemas.openxmlformats.org/drawingml/2006/main">
          <a:graphicData uri="http://schemas.openxmlformats.org/drawingml/2006/chart">
            <c:chart xmlns:r="http://schemas.openxmlformats.org/officeDocument/2006/relationships" xmlns:c="http://schemas.openxmlformats.org/drawingml/2006/chart" r:id="R38af57637c474777"/>
          </a:graphicData>
        </a:graphic>
      </p:graphicFrame>
      <p:sp>
        <p:nvSpPr>
          <p:cNvPr id="3" name="">
            <a:extLst xmlns:a="http://schemas.openxmlformats.org/drawingml/2006/main">
              <a:ext uri="{FF2B5EF4-FFF2-40B4-BE49-F238E27FC236}">
                <a16:creationId xmlns:a16="http://schemas.microsoft.com/office/drawing/2014/main" id="{A4042174-83C3-4DFC-9EE4-AC3F652289B6}"/>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Ridge: 7,039 см; baseline: 6,966 см</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Разница: +0,072 см; все 358 целей одинаковы</a:t>
            </a:r>
          </a:p>
        </p:txBody>
      </p:sp>
      <p:sp>
        <p:nvSpPr>
          <p:cNvPr id="4" name="">
            <a:extLst xmlns:a="http://schemas.openxmlformats.org/drawingml/2006/main">
              <a:ext uri="{FF2B5EF4-FFF2-40B4-BE49-F238E27FC236}">
                <a16:creationId xmlns:a16="http://schemas.microsoft.com/office/drawing/2014/main" id="{4DA8FD53-E7C7-4D9B-BD2A-1DCD2A0AD50D}"/>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Расчёт по локальному архиву: results/metrics.csv; критерий выбора — MAE.</a:t>
            </a:r>
          </a:p>
        </p:txBody>
      </p:sp>
      <p:sp>
        <p:nvSpPr>
          <p:cNvPr id="5" name="">
            <a:extLst xmlns:a="http://schemas.openxmlformats.org/drawingml/2006/main">
              <a:ext uri="{FF2B5EF4-FFF2-40B4-BE49-F238E27FC236}">
                <a16:creationId xmlns:a16="http://schemas.microsoft.com/office/drawing/2014/main" id="{AFD987C6-A315-41AF-B689-FF1A0120847F}"/>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9 / 15</a:t>
            </a:r>
          </a:p>
        </p:txBody>
      </p:sp>
    </p:spTree>
    <p:extLst>
      <p:ext uri="{BB962C8B-B14F-4D97-AF65-F5344CB8AC3E}">
        <p14:creationId xmlns:p14="http://schemas.microsoft.com/office/powerpoint/2010/main" val="8171137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50C193F-6506-4B52-A453-AB61CAB305FD}"/>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Крупнейший промах связан с резким изменением</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039d696edd247da"/>
          <a:stretch xmlns:a="http://schemas.openxmlformats.org/drawingml/2006/main"/>
        </p:blipFill>
        <p:spPr>
          <a:xfrm xmlns:a="http://schemas.openxmlformats.org/drawingml/2006/main">
            <a:off x="1456111" y="1762125"/>
            <a:ext cx="5888877" cy="41052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1B0908-A918-444C-AAB5-BC0A42951896}"/>
              </a:ext>
            </a:extLst>
          </p:cNvPr>
          <p:cNvSpPr>
            <a:spLocks xmlns:a="http://schemas.openxmlformats.org/drawingml/2006/main" noGrp="1"/>
          </p:cNvSpPr>
          <p:nvPr/>
        </p:nvSpPr>
        <p:spPr>
          <a:xfrm xmlns:a="http://schemas.openxmlformats.org/drawingml/2006/main">
            <a:off x="8696325" y="1876425"/>
            <a:ext cx="2943225"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2022-03-05: ошибка 81,69 см</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Уровень за сутки: 158 → 242 см</a:t>
            </a:r>
          </a:p>
          <a:p xmlns:a="http://schemas.openxmlformats.org/drawingml/2006/main">
            <a:r>
              <a:t/>
            </a:r>
          </a:p>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Исходная запись проверена и сохранена</a:t>
            </a:r>
          </a:p>
        </p:txBody>
      </p:sp>
      <p:sp>
        <p:nvSpPr>
          <p:cNvPr id="4" name="">
            <a:extLst xmlns:a="http://schemas.openxmlformats.org/drawingml/2006/main">
              <a:ext uri="{FF2B5EF4-FFF2-40B4-BE49-F238E27FC236}">
                <a16:creationId xmlns:a16="http://schemas.microsoft.com/office/drawing/2014/main" id="{FA5D51AC-5997-4292-BA27-DA745DA21DC7}"/>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ЕДС 2022, PDF с. 37; results/largest_errors.csv.</a:t>
            </a:r>
          </a:p>
        </p:txBody>
      </p:sp>
      <p:sp>
        <p:nvSpPr>
          <p:cNvPr id="5" name="">
            <a:extLst xmlns:a="http://schemas.openxmlformats.org/drawingml/2006/main">
              <a:ext uri="{FF2B5EF4-FFF2-40B4-BE49-F238E27FC236}">
                <a16:creationId xmlns:a16="http://schemas.microsoft.com/office/drawing/2014/main" id="{E8159A7E-7EF6-4EB4-97EE-9CD4424029C0}"/>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10 / 15</a:t>
            </a:r>
          </a:p>
        </p:txBody>
      </p:sp>
    </p:spTree>
    <p:extLst>
      <p:ext uri="{BB962C8B-B14F-4D97-AF65-F5344CB8AC3E}">
        <p14:creationId xmlns:p14="http://schemas.microsoft.com/office/powerpoint/2010/main" val="2821721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944FF15-BEAC-4839-9063-2695FEA1D8AC}"/>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Весной средняя ошибка выше, чем летом</a:t>
            </a:r>
          </a:p>
        </p:txBody>
      </p:sp>
      <p:graphicFrame>
        <p:nvGraphicFramePr>
          <p:cNvPr id="7" name=""/>
          <p:cNvGraphicFramePr/>
          <p:nvPr/>
        </p:nvGraphicFramePr>
        <p:xfrm>
          <a:off xmlns:a="http://schemas.openxmlformats.org/drawingml/2006/main" x="647700" y="1819275"/>
          <a:ext xmlns:a="http://schemas.openxmlformats.org/drawingml/2006/main" cx="10858500" cy="2714625"/>
        </p:xfrm>
        <a:graphic xmlns:a="http://schemas.openxmlformats.org/drawingml/2006/main">
          <a:graphicData uri="http://schemas.openxmlformats.org/drawingml/2006/table">
            <a:tbl>
              <a:tblPr firstRow="1" bandRow="0"/>
              <a:tblGrid>
                <a:gridCol w="3909060"/>
                <a:gridCol w="2316480"/>
                <a:gridCol w="2316480"/>
                <a:gridCol w="2316480"/>
              </a:tblGrid>
              <a:tr h="542925">
                <a:tc>
                  <a:txBody>
                    <a:bodyPr/>
                    <a:lstStyle/>
                    <a:p>
                      <a:r>
                        <a:rPr sz="1650" b="1">
                          <a:solidFill>
                            <a:srgbClr val="FFFFFF"/>
                          </a:solidFill>
                          <a:latin typeface="Arial"/>
                          <a:ea typeface="Arial"/>
                          <a:cs typeface="Arial"/>
                        </a:rPr>
                        <a:t>Сезон</a:t>
                      </a:r>
                    </a:p>
                  </a:txBody>
                  <a:tcPr marL="91440" marR="91440" marT="45720" marB="45720">
                    <a:solidFill>
                      <a:srgbClr val="102B3A"/>
                    </a:solidFill>
                  </a:tcPr>
                </a:tc>
                <a:tc>
                  <a:txBody>
                    <a:bodyPr/>
                    <a:lstStyle/>
                    <a:p>
                      <a:r>
                        <a:rPr sz="1650" b="1">
                          <a:solidFill>
                            <a:srgbClr val="FFFFFF"/>
                          </a:solidFill>
                          <a:latin typeface="Arial"/>
                          <a:ea typeface="Arial"/>
                          <a:cs typeface="Arial"/>
                        </a:rPr>
                        <a:t>Дней</a:t>
                      </a:r>
                    </a:p>
                  </a:txBody>
                  <a:tcPr marL="91440" marR="91440" marT="45720" marB="45720">
                    <a:solidFill>
                      <a:srgbClr val="102B3A"/>
                    </a:solidFill>
                  </a:tcPr>
                </a:tc>
                <a:tc>
                  <a:txBody>
                    <a:bodyPr/>
                    <a:lstStyle/>
                    <a:p>
                      <a:r>
                        <a:rPr sz="1650" b="1">
                          <a:solidFill>
                            <a:srgbClr val="FFFFFF"/>
                          </a:solidFill>
                          <a:latin typeface="Arial"/>
                          <a:ea typeface="Arial"/>
                          <a:cs typeface="Arial"/>
                        </a:rPr>
                        <a:t>Baseline MAE, см</a:t>
                      </a:r>
                    </a:p>
                  </a:txBody>
                  <a:tcPr marL="91440" marR="91440" marT="45720" marB="45720">
                    <a:solidFill>
                      <a:srgbClr val="102B3A"/>
                    </a:solidFill>
                  </a:tcPr>
                </a:tc>
                <a:tc>
                  <a:txBody>
                    <a:bodyPr/>
                    <a:lstStyle/>
                    <a:p>
                      <a:r>
                        <a:rPr sz="1650" b="1">
                          <a:solidFill>
                            <a:srgbClr val="FFFFFF"/>
                          </a:solidFill>
                          <a:latin typeface="Arial"/>
                          <a:ea typeface="Arial"/>
                          <a:cs typeface="Arial"/>
                        </a:rPr>
                        <a:t>Ridge MAE, см</a:t>
                      </a:r>
                    </a:p>
                  </a:txBody>
                  <a:tcPr marL="91440" marR="91440" marT="45720" marB="45720">
                    <a:solidFill>
                      <a:srgbClr val="102B3A"/>
                    </a:solidFill>
                  </a:tcPr>
                </a:tc>
              </a:tr>
              <a:tr h="542925">
                <a:tc>
                  <a:txBody>
                    <a:bodyPr/>
                    <a:lstStyle/>
                    <a:p>
                      <a:r>
                        <a:rPr sz="1800" b="0">
                          <a:solidFill>
                            <a:srgbClr val="173342"/>
                          </a:solidFill>
                          <a:latin typeface="Arial"/>
                          <a:ea typeface="Arial"/>
                          <a:cs typeface="Arial"/>
                        </a:rPr>
                        <a:t>Зима</a:t>
                      </a:r>
                    </a:p>
                  </a:txBody>
                  <a:tcPr marL="91440" marR="91440" marT="45720" marB="45720">
                    <a:solidFill>
                      <a:srgbClr val="F2F6F8"/>
                    </a:solidFill>
                  </a:tcPr>
                </a:tc>
                <a:tc>
                  <a:txBody>
                    <a:bodyPr/>
                    <a:lstStyle/>
                    <a:p>
                      <a:r>
                        <a:rPr sz="1800" b="0">
                          <a:solidFill>
                            <a:srgbClr val="173342"/>
                          </a:solidFill>
                          <a:latin typeface="Arial"/>
                          <a:ea typeface="Arial"/>
                          <a:cs typeface="Arial"/>
                        </a:rPr>
                        <a:t>83</a:t>
                      </a:r>
                    </a:p>
                  </a:txBody>
                  <a:tcPr marL="91440" marR="91440" marT="45720" marB="45720">
                    <a:solidFill>
                      <a:srgbClr val="F2F6F8"/>
                    </a:solidFill>
                  </a:tcPr>
                </a:tc>
                <a:tc>
                  <a:txBody>
                    <a:bodyPr/>
                    <a:lstStyle/>
                    <a:p>
                      <a:r>
                        <a:rPr sz="1800" b="0">
                          <a:solidFill>
                            <a:srgbClr val="173342"/>
                          </a:solidFill>
                          <a:latin typeface="Arial"/>
                          <a:ea typeface="Arial"/>
                          <a:cs typeface="Arial"/>
                        </a:rPr>
                        <a:t>4,133</a:t>
                      </a:r>
                    </a:p>
                  </a:txBody>
                  <a:tcPr marL="91440" marR="91440" marT="45720" marB="45720">
                    <a:solidFill>
                      <a:srgbClr val="F2F6F8"/>
                    </a:solidFill>
                  </a:tcPr>
                </a:tc>
                <a:tc>
                  <a:txBody>
                    <a:bodyPr/>
                    <a:lstStyle/>
                    <a:p>
                      <a:r>
                        <a:rPr sz="1800" b="0">
                          <a:solidFill>
                            <a:srgbClr val="173342"/>
                          </a:solidFill>
                          <a:latin typeface="Arial"/>
                          <a:ea typeface="Arial"/>
                          <a:cs typeface="Arial"/>
                        </a:rPr>
                        <a:t>4,569</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Весна</a:t>
                      </a:r>
                    </a:p>
                  </a:txBody>
                  <a:tcPr marL="91440" marR="91440" marT="45720" marB="45720">
                    <a:solidFill>
                      <a:srgbClr val="FFFFFF"/>
                    </a:solidFill>
                  </a:tcPr>
                </a:tc>
                <a:tc>
                  <a:txBody>
                    <a:bodyPr/>
                    <a:lstStyle/>
                    <a:p>
                      <a:r>
                        <a:rPr sz="1800" b="0">
                          <a:solidFill>
                            <a:srgbClr val="173342"/>
                          </a:solidFill>
                          <a:latin typeface="Arial"/>
                          <a:ea typeface="Arial"/>
                          <a:cs typeface="Arial"/>
                        </a:rPr>
                        <a:t>92</a:t>
                      </a:r>
                    </a:p>
                  </a:txBody>
                  <a:tcPr marL="91440" marR="91440" marT="45720" marB="45720">
                    <a:solidFill>
                      <a:srgbClr val="FFFFFF"/>
                    </a:solidFill>
                  </a:tcPr>
                </a:tc>
                <a:tc>
                  <a:txBody>
                    <a:bodyPr/>
                    <a:lstStyle/>
                    <a:p>
                      <a:r>
                        <a:rPr sz="1800" b="0">
                          <a:solidFill>
                            <a:srgbClr val="173342"/>
                          </a:solidFill>
                          <a:latin typeface="Arial"/>
                          <a:ea typeface="Arial"/>
                          <a:cs typeface="Arial"/>
                        </a:rPr>
                        <a:t>10,587</a:t>
                      </a:r>
                    </a:p>
                  </a:txBody>
                  <a:tcPr marL="91440" marR="91440" marT="45720" marB="45720">
                    <a:solidFill>
                      <a:srgbClr val="FFFFFF"/>
                    </a:solidFill>
                  </a:tcPr>
                </a:tc>
                <a:tc>
                  <a:txBody>
                    <a:bodyPr/>
                    <a:lstStyle/>
                    <a:p>
                      <a:r>
                        <a:rPr sz="1800" b="0">
                          <a:solidFill>
                            <a:srgbClr val="173342"/>
                          </a:solidFill>
                          <a:latin typeface="Arial"/>
                          <a:ea typeface="Arial"/>
                          <a:cs typeface="Arial"/>
                        </a:rPr>
                        <a:t>10,658</a:t>
                      </a:r>
                    </a:p>
                  </a:txBody>
                  <a:tcPr marL="91440" marR="91440" marT="45720" marB="45720">
                    <a:solidFill>
                      <a:srgbClr val="FFFFFF"/>
                    </a:solidFill>
                  </a:tcPr>
                </a:tc>
              </a:tr>
              <a:tr h="542925">
                <a:tc>
                  <a:txBody>
                    <a:bodyPr/>
                    <a:lstStyle/>
                    <a:p>
                      <a:r>
                        <a:rPr sz="1800" b="0">
                          <a:solidFill>
                            <a:srgbClr val="173342"/>
                          </a:solidFill>
                          <a:latin typeface="Arial"/>
                          <a:ea typeface="Arial"/>
                          <a:cs typeface="Arial"/>
                        </a:rPr>
                        <a:t>Лето</a:t>
                      </a:r>
                    </a:p>
                  </a:txBody>
                  <a:tcPr marL="91440" marR="91440" marT="45720" marB="45720">
                    <a:solidFill>
                      <a:srgbClr val="F2F6F8"/>
                    </a:solidFill>
                  </a:tcPr>
                </a:tc>
                <a:tc>
                  <a:txBody>
                    <a:bodyPr/>
                    <a:lstStyle/>
                    <a:p>
                      <a:r>
                        <a:rPr sz="1800" b="0">
                          <a:solidFill>
                            <a:srgbClr val="173342"/>
                          </a:solidFill>
                          <a:latin typeface="Arial"/>
                          <a:ea typeface="Arial"/>
                          <a:cs typeface="Arial"/>
                        </a:rPr>
                        <a:t>92</a:t>
                      </a:r>
                    </a:p>
                  </a:txBody>
                  <a:tcPr marL="91440" marR="91440" marT="45720" marB="45720">
                    <a:solidFill>
                      <a:srgbClr val="F2F6F8"/>
                    </a:solidFill>
                  </a:tcPr>
                </a:tc>
                <a:tc>
                  <a:txBody>
                    <a:bodyPr/>
                    <a:lstStyle/>
                    <a:p>
                      <a:r>
                        <a:rPr sz="1800" b="0">
                          <a:solidFill>
                            <a:srgbClr val="173342"/>
                          </a:solidFill>
                          <a:latin typeface="Arial"/>
                          <a:ea typeface="Arial"/>
                          <a:cs typeface="Arial"/>
                        </a:rPr>
                        <a:t>4,750</a:t>
                      </a:r>
                    </a:p>
                  </a:txBody>
                  <a:tcPr marL="91440" marR="91440" marT="45720" marB="45720">
                    <a:solidFill>
                      <a:srgbClr val="F2F6F8"/>
                    </a:solidFill>
                  </a:tcPr>
                </a:tc>
                <a:tc>
                  <a:txBody>
                    <a:bodyPr/>
                    <a:lstStyle/>
                    <a:p>
                      <a:r>
                        <a:rPr sz="1800" b="0">
                          <a:solidFill>
                            <a:srgbClr val="173342"/>
                          </a:solidFill>
                          <a:latin typeface="Arial"/>
                          <a:ea typeface="Arial"/>
                          <a:cs typeface="Arial"/>
                        </a:rPr>
                        <a:t>4,584</a:t>
                      </a:r>
                    </a:p>
                  </a:txBody>
                  <a:tcPr marL="91440" marR="91440" marT="45720" marB="45720">
                    <a:solidFill>
                      <a:srgbClr val="F2F6F8"/>
                    </a:solidFill>
                  </a:tcPr>
                </a:tc>
              </a:tr>
              <a:tr h="542925">
                <a:tc>
                  <a:txBody>
                    <a:bodyPr/>
                    <a:lstStyle/>
                    <a:p>
                      <a:r>
                        <a:rPr sz="1800" b="0">
                          <a:solidFill>
                            <a:srgbClr val="173342"/>
                          </a:solidFill>
                          <a:latin typeface="Arial"/>
                          <a:ea typeface="Arial"/>
                          <a:cs typeface="Arial"/>
                        </a:rPr>
                        <a:t>Осень</a:t>
                      </a:r>
                    </a:p>
                  </a:txBody>
                  <a:tcPr marL="91440" marR="91440" marT="45720" marB="45720">
                    <a:solidFill>
                      <a:srgbClr val="FFFFFF"/>
                    </a:solidFill>
                  </a:tcPr>
                </a:tc>
                <a:tc>
                  <a:txBody>
                    <a:bodyPr/>
                    <a:lstStyle/>
                    <a:p>
                      <a:r>
                        <a:rPr sz="1800" b="0">
                          <a:solidFill>
                            <a:srgbClr val="173342"/>
                          </a:solidFill>
                          <a:latin typeface="Arial"/>
                          <a:ea typeface="Arial"/>
                          <a:cs typeface="Arial"/>
                        </a:rPr>
                        <a:t>91</a:t>
                      </a:r>
                    </a:p>
                  </a:txBody>
                  <a:tcPr marL="91440" marR="91440" marT="45720" marB="45720">
                    <a:solidFill>
                      <a:srgbClr val="FFFFFF"/>
                    </a:solidFill>
                  </a:tcPr>
                </a:tc>
                <a:tc>
                  <a:txBody>
                    <a:bodyPr/>
                    <a:lstStyle/>
                    <a:p>
                      <a:r>
                        <a:rPr sz="1800" b="0">
                          <a:solidFill>
                            <a:srgbClr val="173342"/>
                          </a:solidFill>
                          <a:latin typeface="Arial"/>
                          <a:ea typeface="Arial"/>
                          <a:cs typeface="Arial"/>
                        </a:rPr>
                        <a:t>8,132</a:t>
                      </a:r>
                    </a:p>
                  </a:txBody>
                  <a:tcPr marL="91440" marR="91440" marT="45720" marB="45720">
                    <a:solidFill>
                      <a:srgbClr val="FFFFFF"/>
                    </a:solidFill>
                  </a:tcPr>
                </a:tc>
                <a:tc>
                  <a:txBody>
                    <a:bodyPr/>
                    <a:lstStyle/>
                    <a:p>
                      <a:r>
                        <a:rPr sz="1800" b="0">
                          <a:solidFill>
                            <a:srgbClr val="173342"/>
                          </a:solidFill>
                          <a:latin typeface="Arial"/>
                          <a:ea typeface="Arial"/>
                          <a:cs typeface="Arial"/>
                        </a:rPr>
                        <a:t>8,114</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87FA924-A20C-4FD2-8924-71801AFFBB0B}"/>
              </a:ext>
            </a:extLst>
          </p:cNvPr>
          <p:cNvSpPr>
            <a:spLocks xmlns:a="http://schemas.openxmlformats.org/drawingml/2006/main" noGrp="1"/>
          </p:cNvSpPr>
          <p:nvPr/>
        </p:nvSpPr>
        <p:spPr>
          <a:xfrm xmlns:a="http://schemas.openxmlformats.org/drawingml/2006/main">
            <a:off x="647700" y="4686300"/>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Сезонный разбор объясняет ошибки; модель после него не перенастраивалась.</a:t>
            </a:r>
          </a:p>
        </p:txBody>
      </p:sp>
      <p:sp>
        <p:nvSpPr>
          <p:cNvPr id="4" name="">
            <a:extLst xmlns:a="http://schemas.openxmlformats.org/drawingml/2006/main">
              <a:ext uri="{FF2B5EF4-FFF2-40B4-BE49-F238E27FC236}">
                <a16:creationId xmlns:a16="http://schemas.microsoft.com/office/drawing/2014/main" id="{EF6BBA20-D386-478C-B74D-531316569974}"/>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results/seasonal_metrics.csv; фиксированный test 2022 года.</a:t>
            </a:r>
          </a:p>
        </p:txBody>
      </p:sp>
      <p:sp>
        <p:nvSpPr>
          <p:cNvPr id="5" name="">
            <a:extLst xmlns:a="http://schemas.openxmlformats.org/drawingml/2006/main">
              <a:ext uri="{FF2B5EF4-FFF2-40B4-BE49-F238E27FC236}">
                <a16:creationId xmlns:a16="http://schemas.microsoft.com/office/drawing/2014/main" id="{6EE19087-2DD6-40C0-BA35-43439AC04F9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11 / 15</a:t>
            </a:r>
          </a:p>
        </p:txBody>
      </p:sp>
    </p:spTree>
    <p:extLst>
      <p:ext uri="{BB962C8B-B14F-4D97-AF65-F5344CB8AC3E}">
        <p14:creationId xmlns:p14="http://schemas.microsoft.com/office/powerpoint/2010/main" val="9182656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11CCDC2-E55F-44C5-A0F9-14EA9465F863}"/>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Replay создаёт журнал, а не аварийную тревогу</a:t>
            </a:r>
          </a:p>
        </p:txBody>
      </p:sp>
      <p:sp>
        <p:nvSpPr>
          <p:cNvPr id="2" name="">
            <a:extLst xmlns:a="http://schemas.openxmlformats.org/drawingml/2006/main">
              <a:ext uri="{FF2B5EF4-FFF2-40B4-BE49-F238E27FC236}">
                <a16:creationId xmlns:a16="http://schemas.microsoft.com/office/drawing/2014/main" id="{9CADD3F3-9350-4D4B-8212-95626541E4AA}"/>
              </a:ext>
            </a:extLst>
          </p:cNvPr>
          <p:cNvSpPr>
            <a:spLocks xmlns:a="http://schemas.openxmlformats.org/drawingml/2006/main" noGrp="1"/>
          </p:cNvSpPr>
          <p:nvPr/>
        </p:nvSpPr>
        <p:spPr>
          <a:xfrm xmlns:a="http://schemas.openxmlformats.org/drawingml/2006/main">
            <a:off x="6477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365</a:t>
            </a:r>
          </a:p>
        </p:txBody>
      </p:sp>
      <p:sp>
        <p:nvSpPr>
          <p:cNvPr id="3" name="">
            <a:extLst xmlns:a="http://schemas.openxmlformats.org/drawingml/2006/main">
              <a:ext uri="{FF2B5EF4-FFF2-40B4-BE49-F238E27FC236}">
                <a16:creationId xmlns:a16="http://schemas.microsoft.com/office/drawing/2014/main" id="{D49A7273-7BE6-4F0E-B19D-92BF397227A3}"/>
              </a:ext>
            </a:extLst>
          </p:cNvPr>
          <p:cNvSpPr>
            <a:spLocks xmlns:a="http://schemas.openxmlformats.org/drawingml/2006/main" noGrp="1"/>
          </p:cNvSpPr>
          <p:nvPr/>
        </p:nvSpPr>
        <p:spPr>
          <a:xfrm xmlns:a="http://schemas.openxmlformats.org/drawingml/2006/main">
            <a:off x="6477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последовательных записей</a:t>
            </a:r>
          </a:p>
        </p:txBody>
      </p:sp>
      <p:sp>
        <p:nvSpPr>
          <p:cNvPr id="4" name="">
            <a:extLst xmlns:a="http://schemas.openxmlformats.org/drawingml/2006/main">
              <a:ext uri="{FF2B5EF4-FFF2-40B4-BE49-F238E27FC236}">
                <a16:creationId xmlns:a16="http://schemas.microsoft.com/office/drawing/2014/main" id="{AF2BA6EC-E091-48A8-8F7A-C0CFFDCA9C35}"/>
              </a:ext>
            </a:extLst>
          </p:cNvPr>
          <p:cNvSpPr>
            <a:spLocks xmlns:a="http://schemas.openxmlformats.org/drawingml/2006/main" noGrp="1"/>
          </p:cNvSpPr>
          <p:nvPr/>
        </p:nvSpPr>
        <p:spPr>
          <a:xfrm xmlns:a="http://schemas.openxmlformats.org/drawingml/2006/main">
            <a:off x="42291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359</a:t>
            </a:r>
          </a:p>
        </p:txBody>
      </p:sp>
      <p:sp>
        <p:nvSpPr>
          <p:cNvPr id="5" name="">
            <a:extLst xmlns:a="http://schemas.openxmlformats.org/drawingml/2006/main">
              <a:ext uri="{FF2B5EF4-FFF2-40B4-BE49-F238E27FC236}">
                <a16:creationId xmlns:a16="http://schemas.microsoft.com/office/drawing/2014/main" id="{94DF84DB-B886-422E-8764-B90A6EF6D2B3}"/>
              </a:ext>
            </a:extLst>
          </p:cNvPr>
          <p:cNvSpPr>
            <a:spLocks xmlns:a="http://schemas.openxmlformats.org/drawingml/2006/main" noGrp="1"/>
          </p:cNvSpPr>
          <p:nvPr/>
        </p:nvSpPr>
        <p:spPr>
          <a:xfrm xmlns:a="http://schemas.openxmlformats.org/drawingml/2006/main">
            <a:off x="42291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прогнозов следующего дня</a:t>
            </a:r>
          </a:p>
        </p:txBody>
      </p:sp>
      <p:sp>
        <p:nvSpPr>
          <p:cNvPr id="6" name="">
            <a:extLst xmlns:a="http://schemas.openxmlformats.org/drawingml/2006/main">
              <a:ext uri="{FF2B5EF4-FFF2-40B4-BE49-F238E27FC236}">
                <a16:creationId xmlns:a16="http://schemas.microsoft.com/office/drawing/2014/main" id="{F20798FF-3D27-493B-8149-A117A258EBC2}"/>
              </a:ext>
            </a:extLst>
          </p:cNvPr>
          <p:cNvSpPr>
            <a:spLocks xmlns:a="http://schemas.openxmlformats.org/drawingml/2006/main" noGrp="1"/>
          </p:cNvSpPr>
          <p:nvPr/>
        </p:nvSpPr>
        <p:spPr>
          <a:xfrm xmlns:a="http://schemas.openxmlformats.org/drawingml/2006/main">
            <a:off x="7810500" y="1952625"/>
            <a:ext cx="33147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400" b="1">
                <a:solidFill>
                  <a:srgbClr val="28775A"/>
                </a:solidFill>
                <a:latin typeface="Arial"/>
                <a:ea typeface="Arial"/>
                <a:cs typeface="Arial"/>
              </a:defRPr>
            </a:pPr>
            <a:r>
              <a:rPr sz="5400" b="1">
                <a:solidFill>
                  <a:srgbClr val="28775A"/>
                </a:solidFill>
                <a:latin typeface="Arial"/>
                <a:ea typeface="Arial"/>
                <a:cs typeface="Arial"/>
              </a:rPr>
              <a:t>8</a:t>
            </a:r>
          </a:p>
        </p:txBody>
      </p:sp>
      <p:sp>
        <p:nvSpPr>
          <p:cNvPr id="7" name="">
            <a:extLst xmlns:a="http://schemas.openxmlformats.org/drawingml/2006/main">
              <a:ext uri="{FF2B5EF4-FFF2-40B4-BE49-F238E27FC236}">
                <a16:creationId xmlns:a16="http://schemas.microsoft.com/office/drawing/2014/main" id="{EC5C73E9-C69E-402D-9405-D4F4AF1ACA8B}"/>
              </a:ext>
            </a:extLst>
          </p:cNvPr>
          <p:cNvSpPr>
            <a:spLocks xmlns:a="http://schemas.openxmlformats.org/drawingml/2006/main" noGrp="1"/>
          </p:cNvSpPr>
          <p:nvPr/>
        </p:nvSpPr>
        <p:spPr>
          <a:xfrm xmlns:a="http://schemas.openxmlformats.org/drawingml/2006/main">
            <a:off x="7810500" y="3038475"/>
            <a:ext cx="33147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73342"/>
                </a:solidFill>
                <a:latin typeface="Arial"/>
                <a:ea typeface="Arial"/>
                <a:cs typeface="Arial"/>
              </a:defRPr>
            </a:pPr>
            <a:r>
              <a:rPr sz="1875" b="0">
                <a:solidFill>
                  <a:srgbClr val="173342"/>
                </a:solidFill>
                <a:latin typeface="Arial"/>
                <a:ea typeface="Arial"/>
                <a:cs typeface="Arial"/>
              </a:rPr>
              <a:t>записей для проверки</a:t>
            </a:r>
          </a:p>
        </p:txBody>
      </p:sp>
      <p:sp>
        <p:nvSpPr>
          <p:cNvPr id="8" name="">
            <a:extLst xmlns:a="http://schemas.openxmlformats.org/drawingml/2006/main">
              <a:ext uri="{FF2B5EF4-FFF2-40B4-BE49-F238E27FC236}">
                <a16:creationId xmlns:a16="http://schemas.microsoft.com/office/drawing/2014/main" id="{45D48828-52D3-40EB-9598-79EEAF396D2D}"/>
              </a:ext>
            </a:extLst>
          </p:cNvPr>
          <p:cNvSpPr>
            <a:spLocks xmlns:a="http://schemas.openxmlformats.org/drawingml/2006/main" noGrp="1"/>
          </p:cNvSpPr>
          <p:nvPr/>
        </p:nvSpPr>
        <p:spPr>
          <a:xfrm xmlns:a="http://schemas.openxmlformats.org/drawingml/2006/main">
            <a:off x="647700" y="44005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Флаг при |ΔH| &gt; 31 см; порог получен только из 2018–2019</a:t>
            </a:r>
          </a:p>
          <a:p xmlns:a="http://schemas.openxmlformats.org/drawingml/2006/main">
            <a:pPr>
              <a:defRPr sz="1875" b="0">
                <a:solidFill>
                  <a:srgbClr val="516471"/>
                </a:solidFill>
                <a:latin typeface="Arial"/>
                <a:ea typeface="Arial"/>
                <a:cs typeface="Arial"/>
              </a:defRPr>
            </a:pPr>
            <a:r>
              <a:rPr sz="1875" b="0">
                <a:solidFill>
                  <a:srgbClr val="516471"/>
                </a:solidFill>
                <a:latin typeface="Arial"/>
                <a:ea typeface="Arial"/>
                <a:cs typeface="Arial"/>
              </a:rPr>
              <a:t>358 общих прогнозов совпадают с пакетным расчётом</a:t>
            </a:r>
          </a:p>
        </p:txBody>
      </p:sp>
      <p:sp>
        <p:nvSpPr>
          <p:cNvPr id="9" name="">
            <a:extLst xmlns:a="http://schemas.openxmlformats.org/drawingml/2006/main">
              <a:ext uri="{FF2B5EF4-FFF2-40B4-BE49-F238E27FC236}">
                <a16:creationId xmlns:a16="http://schemas.microsoft.com/office/drawing/2014/main" id="{1F8EC65C-FABF-4A70-8821-EC13DFC7525C}"/>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code/replay.py; results/replay_actions.csv; results/replay_summary.json.</a:t>
            </a:r>
          </a:p>
        </p:txBody>
      </p:sp>
      <p:sp>
        <p:nvSpPr>
          <p:cNvPr id="10" name="">
            <a:extLst xmlns:a="http://schemas.openxmlformats.org/drawingml/2006/main">
              <a:ext uri="{FF2B5EF4-FFF2-40B4-BE49-F238E27FC236}">
                <a16:creationId xmlns:a16="http://schemas.microsoft.com/office/drawing/2014/main" id="{7847AD82-C006-4113-9B39-5588967D044C}"/>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12 / 15</a:t>
            </a:r>
          </a:p>
        </p:txBody>
      </p:sp>
    </p:spTree>
    <p:extLst>
      <p:ext uri="{BB962C8B-B14F-4D97-AF65-F5344CB8AC3E}">
        <p14:creationId xmlns:p14="http://schemas.microsoft.com/office/powerpoint/2010/main" val="3909545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6162B-447A-40BD-A4A4-220764DF6F7C}"/>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Что выполнено и что требует внешних данных</a:t>
            </a:r>
          </a:p>
        </p:txBody>
      </p:sp>
      <p:sp>
        <p:nvSpPr>
          <p:cNvPr id="2" name="">
            <a:extLst xmlns:a="http://schemas.openxmlformats.org/drawingml/2006/main">
              <a:ext uri="{FF2B5EF4-FFF2-40B4-BE49-F238E27FC236}">
                <a16:creationId xmlns:a16="http://schemas.microsoft.com/office/drawing/2014/main" id="{C146ECE3-FD00-4B38-9076-6707CB29F801}"/>
              </a:ext>
            </a:extLst>
          </p:cNvPr>
          <p:cNvSpPr>
            <a:spLocks xmlns:a="http://schemas.openxmlformats.org/drawingml/2006/main" noGrp="1"/>
          </p:cNvSpPr>
          <p:nvPr/>
        </p:nvSpPr>
        <p:spPr>
          <a:xfrm xmlns:a="http://schemas.openxmlformats.org/drawingml/2006/main">
            <a:off x="6477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Подтверждено</a:t>
            </a:r>
          </a:p>
        </p:txBody>
      </p:sp>
      <p:sp>
        <p:nvSpPr>
          <p:cNvPr id="3" name="">
            <a:extLst xmlns:a="http://schemas.openxmlformats.org/drawingml/2006/main">
              <a:ext uri="{FF2B5EF4-FFF2-40B4-BE49-F238E27FC236}">
                <a16:creationId xmlns:a16="http://schemas.microsoft.com/office/drawing/2014/main" id="{79E6F870-8418-4FFE-8C83-F52751E325C2}"/>
              </a:ext>
            </a:extLst>
          </p:cNvPr>
          <p:cNvSpPr>
            <a:spLocks xmlns:a="http://schemas.openxmlformats.org/drawingml/2006/main" noGrp="1"/>
          </p:cNvSpPr>
          <p:nvPr/>
        </p:nvSpPr>
        <p:spPr>
          <a:xfrm xmlns:a="http://schemas.openxmlformats.org/drawingml/2006/main">
            <a:off x="6477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Локальный ряд и проверенное извлечение</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EDA, обучение и отложенная оценка</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Replay и проверки отказов</a:t>
            </a:r>
          </a:p>
        </p:txBody>
      </p:sp>
      <p:sp>
        <p:nvSpPr>
          <p:cNvPr id="4" name="">
            <a:extLst xmlns:a="http://schemas.openxmlformats.org/drawingml/2006/main">
              <a:ext uri="{FF2B5EF4-FFF2-40B4-BE49-F238E27FC236}">
                <a16:creationId xmlns:a16="http://schemas.microsoft.com/office/drawing/2014/main" id="{DFA3AB94-E51F-4FD1-AAF5-2D040A6A255F}"/>
              </a:ext>
            </a:extLst>
          </p:cNvPr>
          <p:cNvSpPr>
            <a:spLocks xmlns:a="http://schemas.openxmlformats.org/drawingml/2006/main" noGrp="1"/>
          </p:cNvSpPr>
          <p:nvPr/>
        </p:nvSpPr>
        <p:spPr>
          <a:xfrm xmlns:a="http://schemas.openxmlformats.org/drawingml/2006/main">
            <a:off x="6019800" y="18764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Ещё необходимо</a:t>
            </a:r>
          </a:p>
        </p:txBody>
      </p:sp>
      <p:sp>
        <p:nvSpPr>
          <p:cNvPr id="5" name="">
            <a:extLst xmlns:a="http://schemas.openxmlformats.org/drawingml/2006/main">
              <a:ext uri="{FF2B5EF4-FFF2-40B4-BE49-F238E27FC236}">
                <a16:creationId xmlns:a16="http://schemas.microsoft.com/office/drawing/2014/main" id="{6576AF67-DB28-47C9-9393-4C9EE12BF17D}"/>
              </a:ext>
            </a:extLst>
          </p:cNvPr>
          <p:cNvSpPr>
            <a:spLocks xmlns:a="http://schemas.openxmlformats.org/drawingml/2006/main" noGrp="1"/>
          </p:cNvSpPr>
          <p:nvPr/>
        </p:nvSpPr>
        <p:spPr>
          <a:xfrm xmlns:a="http://schemas.openxmlformats.org/drawingml/2006/main">
            <a:off x="6019800" y="26574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Непрерывные актуальные измерения</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Датчик, калибровка и задержки связи</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Метки событий и эксплуатационная проверка</a:t>
            </a:r>
          </a:p>
        </p:txBody>
      </p:sp>
      <p:sp>
        <p:nvSpPr>
          <p:cNvPr id="6" name="">
            <a:extLst xmlns:a="http://schemas.openxmlformats.org/drawingml/2006/main">
              <a:ext uri="{FF2B5EF4-FFF2-40B4-BE49-F238E27FC236}">
                <a16:creationId xmlns:a16="http://schemas.microsoft.com/office/drawing/2014/main" id="{4AA44F1D-444F-42DF-86EE-1C093B3489C2}"/>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results/revision_checks_20260926.json; DATA_CARD.md; статус PARTIAL.</a:t>
            </a:r>
          </a:p>
        </p:txBody>
      </p:sp>
      <p:sp>
        <p:nvSpPr>
          <p:cNvPr id="7" name="">
            <a:extLst xmlns:a="http://schemas.openxmlformats.org/drawingml/2006/main">
              <a:ext uri="{FF2B5EF4-FFF2-40B4-BE49-F238E27FC236}">
                <a16:creationId xmlns:a16="http://schemas.microsoft.com/office/drawing/2014/main" id="{3E8899D1-9B1A-4C6D-AEA2-AFAFE43C24C5}"/>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13 / 15</a:t>
            </a:r>
          </a:p>
        </p:txBody>
      </p:sp>
    </p:spTree>
    <p:extLst>
      <p:ext uri="{BB962C8B-B14F-4D97-AF65-F5344CB8AC3E}">
        <p14:creationId xmlns:p14="http://schemas.microsoft.com/office/powerpoint/2010/main" val="926958892"/>
      </p:ext>
    </p:extLst>
  </p:cSld>
</p:sld>
</file>

<file path=ppt/slides/slide14.xml><?xml version="1.0" encoding="utf-8"?>
<p:sld xmlns:p="http://schemas.openxmlformats.org/presentationml/2006/main">
  <p:cSld>
    <p:bg>
      <p:bgPr>
        <a:solidFill xmlns:a="http://schemas.openxmlformats.org/drawingml/2006/main">
          <a:srgbClr val="102B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4369033-8467-41A8-9994-00404575BA40}"/>
              </a:ext>
            </a:extLst>
          </p:cNvPr>
          <p:cNvSpPr>
            <a:spLocks xmlns:a="http://schemas.openxmlformats.org/drawingml/2006/main" noGrp="1"/>
          </p:cNvSpPr>
          <p:nvPr/>
        </p:nvSpPr>
        <p:spPr>
          <a:xfrm xmlns:a="http://schemas.openxmlformats.org/drawingml/2006/main">
            <a:off x="609600" y="59055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Сначала качество наблюдений, затем усложнение модели</a:t>
            </a:r>
          </a:p>
        </p:txBody>
      </p:sp>
      <p:sp>
        <p:nvSpPr>
          <p:cNvPr id="2" name="">
            <a:extLst xmlns:a="http://schemas.openxmlformats.org/drawingml/2006/main">
              <a:ext uri="{FF2B5EF4-FFF2-40B4-BE49-F238E27FC236}">
                <a16:creationId xmlns:a16="http://schemas.microsoft.com/office/drawing/2014/main" id="{9DCA5CA8-7548-455C-855F-1491ADC06CC5}"/>
              </a:ext>
            </a:extLst>
          </p:cNvPr>
          <p:cNvSpPr>
            <a:spLocks xmlns:a="http://schemas.openxmlformats.org/drawingml/2006/main" noGrp="1"/>
          </p:cNvSpPr>
          <p:nvPr/>
        </p:nvSpPr>
        <p:spPr>
          <a:xfrm xmlns:a="http://schemas.openxmlformats.org/drawingml/2006/main">
            <a:off x="647700" y="2076450"/>
            <a:ext cx="10572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Сохранить persistence как обязательный ориентир</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Разобрать восемь отмеченных дат с гидрологом</a:t>
            </a:r>
          </a:p>
          <a:p xmlns:a="http://schemas.openxmlformats.org/drawingml/2006/main">
            <a:r>
              <a:t/>
            </a:r>
          </a:p>
          <a:p xmlns:a="http://schemas.openxmlformats.org/drawingml/2006/main">
            <a:pPr>
              <a:defRPr sz="2550" b="0">
                <a:solidFill>
                  <a:srgbClr val="EDF4F7"/>
                </a:solidFill>
                <a:latin typeface="Arial"/>
                <a:ea typeface="Arial"/>
                <a:cs typeface="Arial"/>
              </a:defRPr>
            </a:pPr>
            <a:r>
              <a:rPr sz="2550" b="0">
                <a:solidFill>
                  <a:srgbClr val="EDF4F7"/>
                </a:solidFill>
                <a:latin typeface="Arial"/>
                <a:ea typeface="Arial"/>
                <a:cs typeface="Arial"/>
              </a:rPr>
              <a:t>Получить новый непрерывный период для независимой оценки</a:t>
            </a:r>
          </a:p>
        </p:txBody>
      </p:sp>
      <p:sp>
        <p:nvSpPr>
          <p:cNvPr id="3" name="">
            <a:extLst xmlns:a="http://schemas.openxmlformats.org/drawingml/2006/main">
              <a:ext uri="{FF2B5EF4-FFF2-40B4-BE49-F238E27FC236}">
                <a16:creationId xmlns:a16="http://schemas.microsoft.com/office/drawing/2014/main" id="{FF45D210-3755-4D2C-8146-ABE01887224B}"/>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A4C1CB"/>
                </a:solidFill>
                <a:latin typeface="Arial"/>
                <a:ea typeface="Arial"/>
                <a:cs typeface="Arial"/>
              </a:defRPr>
            </a:pPr>
            <a:r>
              <a:rPr sz="1125" b="0">
                <a:solidFill>
                  <a:srgbClr val="A4C1CB"/>
                </a:solidFill>
                <a:latin typeface="Arial"/>
                <a:ea typeface="Arial"/>
                <a:cs typeface="Arial"/>
              </a:rPr>
              <a:t>Выводы из фиксированного эксперимента и журнала replay.</a:t>
            </a:r>
          </a:p>
        </p:txBody>
      </p:sp>
      <p:sp>
        <p:nvSpPr>
          <p:cNvPr id="4" name="">
            <a:extLst xmlns:a="http://schemas.openxmlformats.org/drawingml/2006/main">
              <a:ext uri="{FF2B5EF4-FFF2-40B4-BE49-F238E27FC236}">
                <a16:creationId xmlns:a16="http://schemas.microsoft.com/office/drawing/2014/main" id="{926C7C3E-A8BA-40C1-B601-2FFD10378119}"/>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A4C1CB"/>
                </a:solidFill>
                <a:latin typeface="Arial"/>
                <a:ea typeface="Arial"/>
                <a:cs typeface="Arial"/>
              </a:defRPr>
            </a:pPr>
            <a:r>
              <a:rPr sz="1275" b="0">
                <a:solidFill>
                  <a:srgbClr val="A4C1CB"/>
                </a:solidFill>
                <a:latin typeface="Arial"/>
                <a:ea typeface="Arial"/>
                <a:cs typeface="Arial"/>
              </a:rPr>
              <a:t>14 / 15</a:t>
            </a:r>
          </a:p>
        </p:txBody>
      </p:sp>
    </p:spTree>
    <p:extLst>
      <p:ext uri="{BB962C8B-B14F-4D97-AF65-F5344CB8AC3E}">
        <p14:creationId xmlns:p14="http://schemas.microsoft.com/office/powerpoint/2010/main" val="9898924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707098-531F-4748-8554-B51530452AC9}"/>
              </a:ext>
            </a:extLst>
          </p:cNvPr>
          <p:cNvSpPr>
            <a:spLocks xmlns:a="http://schemas.openxmlformats.org/drawingml/2006/main" noGrp="1"/>
          </p:cNvSpPr>
          <p:nvPr/>
        </p:nvSpPr>
        <p:spPr>
          <a:xfrm xmlns:a="http://schemas.openxmlformats.org/drawingml/2006/main">
            <a:off x="609600" y="46672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73342"/>
                </a:solidFill>
                <a:latin typeface="Arial"/>
                <a:ea typeface="Arial"/>
                <a:cs typeface="Arial"/>
              </a:defRPr>
            </a:pPr>
            <a:r>
              <a:rPr sz="3300" b="1">
                <a:solidFill>
                  <a:srgbClr val="173342"/>
                </a:solidFill>
                <a:latin typeface="Arial"/>
                <a:ea typeface="Arial"/>
                <a:cs typeface="Arial"/>
              </a:rPr>
              <a:t>Основные источники и воспроизводимость</a:t>
            </a:r>
          </a:p>
        </p:txBody>
      </p:sp>
      <p:sp>
        <p:nvSpPr>
          <p:cNvPr id="2" name="">
            <a:extLst xmlns:a="http://schemas.openxmlformats.org/drawingml/2006/main">
              <a:ext uri="{FF2B5EF4-FFF2-40B4-BE49-F238E27FC236}">
                <a16:creationId xmlns:a16="http://schemas.microsoft.com/office/drawing/2014/main" id="{FF071669-D7DF-428F-BFAF-50211AE8C966}"/>
              </a:ext>
            </a:extLst>
          </p:cNvPr>
          <p:cNvSpPr>
            <a:spLocks xmlns:a="http://schemas.openxmlformats.org/drawingml/2006/main" noGrp="1"/>
          </p:cNvSpPr>
          <p:nvPr/>
        </p:nvSpPr>
        <p:spPr>
          <a:xfrm xmlns:a="http://schemas.openxmlformats.org/drawingml/2006/main">
            <a:off x="6477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Источники</a:t>
            </a:r>
          </a:p>
        </p:txBody>
      </p:sp>
      <p:sp>
        <p:nvSpPr>
          <p:cNvPr id="3" name="">
            <a:extLst xmlns:a="http://schemas.openxmlformats.org/drawingml/2006/main">
              <a:ext uri="{FF2B5EF4-FFF2-40B4-BE49-F238E27FC236}">
                <a16:creationId xmlns:a16="http://schemas.microsoft.com/office/drawing/2014/main" id="{1DAFC820-7A60-490C-95F1-AF423FA2D8BF}"/>
              </a:ext>
            </a:extLst>
          </p:cNvPr>
          <p:cNvSpPr>
            <a:spLocks xmlns:a="http://schemas.openxmlformats.org/drawingml/2006/main" noGrp="1"/>
          </p:cNvSpPr>
          <p:nvPr/>
        </p:nvSpPr>
        <p:spPr>
          <a:xfrm xmlns:a="http://schemas.openxmlformats.org/drawingml/2006/main">
            <a:off x="6477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Казгидромет. Ежегодники 2018, 2019, 2022; таблица 1.2</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Hyndman, Athanasopoulos. Forecasting: Principles and Practice</a:t>
            </a:r>
          </a:p>
        </p:txBody>
      </p:sp>
      <p:sp>
        <p:nvSpPr>
          <p:cNvPr id="4" name="">
            <a:extLst xmlns:a="http://schemas.openxmlformats.org/drawingml/2006/main">
              <a:ext uri="{FF2B5EF4-FFF2-40B4-BE49-F238E27FC236}">
                <a16:creationId xmlns:a16="http://schemas.microsoft.com/office/drawing/2014/main" id="{9888E41F-B911-4FDC-8BA6-CA7B43519C94}"/>
              </a:ext>
            </a:extLst>
          </p:cNvPr>
          <p:cNvSpPr>
            <a:spLocks xmlns:a="http://schemas.openxmlformats.org/drawingml/2006/main" noGrp="1"/>
          </p:cNvSpPr>
          <p:nvPr/>
        </p:nvSpPr>
        <p:spPr>
          <a:xfrm xmlns:a="http://schemas.openxmlformats.org/drawingml/2006/main">
            <a:off x="6019800" y="1762125"/>
            <a:ext cx="5010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8775A"/>
                </a:solidFill>
                <a:latin typeface="Arial"/>
                <a:ea typeface="Arial"/>
                <a:cs typeface="Arial"/>
              </a:defRPr>
            </a:pPr>
            <a:r>
              <a:rPr sz="2175" b="1">
                <a:solidFill>
                  <a:srgbClr val="28775A"/>
                </a:solidFill>
                <a:latin typeface="Arial"/>
                <a:ea typeface="Arial"/>
                <a:cs typeface="Arial"/>
              </a:rPr>
              <a:t>Методы и данные</a:t>
            </a:r>
          </a:p>
        </p:txBody>
      </p:sp>
      <p:sp>
        <p:nvSpPr>
          <p:cNvPr id="5" name="">
            <a:extLst xmlns:a="http://schemas.openxmlformats.org/drawingml/2006/main">
              <a:ext uri="{FF2B5EF4-FFF2-40B4-BE49-F238E27FC236}">
                <a16:creationId xmlns:a16="http://schemas.microsoft.com/office/drawing/2014/main" id="{4073CCA2-9957-4459-A7CB-2211B5122A84}"/>
              </a:ext>
            </a:extLst>
          </p:cNvPr>
          <p:cNvSpPr>
            <a:spLocks xmlns:a="http://schemas.openxmlformats.org/drawingml/2006/main" noGrp="1"/>
          </p:cNvSpPr>
          <p:nvPr/>
        </p:nvSpPr>
        <p:spPr>
          <a:xfrm xmlns:a="http://schemas.openxmlformats.org/drawingml/2006/main">
            <a:off x="6019800" y="2543175"/>
            <a:ext cx="50101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Harrigan et al. GloFAS, HESS 27, 1–19 (2023)</a:t>
            </a:r>
          </a:p>
          <a:p xmlns:a="http://schemas.openxmlformats.org/drawingml/2006/main">
            <a:r>
              <a:t/>
            </a:r>
          </a:p>
          <a:p xmlns:a="http://schemas.openxmlformats.org/drawingml/2006/main">
            <a:pPr>
              <a:defRPr sz="2100" b="0">
                <a:solidFill>
                  <a:srgbClr val="173342"/>
                </a:solidFill>
                <a:latin typeface="Arial"/>
                <a:ea typeface="Arial"/>
                <a:cs typeface="Arial"/>
              </a:defRPr>
            </a:pPr>
            <a:r>
              <a:rPr sz="2100" b="0">
                <a:solidFill>
                  <a:srgbClr val="173342"/>
                </a:solidFill>
                <a:latin typeface="Arial"/>
                <a:ea typeface="Arial"/>
                <a:cs typeface="Arial"/>
              </a:rPr>
              <a:t>scikit-learn. Ridge и RandomForestRegressor</a:t>
            </a:r>
          </a:p>
        </p:txBody>
      </p:sp>
      <p:sp>
        <p:nvSpPr>
          <p:cNvPr id="6" name="">
            <a:extLst xmlns:a="http://schemas.openxmlformats.org/drawingml/2006/main">
              <a:ext uri="{FF2B5EF4-FFF2-40B4-BE49-F238E27FC236}">
                <a16:creationId xmlns:a16="http://schemas.microsoft.com/office/drawing/2014/main" id="{19077E1B-DA16-486D-A45C-71CA0AA2D4D8}"/>
              </a:ext>
            </a:extLst>
          </p:cNvPr>
          <p:cNvSpPr>
            <a:spLocks xmlns:a="http://schemas.openxmlformats.org/drawingml/2006/main" noGrp="1"/>
          </p:cNvSpPr>
          <p:nvPr/>
        </p:nvSpPr>
        <p:spPr>
          <a:xfrm xmlns:a="http://schemas.openxmlformats.org/drawingml/2006/main">
            <a:off x="609600" y="61817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25" b="0">
                <a:solidFill>
                  <a:srgbClr val="516471"/>
                </a:solidFill>
                <a:latin typeface="Arial"/>
                <a:ea typeface="Arial"/>
                <a:cs typeface="Arial"/>
              </a:defRPr>
            </a:pPr>
            <a:r>
              <a:rPr sz="1125" b="0">
                <a:solidFill>
                  <a:srgbClr val="516471"/>
                </a:solidFill>
                <a:latin typeface="Arial"/>
                <a:ea typeface="Arial"/>
                <a:cs typeface="Arial"/>
              </a:rPr>
              <a:t>Полные ссылки, страницы и SHA-256: References.md; SOURCE_REGISTER.csv.</a:t>
            </a:r>
          </a:p>
        </p:txBody>
      </p:sp>
      <p:sp>
        <p:nvSpPr>
          <p:cNvPr id="7" name="">
            <a:extLst xmlns:a="http://schemas.openxmlformats.org/drawingml/2006/main">
              <a:ext uri="{FF2B5EF4-FFF2-40B4-BE49-F238E27FC236}">
                <a16:creationId xmlns:a16="http://schemas.microsoft.com/office/drawing/2014/main" id="{080A82E8-0233-4579-8A0A-336BB6A6F346}"/>
              </a:ext>
            </a:extLst>
          </p:cNvPr>
          <p:cNvSpPr>
            <a:spLocks xmlns:a="http://schemas.openxmlformats.org/drawingml/2006/main" noGrp="1"/>
          </p:cNvSpPr>
          <p:nvPr/>
        </p:nvSpPr>
        <p:spPr>
          <a:xfrm xmlns:a="http://schemas.openxmlformats.org/drawingml/2006/main">
            <a:off x="11010900" y="62769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16471"/>
                </a:solidFill>
                <a:latin typeface="Arial"/>
                <a:ea typeface="Arial"/>
                <a:cs typeface="Arial"/>
              </a:defRPr>
            </a:pPr>
            <a:r>
              <a:rPr sz="1275" b="0">
                <a:solidFill>
                  <a:srgbClr val="516471"/>
                </a:solidFill>
                <a:latin typeface="Arial"/>
                <a:ea typeface="Arial"/>
                <a:cs typeface="Arial"/>
              </a:rPr>
              <a:t>15 / 15</a:t>
            </a:r>
          </a:p>
        </p:txBody>
      </p:sp>
    </p:spTree>
    <p:extLst>
      <p:ext uri="{BB962C8B-B14F-4D97-AF65-F5344CB8AC3E}">
        <p14:creationId xmlns:p14="http://schemas.microsoft.com/office/powerpoint/2010/main" val="6867436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2026-09-25T20:47:54.9670000Z</dcterms:created>
  <dcterms:modified xsi:type="dcterms:W3CDTF">2026-09-25T20:47:54.9670000Z</dcterms:modified>
</coreProperties>
</file>