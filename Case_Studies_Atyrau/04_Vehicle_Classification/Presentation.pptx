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37b4b3914354071" /><Relationship Type="http://schemas.openxmlformats.org/officeDocument/2006/relationships/extended-properties" Target="/docProps/app.xml" Id="R3d09bfe8576f41ca" /><Relationship Type="http://schemas.openxmlformats.org/officeDocument/2006/relationships/officeDocument" Target="/ppt/presentation.xml" Id="R1b7dc6c13734412a" /></Relationships>
</file>

<file path=ppt/presentation.xml><?xml version="1.0" encoding="utf-8"?>
<p:presentation xmlns:p="http://schemas.openxmlformats.org/presentationml/2006/main">
  <p:sldMasterIdLst>
    <p:sldMasterId xmlns:r="http://schemas.openxmlformats.org/officeDocument/2006/relationships" id="2147483648" r:id="Re84f288714e34447"/>
  </p:sldMasterIdLst>
  <p:notesMasterIdLst>
    <p:notesMasterId xmlns:r="http://schemas.openxmlformats.org/officeDocument/2006/relationships" r:id="Rebc78b9225324d98"/>
  </p:notesMasterIdLst>
  <p:sldIdLst>
    <p:sldId xmlns:r="http://schemas.openxmlformats.org/officeDocument/2006/relationships" id="256" r:id="R6ee5add31e5c4b93"/>
    <p:sldId xmlns:r="http://schemas.openxmlformats.org/officeDocument/2006/relationships" id="257" r:id="R60e3415ede7d4644"/>
    <p:sldId xmlns:r="http://schemas.openxmlformats.org/officeDocument/2006/relationships" id="258" r:id="Rde7c44142f474246"/>
    <p:sldId xmlns:r="http://schemas.openxmlformats.org/officeDocument/2006/relationships" id="259" r:id="R95e0721b1fbf48cf"/>
    <p:sldId xmlns:r="http://schemas.openxmlformats.org/officeDocument/2006/relationships" id="260" r:id="R1864297644c840b0"/>
    <p:sldId xmlns:r="http://schemas.openxmlformats.org/officeDocument/2006/relationships" id="261" r:id="R0aa97f6ab12443f4"/>
    <p:sldId xmlns:r="http://schemas.openxmlformats.org/officeDocument/2006/relationships" id="262" r:id="R12885a5cc5504847"/>
    <p:sldId xmlns:r="http://schemas.openxmlformats.org/officeDocument/2006/relationships" id="263" r:id="R41985c5d8f36437e"/>
    <p:sldId xmlns:r="http://schemas.openxmlformats.org/officeDocument/2006/relationships" id="264" r:id="Rec62def1d05b4956"/>
    <p:sldId xmlns:r="http://schemas.openxmlformats.org/officeDocument/2006/relationships" id="265" r:id="Rad34bc47cc01434f"/>
    <p:sldId xmlns:r="http://schemas.openxmlformats.org/officeDocument/2006/relationships" id="266" r:id="R55c108d2c0c949cd"/>
    <p:sldId xmlns:r="http://schemas.openxmlformats.org/officeDocument/2006/relationships" id="267" r:id="Rd2275ff1696b4cbe"/>
    <p:sldId xmlns:r="http://schemas.openxmlformats.org/officeDocument/2006/relationships" id="268" r:id="R0dd9ce5229d44cf9"/>
    <p:sldId xmlns:r="http://schemas.openxmlformats.org/officeDocument/2006/relationships" id="269" r:id="Rbafb0a21e24b4fc4"/>
    <p:sldId xmlns:r="http://schemas.openxmlformats.org/officeDocument/2006/relationships" id="270" r:id="R90956dfec4a14d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d5328ed18b4024" /><Relationship Type="http://schemas.openxmlformats.org/officeDocument/2006/relationships/slideMaster" Target="/ppt/slideMasters/slideMaster1.xml" Id="Re84f288714e34447" /><Relationship Type="http://schemas.openxmlformats.org/officeDocument/2006/relationships/notesMaster" Target="/ppt/notesMasters/notesMaster1.xml" Id="Rebc78b9225324d98" /><Relationship Type="http://schemas.openxmlformats.org/officeDocument/2006/relationships/presProps" Target="/ppt/presProps.xml" Id="Rbb835895726c4e84" /><Relationship Type="http://schemas.openxmlformats.org/officeDocument/2006/relationships/tableStyles" Target="/ppt/tableStyles.xml" Id="Rb6a11142cbc246a5" /><Relationship Type="http://schemas.openxmlformats.org/officeDocument/2006/relationships/slide" Target="/ppt/slides/slide1.xml" Id="R6ee5add31e5c4b93" /><Relationship Type="http://schemas.openxmlformats.org/officeDocument/2006/relationships/slide" Target="/ppt/slides/slide2.xml" Id="R60e3415ede7d4644" /><Relationship Type="http://schemas.openxmlformats.org/officeDocument/2006/relationships/slide" Target="/ppt/slides/slide3.xml" Id="Rde7c44142f474246" /><Relationship Type="http://schemas.openxmlformats.org/officeDocument/2006/relationships/slide" Target="/ppt/slides/slide4.xml" Id="R95e0721b1fbf48cf" /><Relationship Type="http://schemas.openxmlformats.org/officeDocument/2006/relationships/slide" Target="/ppt/slides/slide5.xml" Id="R1864297644c840b0" /><Relationship Type="http://schemas.openxmlformats.org/officeDocument/2006/relationships/slide" Target="/ppt/slides/slide6.xml" Id="R0aa97f6ab12443f4" /><Relationship Type="http://schemas.openxmlformats.org/officeDocument/2006/relationships/slide" Target="/ppt/slides/slide7.xml" Id="R12885a5cc5504847" /><Relationship Type="http://schemas.openxmlformats.org/officeDocument/2006/relationships/slide" Target="/ppt/slides/slide8.xml" Id="R41985c5d8f36437e" /><Relationship Type="http://schemas.openxmlformats.org/officeDocument/2006/relationships/slide" Target="/ppt/slides/slide9.xml" Id="Rec62def1d05b4956" /><Relationship Type="http://schemas.openxmlformats.org/officeDocument/2006/relationships/slide" Target="/ppt/slides/slide10.xml" Id="Rad34bc47cc01434f" /><Relationship Type="http://schemas.openxmlformats.org/officeDocument/2006/relationships/slide" Target="/ppt/slides/slide11.xml" Id="R55c108d2c0c949cd" /><Relationship Type="http://schemas.openxmlformats.org/officeDocument/2006/relationships/slide" Target="/ppt/slides/slide12.xml" Id="Rd2275ff1696b4cbe" /><Relationship Type="http://schemas.openxmlformats.org/officeDocument/2006/relationships/slide" Target="/ppt/slides/slide13.xml" Id="R0dd9ce5229d44cf9" /><Relationship Type="http://schemas.openxmlformats.org/officeDocument/2006/relationships/slide" Target="/ppt/slides/slide14.xml" Id="Rbafb0a21e24b4fc4" /><Relationship Type="http://schemas.openxmlformats.org/officeDocument/2006/relationships/slide" Target="/ppt/slides/slide15.xml" Id="R90956dfec4a14d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9d1c4ce8814c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23e4b3528247e7" /><Relationship Type="http://schemas.openxmlformats.org/officeDocument/2006/relationships/notesMaster" Target="/ppt/notesMasters/notesMaster1.xml" Id="Rcdc979720abf48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7e06f0be174ef9" /><Relationship Type="http://schemas.openxmlformats.org/officeDocument/2006/relationships/notesMaster" Target="/ppt/notesMasters/notesMaster1.xml" Id="Rbf5cd07979c74a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9e9aeb1e2f4796" /><Relationship Type="http://schemas.openxmlformats.org/officeDocument/2006/relationships/notesMaster" Target="/ppt/notesMasters/notesMaster1.xml" Id="Ra44eb8cf788b4f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82e451c4a6476c" /><Relationship Type="http://schemas.openxmlformats.org/officeDocument/2006/relationships/notesMaster" Target="/ppt/notesMasters/notesMaster1.xml" Id="R752f9cc141e549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565a5893454560" /><Relationship Type="http://schemas.openxmlformats.org/officeDocument/2006/relationships/notesMaster" Target="/ppt/notesMasters/notesMaster1.xml" Id="Rc9a9f56bc0af4d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b596450f6f4e5b" /><Relationship Type="http://schemas.openxmlformats.org/officeDocument/2006/relationships/notesMaster" Target="/ppt/notesMasters/notesMaster1.xml" Id="Re60ed748a09140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04d7de1d174827" /><Relationship Type="http://schemas.openxmlformats.org/officeDocument/2006/relationships/notesMaster" Target="/ppt/notesMasters/notesMaster1.xml" Id="R8642feeef3be45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25f5d66f2f4487" /><Relationship Type="http://schemas.openxmlformats.org/officeDocument/2006/relationships/notesMaster" Target="/ppt/notesMasters/notesMaster1.xml" Id="R982b8bab66c84f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6cb77c76ce4a22" /><Relationship Type="http://schemas.openxmlformats.org/officeDocument/2006/relationships/notesMaster" Target="/ppt/notesMasters/notesMaster1.xml" Id="R59b09ebae5d840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0ee40412f74d8d" /><Relationship Type="http://schemas.openxmlformats.org/officeDocument/2006/relationships/notesMaster" Target="/ppt/notesMasters/notesMaster1.xml" Id="R24f6efb34eb247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125bbd198f4995" /><Relationship Type="http://schemas.openxmlformats.org/officeDocument/2006/relationships/notesMaster" Target="/ppt/notesMasters/notesMaster1.xml" Id="Rdfee3a9752584f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3a845c54234e05" /><Relationship Type="http://schemas.openxmlformats.org/officeDocument/2006/relationships/notesMaster" Target="/ppt/notesMasters/notesMaster1.xml" Id="R76255410dbfc4a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21f4c4bd52422b" /><Relationship Type="http://schemas.openxmlformats.org/officeDocument/2006/relationships/notesMaster" Target="/ppt/notesMasters/notesMaster1.xml" Id="Raac28203ba5a45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ab949cc3f9456e" /><Relationship Type="http://schemas.openxmlformats.org/officeDocument/2006/relationships/notesMaster" Target="/ppt/notesMasters/notesMaster1.xml" Id="R6f710bf1157e48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355472593b4066" /><Relationship Type="http://schemas.openxmlformats.org/officeDocument/2006/relationships/notesMaster" Target="/ppt/notesMasters/notesMaster1.xml" Id="Rb8cca95b250f4c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Исходная тема посвящена классификации транспорта с видеорегистратора. В выполненной работе основное измерение качества проведено на реальных размеченных фотографиях COCO. Отдельно подготовлена демонстрация применения модели к вручную выделенным областям реального дорожного видео. Эти части отвечают разным вопросам и должны быть представлены раздельно. Местная выборка Атырау не получена, поэтому готовность городской системы не заявляется. Код, вычисления и текст подготовлены с раскрываемой помощью ИИ; перед защитой студенту необходимо самостоятельно проверить результаты и понять методику.</a:t>
            </a:r>
          </a:p>
          <a:p xmlns:a="http://schemas.openxmlformats.org/drawingml/2006/main">
            <a:r>
              <a:t/>
            </a:r>
          </a:p>
          <a:p xmlns:a="http://schemas.openxmlformats.org/drawingml/2006/main">
            <a:r>
              <a:t>Источники: Lin et al., Microsoft COCO (2014); исходный кейс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вход подаётся цветной фрагмент изображения по исходной рамке COCO. На выходе получается один из трёх классов. Таким образом, проверяется классификация объекта, а не его обнаружение на полном кадре. В исследование не включены фон, мотоциклы, велосипеды и неизвестные категории. Главный вопрос состоит в том, распознаёт ли обученная модель все классы лучше простого правила большинства. Отдельно рассматриваются характер ошибок и границы переноса на видеорегистратор. Предсказание на демонстрационном кропе не является эталонной меткой.</a:t>
            </a:r>
          </a:p>
          <a:p xmlns:a="http://schemas.openxmlformats.org/drawingml/2006/main">
            <a:r>
              <a:t/>
            </a:r>
          </a:p>
          <a:p xmlns:a="http://schemas.openxmlformats.org/drawingml/2006/main">
            <a:r>
              <a:t>Источники: Report.md, разделы 2 и 7; COCO instances_val2017.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Каждая строка индекса соответствует одному размеченному объекту. Несколько строк могут происходить из одной фотографии, поэтому объекты нельзя считать независимыми дорожными наблюдениями. Легковые автомобили представлены чаще автобусов и грузовиков. Это объясняет необходимость равновзвешенной по классам метрики. Однако состав выбранных фотографий ничего не говорит о долях транспорта в Атырау: география, поездки и время наблюдения не установлены. Исходные метки взяты из COCO, а не созданы прогнозами нашей модели. Атрибуция каждого изображения сохранена в отдельном файле.</a:t>
            </a:r>
          </a:p>
          <a:p xmlns:a="http://schemas.openxmlformats.org/drawingml/2006/main">
            <a:r>
              <a:t/>
            </a:r>
          </a:p>
          <a:p xmlns:a="http://schemas.openxmlformats.org/drawingml/2006/main">
            <a:r>
              <a:t>Источники: COCO val2017; dataset.csv; results/class_counts.csv.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Таблица показывает последовательность фильтрации, а не пересекающиеся причины исключения. Сначала выбраны три категории транспорта, затем допустимые для выбранной учебной обработки лицензии, объекты без crowd-разметки и рамки достаточного размера. Все подходящие фотографии успешно получены. При повторном запуске ошибка загрузки теперь останавливает работу, чтобы состав теста незаметно не изменился. Фильтр размера также ограничивает применимость: маленькие дальние машины, обычные для видеорегистратора, почти не представлены. Этот компромисс нельзя скрывать за чистотой подготовленного набора.</a:t>
            </a:r>
          </a:p>
          <a:p xmlns:a="http://schemas.openxmlformats.org/drawingml/2006/main">
            <a:r>
              <a:t/>
            </a:r>
          </a:p>
          <a:p xmlns:a="http://schemas.openxmlformats.org/drawingml/2006/main">
            <a:r>
              <a:t>Источники: Исходный JSON COCO; results/selection_funnel.csv.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Лицензии выбранных изображений проверены по исходным метаданным COCO. В наборе оставлены четыре варианта Creative Commons, допускающие обработку при соответствующих условиях; изображения с запретом производных исключены. Для каждой строки сохранены исходные ссылки, название лицензии и указание на кроп. При этом COCO не предоставил имена авторов и оригинальные названия фотографий. Эти сведения явно обозначены как отсутствующие. Повторная проверка подтвердила совпадение полей с источником, но не устраняет ограничение атрибуции и не является юридическим подтверждением публичного распространения.</a:t>
            </a:r>
          </a:p>
          <a:p xmlns:a="http://schemas.openxmlformats.org/drawingml/2006/main">
            <a:r>
              <a:t/>
            </a:r>
          </a:p>
          <a:p xmlns:a="http://schemas.openxmlformats.org/drawingml/2006/main">
            <a:r>
              <a:t>Источники: COCO Terms of Use; results/image_attribution.csv; CC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Разбиение выполнено по исходным фотографиям с дополнительной проверкой похожих изображений через перцептивный хеш. Объекты одной фотографии и одной объединённой группы не могут попасть одновременно в обучение и тест. Использованы пять частей StratifiedGroupKFold, но только для создания одного фиксированного разбиения; пятифолдовая оценка качества не заявляется. Точные копии кропов между частями отсутствуют. Такая проверка уменьшает риск утечки, однако не доказывает независимость физических мест или поездок: соответствующие метаданные отсутствуют. Пропорции частей больше не подбирались после просмотра результата.</a:t>
            </a:r>
          </a:p>
          <a:p xmlns:a="http://schemas.openxmlformats.org/drawingml/2006/main">
            <a:r>
              <a:t/>
            </a:r>
          </a:p>
          <a:p xmlns:a="http://schemas.openxmlformats.org/drawingml/2006/main">
            <a:r>
              <a:t>Источники: results/split_manifest.csv; results/split_protocol.json; seed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Каждый кроп преобразуется в HOG, цветовые гистограммы и отношение сторон. Идентификаторы, лицензии и путь к файлу в признаки не входят. Логистическая регрессия проверена с тремя значениями регуляризации, случайный лес с двумя ограничениями глубины. Средние и масштабы StandardScaler вычислены только по обучающим объектам, что подтверждено повторным расчётом. Лучшей по валидационному macro-F1 стала логистическая модель с C равным единице. Она не переобучалась на объединении train и validation. Все веса получены здесь; предобученные нейросети не использовались.</a:t>
            </a:r>
          </a:p>
          <a:p xmlns:a="http://schemas.openxmlformats.org/drawingml/2006/main">
            <a:r>
              <a:t/>
            </a:r>
          </a:p>
          <a:p xmlns:a="http://schemas.openxmlformats.org/drawingml/2006/main">
            <a:r>
              <a:t>Источники: Dalal &amp; Triggs (2005); training_history.csv; models/metadata.json.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диаграмме все модели оцениваются на одних и тех же отложенных объектах. Macro-F1 даёт каждому классу одинаковый вес, а accuracy считает общую долю правильных ответов. Логистическая модель выигрывает у правила большинства по первой метрике, но совпадает с ним по второй. Лес показывает наибольшую accuracy, однако хуже распознаёт меньшие классы и имеет меньший macro-F1. Поскольку критерий выбора был установлен заранее, лес не объявляется победителем задним числом. Следующий слайд показывает точные количества, которые объясняют это различие.</a:t>
            </a:r>
          </a:p>
          <a:p xmlns:a="http://schemas.openxmlformats.org/drawingml/2006/main">
            <a:r>
              <a:t/>
            </a:r>
          </a:p>
          <a:p xmlns:a="http://schemas.openxmlformats.org/drawingml/2006/main">
            <a:r>
              <a:t>Источники: results/metrics.json; scikit-learn f1_score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Правило большинства правильно называет все легковые автомобили и полностью пропускает автобусы и грузовики. Логистическая модель распознаёт четырнадцать автобусов и десять грузовиков, но теряет двадцать четыре правильных ответа на автомобилях. Эти изменения точно компенсируются в общей accuracy. Случайный лес почти восстанавливает распознавание автомобилей, но правильно называет лишь шесть автобусов и четыре грузовика. Поэтому таблица нагляднее одного итогового процента. Для равного учёта типов транспорта нужен анализ каждого класса и заранее выбранная метрика, а не только максимальное общее число совпадений.</a:t>
            </a:r>
          </a:p>
          <a:p xmlns:a="http://schemas.openxmlformats.org/drawingml/2006/main">
            <a:r>
              <a:t/>
            </a:r>
          </a:p>
          <a:p xmlns:a="http://schemas.openxmlformats.org/drawingml/2006/main">
            <a:r>
              <a:t>Источники: results/error_accounting.csv; test_predictions.csv.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Строки матрицы соответствуют истинному классу, столбцы — прогнозу. Из тридцати двух грузовиков верно названы десять; тринадцать приняты за легковые автомобили, девять за автобусы. Обратная ошибка также важна: среди двадцати девяти ответов truck только десять верны. Поэтому нельзя просто сложить прогнозы и получить надёжное число грузовиков в потоке. Автобусы тоже имеют и пропуски, и ложные срабатывания. Матрица рассчитана для правильных исходных рамок, следовательно ошибки будущего детектора добавятся к уже измеренным ограничениям классификации.</a:t>
            </a:r>
          </a:p>
          <a:p xmlns:a="http://schemas.openxmlformats.org/drawingml/2006/main">
            <a:r>
              <a:t/>
            </a:r>
          </a:p>
          <a:p xmlns:a="http://schemas.openxmlformats.org/drawingml/2006/main">
            <a:r>
              <a:t>Источники: results/confusion_matrix.csv; classification_report.csv.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рисунке представлены первые шесть ошибочных объектов в фиксированном порядке идентификаторов. Они не отбирались ради эффектного объяснения или улучшения впечатления о модели. Показывается вход после преобразования к размеру шестьдесят четыре на шестьдесят четыре пикселя. Сжатие, ракурс и сходство форм могут затруднять классификацию, но их отдельный вклад здесь не измерен. Для причинного вывода потребовалась бы независимая разметка этих условий. Каждый пример связан с исходной фотографией и лицензией через идентификатор; изображения не являются синтетическими иллюстрациями.</a:t>
            </a:r>
          </a:p>
          <a:p xmlns:a="http://schemas.openxmlformats.org/drawingml/2006/main">
            <a:r>
              <a:t/>
            </a:r>
          </a:p>
          <a:p xmlns:a="http://schemas.openxmlformats.org/drawingml/2006/main">
            <a:r>
              <a:t>Источники: results/errors.csv; image_attribution.csv.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Сильный разрыв между обучением и отложенными данными указывает на переобучение при большом числе признаков и небольшом разнообразии фотографий. Мы не заменяем этот результат новой настройкой после знакомства с test. Описательная неопределённость оценена повторными выборками целых тестовых групп, чтобы не считать несколько кропов одной фотографии независимыми. Полученный диапазон относится к текущему источнику и не гарантирует работу на улицах Атырау. Отдельный статистический тест превосходства над baseline не проводился. Следующее улучшение следует проверять на новых заранее отложенных поездках.</a:t>
            </a:r>
          </a:p>
          <a:p xmlns:a="http://schemas.openxmlformats.org/drawingml/2006/main">
            <a:r>
              <a:t/>
            </a:r>
          </a:p>
          <a:p xmlns:a="http://schemas.openxmlformats.org/drawingml/2006/main">
            <a:r>
              <a:t>Источники: training_history.csv; results/bootstrap.json: 500 групповых повторов.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Видео опубликовано автором Fernost на Wikimedia Commons с обозначением CC0. В демонстрации используется непрерывный фрагмент исходника и две вручную заданные области с отдельными временными метками. Классы в боковой панели вычислены сохранённой моделью; это прогнозы, а не независимые эталонные ответы. Статические примеры не выдаются за автоматическое обнаружение объектов на текущем кадре. География съёмки не установлена, поэтому видео нельзя подписывать как Атырау. Ссылка открывает соседний файл demo.mp4. Количественная оценка качества видео и скорости полного конвейера отсутствует.</a:t>
            </a:r>
          </a:p>
          <a:p xmlns:a="http://schemas.openxmlformats.org/drawingml/2006/main">
            <a:r>
              <a:t/>
            </a:r>
          </a:p>
          <a:p xmlns:a="http://schemas.openxmlformats.org/drawingml/2006/main">
            <a:r>
              <a:t>Источники: Fernost, Dashcam Recording (urban), Wikimedia Commons, CC0 (2013).</a:t>
            </a:r>
          </a:p>
          <a:p xmlns:a="http://schemas.openxmlformats.org/drawingml/2006/main">
            <a:r>
              <a:t>Локальное видео: demo.mp4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Работа дала воспроизводимый результат на реальных изображениях и показала ограничения простой классификации. Логистическая модель лучше распределяет качество между классами, но не повышает общую долю верных ответов относительно большинства. Для локального продолжения нужны разрешённые независимые поездки с разметкой типов транспорта и разделением по поездкам. Следует отдельно измерить качество обнаружения рамок, классификации и подсчёта уникальных машин. Новый тест надо зафиксировать до настройки. Текущий тест уже изучен, поэтому любые новые решения требуют прозрачного последующего эксперимента, а не переименования старого результата.</a:t>
            </a:r>
          </a:p>
          <a:p xmlns:a="http://schemas.openxmlformats.org/drawingml/2006/main">
            <a:r>
              <a:t/>
            </a:r>
          </a:p>
          <a:p xmlns:a="http://schemas.openxmlformats.org/drawingml/2006/main">
            <a:r>
              <a:t>Источники: Report.md, разделы 9–12; results/revision_checks.json.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Основные научные источники описывают набор COCO и признаки HOG; мы не переносим их опубликованные результаты на собственную задачу без измерения. Условия использования фотографий проверяются отдельно от лицензии аннотаций. Источник демонстрационного видео и его автор указаны явно. Полные адреса, даты обращения и доступные сведения об атрибуции приведены в References и отдельных таблицах пакета. Для проверки чисел следует открыть сохранённые прогнозы, метрики, историю обучения и журнал повторного аудита. Эти файлы позволяют воспроизвести вычисления, но не заменяют отсутствующую местную выборку.</a:t>
            </a:r>
          </a:p>
          <a:p xmlns:a="http://schemas.openxmlformats.org/drawingml/2006/main">
            <a:r>
              <a:t/>
            </a:r>
          </a:p>
          <a:p xmlns:a="http://schemas.openxmlformats.org/drawingml/2006/main">
            <a:r>
              <a:t>Источники: References.md; SOURCES.csv; results/REVISION_AUDIT_20260926.md.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212416b99d44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1672cbcfe34304" /><Relationship Type="http://schemas.openxmlformats.org/officeDocument/2006/relationships/slideLayout" Target="/ppt/slideLayouts/slideLayout1.xml" Id="Rc21e31eddd3b44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e31eddd3b44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bcbf8d87104a6e" /><Relationship Type="http://schemas.openxmlformats.org/officeDocument/2006/relationships/notesSlide" Target="/ppt/notesSlides/notesSlide1.xml" Id="R897a36b0991140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ed1975ee6c4742" /><Relationship Type="http://schemas.openxmlformats.org/officeDocument/2006/relationships/notesSlide" Target="/ppt/notesSlides/notesSlide2.xml" Id="R238d03bac73944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fc8ef8920e4a17" /><Relationship Type="http://schemas.openxmlformats.org/officeDocument/2006/relationships/notesSlide" Target="/ppt/notesSlides/notesSlide3.xml" Id="Rc49127b3c6224a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5da57ef6204b9c" /><Relationship Type="http://schemas.openxmlformats.org/officeDocument/2006/relationships/notesSlide" Target="/ppt/notesSlides/notesSlide4.xml" Id="R2305c31f26374e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97f2455d464a39" /><Relationship Type="http://schemas.openxmlformats.org/officeDocument/2006/relationships/notesSlide" Target="/ppt/notesSlides/notesSlide5.xml" Id="Rf6b9d9b309ec4a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2901577c104b31" /><Relationship Type="http://schemas.openxmlformats.org/officeDocument/2006/relationships/notesSlide" Target="/ppt/notesSlides/notesSlide6.xml" Id="R81b01c1f663541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313cf19bd14238" /><Relationship Type="http://schemas.openxmlformats.org/officeDocument/2006/relationships/notesSlide" Target="/ppt/notesSlides/notesSlide7.xml" Id="R6860889da3db47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f26e94b1994c91" /><Relationship Type="http://schemas.openxmlformats.org/officeDocument/2006/relationships/chart" Target="/ppt/slides/charts/chart1.xml" Id="R55cbc36f188d44a2" /><Relationship Type="http://schemas.openxmlformats.org/officeDocument/2006/relationships/notesSlide" Target="/ppt/notesSlides/notesSlide8.xml" Id="Rc2d8f2e4357c43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99e56408cb42ae" /><Relationship Type="http://schemas.openxmlformats.org/officeDocument/2006/relationships/notesSlide" Target="/ppt/notesSlides/notesSlide9.xml" Id="Rfa567a3dd65e44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642489df954132" /><Relationship Type="http://schemas.openxmlformats.org/officeDocument/2006/relationships/image" Target="/ppt/media/image.png" Id="R659959cbae2f4642" /><Relationship Type="http://schemas.openxmlformats.org/officeDocument/2006/relationships/notesSlide" Target="/ppt/notesSlides/notesSlide10.xml" Id="R4f6e5dd4073144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e53ba111bf4bae" /><Relationship Type="http://schemas.openxmlformats.org/officeDocument/2006/relationships/image" Target="/ppt/media/image2.png" Id="R4d829304d8de4dfb" /><Relationship Type="http://schemas.openxmlformats.org/officeDocument/2006/relationships/notesSlide" Target="/ppt/notesSlides/notesSlide11.xml" Id="R6e955dc3768c4f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801128e4f34aae" /><Relationship Type="http://schemas.openxmlformats.org/officeDocument/2006/relationships/notesSlide" Target="/ppt/notesSlides/notesSlide12.xml" Id="R98d543e62dc341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e25a6d64ba499c" /><Relationship Type="http://schemas.openxmlformats.org/officeDocument/2006/relationships/image" Target="/ppt/media/image3.png" Id="Rd92698772b94484b" /><Relationship Type="http://schemas.openxmlformats.org/officeDocument/2006/relationships/hyperlink" Target="demo.mp4" TargetMode="External" Id="Rd480b02e607a41a8" /><Relationship Type="http://schemas.openxmlformats.org/officeDocument/2006/relationships/notesSlide" Target="/ppt/notesSlides/notesSlide13.xml" Id="Rbc724dfe2b8c4c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386d04b28742b5" /><Relationship Type="http://schemas.openxmlformats.org/officeDocument/2006/relationships/notesSlide" Target="/ppt/notesSlides/notesSlide14.xml" Id="Rc0e812c57a1e43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9ae4cfa98104cef" /><Relationship Type="http://schemas.openxmlformats.org/officeDocument/2006/relationships/notesSlide" Target="/ppt/notesSlides/notesSlide15.xml" Id="R2f16b955ba194a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Macro-F1</c:v>
          </c:tx>
          <c:spPr>
            <a:solidFill xmlns:a="http://schemas.openxmlformats.org/drawingml/2006/main">
              <a:srgbClr val="AE562D"/>
            </a:solidFill>
          </c:spPr>
          <c:cat>
            <c:strRef>
              <c:f>'Chart Data'!$A$2:$A$4</c:f>
              <c:strCache>
                <c:ptCount val="3"/>
                <c:pt idx="0">
                  <c:v>Всегда car</c:v>
                </c:pt>
                <c:pt idx="1">
                  <c:v>Логистическая</c:v>
                </c:pt>
                <c:pt idx="2">
                  <c:v>Случайный лес</c:v>
                </c:pt>
              </c:strCache>
            </c:strRef>
          </c:cat>
          <c:val>
            <c:numRef>
              <c:f>'Chart Data'!$B$2:$B$4</c:f>
              <c:numCache>
                <c:formatCode>0.000</c:formatCode>
                <c:ptCount val="3"/>
                <c:pt idx="0">
                  <c:v>0.236</c:v>
                </c:pt>
                <c:pt idx="1">
                  <c:v>0.488</c:v>
                </c:pt>
                <c:pt idx="2">
                  <c:v>0.431</c:v>
                </c:pt>
              </c:numCache>
            </c:numRef>
          </c:val>
        </c:ser>
        <c:ser>
          <c:idx val="1"/>
          <c:order val="1"/>
          <c:tx>
            <c:v>Accuracy</c:v>
          </c:tx>
          <c:spPr>
            <a:solidFill xmlns:a="http://schemas.openxmlformats.org/drawingml/2006/main">
              <a:srgbClr val="2864AD"/>
            </a:solidFill>
          </c:spPr>
          <c:cat>
            <c:strRef>
              <c:f>'Chart Data'!$C$2:$C$4</c:f>
              <c:strCache>
                <c:ptCount val="3"/>
                <c:pt idx="0">
                  <c:v>Всегда car</c:v>
                </c:pt>
                <c:pt idx="1">
                  <c:v>Логистическая</c:v>
                </c:pt>
                <c:pt idx="2">
                  <c:v>Случайный лес</c:v>
                </c:pt>
              </c:strCache>
            </c:strRef>
          </c:cat>
          <c:val>
            <c:numRef>
              <c:f>'Chart Data'!$D$2:$D$4</c:f>
              <c:numCache>
                <c:formatCode>0.000</c:formatCode>
                <c:ptCount val="3"/>
                <c:pt idx="0">
                  <c:v>0.549</c:v>
                </c:pt>
                <c:pt idx="1">
                  <c:v>0.549</c:v>
                </c:pt>
                <c:pt idx="2">
                  <c:v>0.617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342"/>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16471"/>
                    </a:solidFill>
                    <a:latin typeface="Arial"/>
                    <a:ea typeface="Arial"/>
                    <a:cs typeface="Arial"/>
                  </a:rPr>
                  <a:t>Macro-F1 / Accuracy</a:t>
                </a:r>
              </a:p>
            </c:rich>
          </c:tx>
          <c:overlay val="0"/>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24D025-9E32-4CD0-AAE1-FDB8CE760F74}"/>
              </a:ext>
            </a:extLst>
          </p:cNvPr>
          <p:cNvSpPr>
            <a:spLocks xmlns:a="http://schemas.openxmlformats.org/drawingml/2006/main" noGrp="1"/>
          </p:cNvSpPr>
          <p:nvPr/>
        </p:nvSpPr>
        <p:spPr>
          <a:xfrm xmlns:a="http://schemas.openxmlformats.org/drawingml/2006/main">
            <a:off x="647700" y="6286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80CCD2"/>
                </a:solidFill>
                <a:latin typeface="Arial"/>
                <a:ea typeface="Arial"/>
                <a:cs typeface="Arial"/>
              </a:defRPr>
            </a:pPr>
            <a:r>
              <a:rPr sz="1800" b="0">
                <a:solidFill>
                  <a:srgbClr val="80CCD2"/>
                </a:solidFill>
                <a:latin typeface="Arial"/>
                <a:ea typeface="Arial"/>
                <a:cs typeface="Arial"/>
              </a:rPr>
              <a:t>Исследовательский кейс 15</a:t>
            </a:r>
          </a:p>
        </p:txBody>
      </p:sp>
      <p:sp>
        <p:nvSpPr>
          <p:cNvPr id="2" name="">
            <a:extLst xmlns:a="http://schemas.openxmlformats.org/drawingml/2006/main">
              <a:ext uri="{FF2B5EF4-FFF2-40B4-BE49-F238E27FC236}">
                <a16:creationId xmlns:a16="http://schemas.microsoft.com/office/drawing/2014/main" id="{ED5244F9-9CCF-4E55-A8FF-35DAE073AF9A}"/>
              </a:ext>
            </a:extLst>
          </p:cNvPr>
          <p:cNvSpPr>
            <a:spLocks xmlns:a="http://schemas.openxmlformats.org/drawingml/2006/main" noGrp="1"/>
          </p:cNvSpPr>
          <p:nvPr/>
        </p:nvSpPr>
        <p:spPr>
          <a:xfrm xmlns:a="http://schemas.openxmlformats.org/drawingml/2006/main">
            <a:off x="609600" y="1476375"/>
            <a:ext cx="107823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Классификация транспорта: что доказали данные</a:t>
            </a:r>
          </a:p>
        </p:txBody>
      </p:sp>
      <p:sp>
        <p:nvSpPr>
          <p:cNvPr id="3" name="">
            <a:extLst xmlns:a="http://schemas.openxmlformats.org/drawingml/2006/main">
              <a:ext uri="{FF2B5EF4-FFF2-40B4-BE49-F238E27FC236}">
                <a16:creationId xmlns:a16="http://schemas.microsoft.com/office/drawing/2014/main" id="{B23161CA-9C36-4172-98DD-7D60EB2A266E}"/>
              </a:ext>
            </a:extLst>
          </p:cNvPr>
          <p:cNvSpPr>
            <a:spLocks xmlns:a="http://schemas.openxmlformats.org/drawingml/2006/main" noGrp="1"/>
          </p:cNvSpPr>
          <p:nvPr/>
        </p:nvSpPr>
        <p:spPr>
          <a:xfrm xmlns:a="http://schemas.openxmlformats.org/drawingml/2006/main">
            <a:off x="647700" y="40100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DEE9EE"/>
                </a:solidFill>
                <a:latin typeface="Arial"/>
                <a:ea typeface="Arial"/>
                <a:cs typeface="Arial"/>
              </a:defRPr>
            </a:pPr>
            <a:r>
              <a:rPr sz="2175" b="0">
                <a:solidFill>
                  <a:srgbClr val="DEE9EE"/>
                </a:solidFill>
                <a:latin typeface="Arial"/>
                <a:ea typeface="Arial"/>
                <a:cs typeface="Arial"/>
              </a:rPr>
              <a:t>Кейс №15 · COCO + реальное видео · редакция 26.09.2026</a:t>
            </a:r>
          </a:p>
        </p:txBody>
      </p:sp>
      <p:sp>
        <p:nvSpPr>
          <p:cNvPr id="4" name="">
            <a:extLst xmlns:a="http://schemas.openxmlformats.org/drawingml/2006/main">
              <a:ext uri="{FF2B5EF4-FFF2-40B4-BE49-F238E27FC236}">
                <a16:creationId xmlns:a16="http://schemas.microsoft.com/office/drawing/2014/main" id="{B58D615F-C1AE-400D-925D-3ED39FDC0074}"/>
              </a:ext>
            </a:extLst>
          </p:cNvPr>
          <p:cNvSpPr>
            <a:spLocks xmlns:a="http://schemas.openxmlformats.org/drawingml/2006/main" noGrp="1"/>
          </p:cNvSpPr>
          <p:nvPr/>
        </p:nvSpPr>
        <p:spPr>
          <a:xfrm xmlns:a="http://schemas.openxmlformats.org/drawingml/2006/main">
            <a:off x="647700" y="50958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C0D5DE"/>
                </a:solidFill>
                <a:latin typeface="Arial"/>
                <a:ea typeface="Arial"/>
                <a:cs typeface="Arial"/>
              </a:defRPr>
            </a:pPr>
            <a:r>
              <a:rPr sz="1500" b="0">
                <a:solidFill>
                  <a:srgbClr val="C0D5DE"/>
                </a:solidFill>
                <a:latin typeface="Arial"/>
                <a:ea typeface="Arial"/>
                <a:cs typeface="Arial"/>
              </a:rPr>
              <a:t>Три класса: car, bus, truck · Локальная оценка Атырау отсутствует · Статус: PARTIAL</a:t>
            </a:r>
          </a:p>
        </p:txBody>
      </p:sp>
      <p:sp>
        <p:nvSpPr>
          <p:cNvPr id="5" name="">
            <a:extLst xmlns:a="http://schemas.openxmlformats.org/drawingml/2006/main">
              <a:ext uri="{FF2B5EF4-FFF2-40B4-BE49-F238E27FC236}">
                <a16:creationId xmlns:a16="http://schemas.microsoft.com/office/drawing/2014/main" id="{9A393FDF-F001-473D-B0BF-A359FCFB053C}"/>
              </a:ext>
            </a:extLst>
          </p:cNvPr>
          <p:cNvSpPr>
            <a:spLocks xmlns:a="http://schemas.openxmlformats.org/drawingml/2006/main" noGrp="1"/>
          </p:cNvSpPr>
          <p:nvPr/>
        </p:nvSpPr>
        <p:spPr>
          <a:xfrm xmlns:a="http://schemas.openxmlformats.org/drawingml/2006/main">
            <a:off x="647700" y="57721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A4C1CB"/>
                </a:solidFill>
                <a:latin typeface="Arial"/>
                <a:ea typeface="Arial"/>
                <a:cs typeface="Arial"/>
              </a:defRPr>
            </a:pPr>
            <a:r>
              <a:rPr sz="1425" b="0">
                <a:solidFill>
                  <a:srgbClr val="A4C1CB"/>
                </a:solidFill>
                <a:latin typeface="Arial"/>
                <a:ea typeface="Arial"/>
                <a:cs typeface="Arial"/>
              </a:rPr>
              <a:t>Искусственный интеллект и машинное обучение</a:t>
            </a:r>
          </a:p>
        </p:txBody>
      </p:sp>
      <p:sp>
        <p:nvSpPr>
          <p:cNvPr id="6" name="">
            <a:extLst xmlns:a="http://schemas.openxmlformats.org/drawingml/2006/main">
              <a:ext uri="{FF2B5EF4-FFF2-40B4-BE49-F238E27FC236}">
                <a16:creationId xmlns:a16="http://schemas.microsoft.com/office/drawing/2014/main" id="{36D26F31-0638-40A3-8A1C-0D083F633279}"/>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4C1CB"/>
                </a:solidFill>
                <a:latin typeface="Arial"/>
                <a:ea typeface="Arial"/>
                <a:cs typeface="Arial"/>
              </a:defRPr>
            </a:pPr>
            <a:r>
              <a:rPr sz="1125" b="0">
                <a:solidFill>
                  <a:srgbClr val="A4C1CB"/>
                </a:solidFill>
                <a:latin typeface="Arial"/>
                <a:ea typeface="Arial"/>
                <a:cs typeface="Arial"/>
              </a:rPr>
              <a:t>Lin et al., Microsoft COCO (2014); исходный кейс №15.</a:t>
            </a:r>
          </a:p>
        </p:txBody>
      </p:sp>
      <p:sp>
        <p:nvSpPr>
          <p:cNvPr id="7" name="">
            <a:extLst xmlns:a="http://schemas.openxmlformats.org/drawingml/2006/main">
              <a:ext uri="{FF2B5EF4-FFF2-40B4-BE49-F238E27FC236}">
                <a16:creationId xmlns:a16="http://schemas.microsoft.com/office/drawing/2014/main" id="{ABEC2603-5534-4826-833E-FE1467B9BABD}"/>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4C1CB"/>
                </a:solidFill>
                <a:latin typeface="Arial"/>
                <a:ea typeface="Arial"/>
                <a:cs typeface="Arial"/>
              </a:defRPr>
            </a:pPr>
            <a:r>
              <a:rPr sz="1275" b="0">
                <a:solidFill>
                  <a:srgbClr val="A4C1CB"/>
                </a:solidFill>
                <a:latin typeface="Arial"/>
                <a:ea typeface="Arial"/>
                <a:cs typeface="Arial"/>
              </a:rPr>
              <a:t>1 / 15</a:t>
            </a:r>
          </a:p>
        </p:txBody>
      </p:sp>
    </p:spTree>
    <p:extLst>
      <p:ext uri="{BB962C8B-B14F-4D97-AF65-F5344CB8AC3E}">
        <p14:creationId xmlns:p14="http://schemas.microsoft.com/office/powerpoint/2010/main" val="2129737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341624-EA15-4BBF-8FDF-06054133F518}"/>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Задача: определить тип уже выделенного объекта</a:t>
            </a:r>
          </a:p>
        </p:txBody>
      </p:sp>
      <p:sp>
        <p:nvSpPr>
          <p:cNvPr id="2" name="">
            <a:extLst xmlns:a="http://schemas.openxmlformats.org/drawingml/2006/main">
              <a:ext uri="{FF2B5EF4-FFF2-40B4-BE49-F238E27FC236}">
                <a16:creationId xmlns:a16="http://schemas.microsoft.com/office/drawing/2014/main" id="{956B252E-A681-4AAC-A524-2A16867912B7}"/>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Измеряем</a:t>
            </a:r>
          </a:p>
        </p:txBody>
      </p:sp>
      <p:sp>
        <p:nvSpPr>
          <p:cNvPr id="3" name="">
            <a:extLst xmlns:a="http://schemas.openxmlformats.org/drawingml/2006/main">
              <a:ext uri="{FF2B5EF4-FFF2-40B4-BE49-F238E27FC236}">
                <a16:creationId xmlns:a16="http://schemas.microsoft.com/office/drawing/2014/main" id="{EC162D71-9988-47A9-9388-3A027DB790DE}"/>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Macro-F1, accuracy и ошибки трёх классов на отложенных фотографиях.</a:t>
            </a:r>
          </a:p>
        </p:txBody>
      </p:sp>
      <p:sp>
        <p:nvSpPr>
          <p:cNvPr id="4" name="">
            <a:extLst xmlns:a="http://schemas.openxmlformats.org/drawingml/2006/main">
              <a:ext uri="{FF2B5EF4-FFF2-40B4-BE49-F238E27FC236}">
                <a16:creationId xmlns:a16="http://schemas.microsoft.com/office/drawing/2014/main" id="{43D64EC4-60B7-457C-8D52-516F4761F6EB}"/>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Требует нового исследования</a:t>
            </a:r>
          </a:p>
        </p:txBody>
      </p:sp>
      <p:sp>
        <p:nvSpPr>
          <p:cNvPr id="5" name="">
            <a:extLst xmlns:a="http://schemas.openxmlformats.org/drawingml/2006/main">
              <a:ext uri="{FF2B5EF4-FFF2-40B4-BE49-F238E27FC236}">
                <a16:creationId xmlns:a16="http://schemas.microsoft.com/office/drawing/2014/main" id="{BC1D31E5-057D-4E0D-9090-ABA728F582AC}"/>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Обнаружение на видео, трекинг и точность на дорогах Атырау.</a:t>
            </a:r>
          </a:p>
        </p:txBody>
      </p:sp>
      <p:sp>
        <p:nvSpPr>
          <p:cNvPr id="6" name="">
            <a:extLst xmlns:a="http://schemas.openxmlformats.org/drawingml/2006/main">
              <a:ext uri="{FF2B5EF4-FFF2-40B4-BE49-F238E27FC236}">
                <a16:creationId xmlns:a16="http://schemas.microsoft.com/office/drawing/2014/main" id="{7683D961-F237-4806-A1BF-A8807E9B42BE}"/>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Report.md, разделы 2 и 7; COCO instances_val2017.</a:t>
            </a:r>
          </a:p>
        </p:txBody>
      </p:sp>
      <p:sp>
        <p:nvSpPr>
          <p:cNvPr id="7" name="">
            <a:extLst xmlns:a="http://schemas.openxmlformats.org/drawingml/2006/main">
              <a:ext uri="{FF2B5EF4-FFF2-40B4-BE49-F238E27FC236}">
                <a16:creationId xmlns:a16="http://schemas.microsoft.com/office/drawing/2014/main" id="{F9ADBD85-5419-4145-9195-0684120A21E9}"/>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2 / 15</a:t>
            </a:r>
          </a:p>
        </p:txBody>
      </p:sp>
    </p:spTree>
    <p:extLst>
      <p:ext uri="{BB962C8B-B14F-4D97-AF65-F5344CB8AC3E}">
        <p14:creationId xmlns:p14="http://schemas.microsoft.com/office/powerpoint/2010/main" val="6811770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C6C0EC-DA28-4DD0-BBC2-E63013C860C6}"/>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Реальная выборка, но не городской транспортный поток</a:t>
            </a:r>
          </a:p>
        </p:txBody>
      </p:sp>
      <p:sp>
        <p:nvSpPr>
          <p:cNvPr id="2" name="">
            <a:extLst xmlns:a="http://schemas.openxmlformats.org/drawingml/2006/main">
              <a:ext uri="{FF2B5EF4-FFF2-40B4-BE49-F238E27FC236}">
                <a16:creationId xmlns:a16="http://schemas.microsoft.com/office/drawing/2014/main" id="{338A1D04-915B-4BBB-8842-EC76447B7B5D}"/>
              </a:ext>
            </a:extLst>
          </p:cNvPr>
          <p:cNvSpPr>
            <a:spLocks xmlns:a="http://schemas.openxmlformats.org/drawingml/2006/main" noGrp="1"/>
          </p:cNvSpPr>
          <p:nvPr/>
        </p:nvSpPr>
        <p:spPr>
          <a:xfrm xmlns:a="http://schemas.openxmlformats.org/drawingml/2006/main">
            <a:off x="64770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669</a:t>
            </a:r>
          </a:p>
        </p:txBody>
      </p:sp>
      <p:sp>
        <p:nvSpPr>
          <p:cNvPr id="3" name="">
            <a:extLst xmlns:a="http://schemas.openxmlformats.org/drawingml/2006/main">
              <a:ext uri="{FF2B5EF4-FFF2-40B4-BE49-F238E27FC236}">
                <a16:creationId xmlns:a16="http://schemas.microsoft.com/office/drawing/2014/main" id="{E84FBF41-DB57-428D-8300-BE7F1A098075}"/>
              </a:ext>
            </a:extLst>
          </p:cNvPr>
          <p:cNvSpPr>
            <a:spLocks xmlns:a="http://schemas.openxmlformats.org/drawingml/2006/main" noGrp="1"/>
          </p:cNvSpPr>
          <p:nvPr/>
        </p:nvSpPr>
        <p:spPr>
          <a:xfrm xmlns:a="http://schemas.openxmlformats.org/drawingml/2006/main">
            <a:off x="64770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размеченных объектов</a:t>
            </a:r>
          </a:p>
        </p:txBody>
      </p:sp>
      <p:sp>
        <p:nvSpPr>
          <p:cNvPr id="4" name="">
            <a:extLst xmlns:a="http://schemas.openxmlformats.org/drawingml/2006/main">
              <a:ext uri="{FF2B5EF4-FFF2-40B4-BE49-F238E27FC236}">
                <a16:creationId xmlns:a16="http://schemas.microsoft.com/office/drawing/2014/main" id="{39E969DB-11F1-4A17-8375-40AA18F0BC81}"/>
              </a:ext>
            </a:extLst>
          </p:cNvPr>
          <p:cNvSpPr>
            <a:spLocks xmlns:a="http://schemas.openxmlformats.org/drawingml/2006/main" noGrp="1"/>
          </p:cNvSpPr>
          <p:nvPr/>
        </p:nvSpPr>
        <p:spPr>
          <a:xfrm xmlns:a="http://schemas.openxmlformats.org/drawingml/2006/main">
            <a:off x="333375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337</a:t>
            </a:r>
          </a:p>
        </p:txBody>
      </p:sp>
      <p:sp>
        <p:nvSpPr>
          <p:cNvPr id="5" name="">
            <a:extLst xmlns:a="http://schemas.openxmlformats.org/drawingml/2006/main">
              <a:ext uri="{FF2B5EF4-FFF2-40B4-BE49-F238E27FC236}">
                <a16:creationId xmlns:a16="http://schemas.microsoft.com/office/drawing/2014/main" id="{DB4ECBEE-5207-4AB9-95E0-6F80F2883155}"/>
              </a:ext>
            </a:extLst>
          </p:cNvPr>
          <p:cNvSpPr>
            <a:spLocks xmlns:a="http://schemas.openxmlformats.org/drawingml/2006/main" noGrp="1"/>
          </p:cNvSpPr>
          <p:nvPr/>
        </p:nvSpPr>
        <p:spPr>
          <a:xfrm xmlns:a="http://schemas.openxmlformats.org/drawingml/2006/main">
            <a:off x="333375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исходных фотографий</a:t>
            </a:r>
          </a:p>
        </p:txBody>
      </p:sp>
      <p:sp>
        <p:nvSpPr>
          <p:cNvPr id="6" name="">
            <a:extLst xmlns:a="http://schemas.openxmlformats.org/drawingml/2006/main">
              <a:ext uri="{FF2B5EF4-FFF2-40B4-BE49-F238E27FC236}">
                <a16:creationId xmlns:a16="http://schemas.microsoft.com/office/drawing/2014/main" id="{C3A392C8-AB4F-4C6B-AC1B-77E9C6A92F14}"/>
              </a:ext>
            </a:extLst>
          </p:cNvPr>
          <p:cNvSpPr>
            <a:spLocks xmlns:a="http://schemas.openxmlformats.org/drawingml/2006/main" noGrp="1"/>
          </p:cNvSpPr>
          <p:nvPr/>
        </p:nvSpPr>
        <p:spPr>
          <a:xfrm xmlns:a="http://schemas.openxmlformats.org/drawingml/2006/main">
            <a:off x="601980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365</a:t>
            </a:r>
          </a:p>
        </p:txBody>
      </p:sp>
      <p:sp>
        <p:nvSpPr>
          <p:cNvPr id="7" name="">
            <a:extLst xmlns:a="http://schemas.openxmlformats.org/drawingml/2006/main">
              <a:ext uri="{FF2B5EF4-FFF2-40B4-BE49-F238E27FC236}">
                <a16:creationId xmlns:a16="http://schemas.microsoft.com/office/drawing/2014/main" id="{4199D37C-B4A8-476A-A638-5E4A2749ECF8}"/>
              </a:ext>
            </a:extLst>
          </p:cNvPr>
          <p:cNvSpPr>
            <a:spLocks xmlns:a="http://schemas.openxmlformats.org/drawingml/2006/main" noGrp="1"/>
          </p:cNvSpPr>
          <p:nvPr/>
        </p:nvSpPr>
        <p:spPr>
          <a:xfrm xmlns:a="http://schemas.openxmlformats.org/drawingml/2006/main">
            <a:off x="601980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car</a:t>
            </a:r>
          </a:p>
        </p:txBody>
      </p:sp>
      <p:sp>
        <p:nvSpPr>
          <p:cNvPr id="8" name="">
            <a:extLst xmlns:a="http://schemas.openxmlformats.org/drawingml/2006/main">
              <a:ext uri="{FF2B5EF4-FFF2-40B4-BE49-F238E27FC236}">
                <a16:creationId xmlns:a16="http://schemas.microsoft.com/office/drawing/2014/main" id="{AEA91616-0345-4DE7-BC58-1D7E0BC784E8}"/>
              </a:ext>
            </a:extLst>
          </p:cNvPr>
          <p:cNvSpPr>
            <a:spLocks xmlns:a="http://schemas.openxmlformats.org/drawingml/2006/main" noGrp="1"/>
          </p:cNvSpPr>
          <p:nvPr/>
        </p:nvSpPr>
        <p:spPr>
          <a:xfrm xmlns:a="http://schemas.openxmlformats.org/drawingml/2006/main">
            <a:off x="870585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304</a:t>
            </a:r>
          </a:p>
        </p:txBody>
      </p:sp>
      <p:sp>
        <p:nvSpPr>
          <p:cNvPr id="9" name="">
            <a:extLst xmlns:a="http://schemas.openxmlformats.org/drawingml/2006/main">
              <a:ext uri="{FF2B5EF4-FFF2-40B4-BE49-F238E27FC236}">
                <a16:creationId xmlns:a16="http://schemas.microsoft.com/office/drawing/2014/main" id="{E9D909CF-F0DA-4B64-8093-4F80D57D6784}"/>
              </a:ext>
            </a:extLst>
          </p:cNvPr>
          <p:cNvSpPr>
            <a:spLocks xmlns:a="http://schemas.openxmlformats.org/drawingml/2006/main" noGrp="1"/>
          </p:cNvSpPr>
          <p:nvPr/>
        </p:nvSpPr>
        <p:spPr>
          <a:xfrm xmlns:a="http://schemas.openxmlformats.org/drawingml/2006/main">
            <a:off x="870585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bus + truck</a:t>
            </a:r>
          </a:p>
        </p:txBody>
      </p:sp>
      <p:sp>
        <p:nvSpPr>
          <p:cNvPr id="10" name="">
            <a:extLst xmlns:a="http://schemas.openxmlformats.org/drawingml/2006/main">
              <a:ext uri="{FF2B5EF4-FFF2-40B4-BE49-F238E27FC236}">
                <a16:creationId xmlns:a16="http://schemas.microsoft.com/office/drawing/2014/main" id="{C67AE398-B613-4B2B-8402-14F99F4E5587}"/>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COCO val2017; dataset.csv; results/class_counts.csv.</a:t>
            </a:r>
          </a:p>
        </p:txBody>
      </p:sp>
      <p:sp>
        <p:nvSpPr>
          <p:cNvPr id="11" name="">
            <a:extLst xmlns:a="http://schemas.openxmlformats.org/drawingml/2006/main">
              <a:ext uri="{FF2B5EF4-FFF2-40B4-BE49-F238E27FC236}">
                <a16:creationId xmlns:a16="http://schemas.microsoft.com/office/drawing/2014/main" id="{9EB9CE00-F506-4800-9E7D-546BDD7A0EAC}"/>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3 / 15</a:t>
            </a:r>
          </a:p>
        </p:txBody>
      </p:sp>
    </p:spTree>
    <p:extLst>
      <p:ext uri="{BB962C8B-B14F-4D97-AF65-F5344CB8AC3E}">
        <p14:creationId xmlns:p14="http://schemas.microsoft.com/office/powerpoint/2010/main" val="18039056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D01222-3B01-4257-B287-95316016619E}"/>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Отбор данных полностью восстанавливается</a:t>
            </a:r>
          </a:p>
        </p:txBody>
      </p:sp>
      <p:graphicFrame>
        <p:nvGraphicFramePr>
          <p:cNvPr id="6" name=""/>
          <p:cNvGraphicFramePr/>
          <p:nvPr/>
        </p:nvGraphicFramePr>
        <p:xfrm>
          <a:off xmlns:a="http://schemas.openxmlformats.org/drawingml/2006/main" x="647700" y="1819275"/>
          <a:ext xmlns:a="http://schemas.openxmlformats.org/drawingml/2006/main" cx="10858500" cy="2714625"/>
        </p:xfrm>
        <a:graphic xmlns:a="http://schemas.openxmlformats.org/drawingml/2006/main">
          <a:graphicData uri="http://schemas.openxmlformats.org/drawingml/2006/table">
            <a:tbl>
              <a:tblPr firstRow="1" bandRow="0"/>
              <a:tblGrid>
                <a:gridCol w="3909060"/>
                <a:gridCol w="3474720"/>
                <a:gridCol w="3474720"/>
              </a:tblGrid>
              <a:tr h="542925">
                <a:tc>
                  <a:txBody>
                    <a:bodyPr/>
                    <a:lstStyle/>
                    <a:p>
                      <a:r>
                        <a:rPr sz="1650" b="1">
                          <a:solidFill>
                            <a:srgbClr val="FFFFFF"/>
                          </a:solidFill>
                          <a:latin typeface="Arial"/>
                          <a:ea typeface="Arial"/>
                          <a:cs typeface="Arial"/>
                        </a:rPr>
                        <a:t>Этап</a:t>
                      </a:r>
                    </a:p>
                  </a:txBody>
                  <a:tcPr marL="91440" marR="91440" marT="45720" marB="45720">
                    <a:solidFill>
                      <a:srgbClr val="102B3A"/>
                    </a:solidFill>
                  </a:tcPr>
                </a:tc>
                <a:tc>
                  <a:txBody>
                    <a:bodyPr/>
                    <a:lstStyle/>
                    <a:p>
                      <a:r>
                        <a:rPr sz="1650" b="1">
                          <a:solidFill>
                            <a:srgbClr val="FFFFFF"/>
                          </a:solidFill>
                          <a:latin typeface="Arial"/>
                          <a:ea typeface="Arial"/>
                          <a:cs typeface="Arial"/>
                        </a:rPr>
                        <a:t>Объекты</a:t>
                      </a:r>
                    </a:p>
                  </a:txBody>
                  <a:tcPr marL="91440" marR="91440" marT="45720" marB="45720">
                    <a:solidFill>
                      <a:srgbClr val="102B3A"/>
                    </a:solidFill>
                  </a:tcPr>
                </a:tc>
                <a:tc>
                  <a:txBody>
                    <a:bodyPr/>
                    <a:lstStyle/>
                    <a:p>
                      <a:r>
                        <a:rPr sz="1650" b="1">
                          <a:solidFill>
                            <a:srgbClr val="FFFFFF"/>
                          </a:solidFill>
                          <a:latin typeface="Arial"/>
                          <a:ea typeface="Arial"/>
                          <a:cs typeface="Arial"/>
                        </a:rPr>
                        <a:t>Фото</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Исходные car, bus, truck</a:t>
                      </a:r>
                    </a:p>
                  </a:txBody>
                  <a:tcPr marL="91440" marR="91440" marT="45720" marB="45720">
                    <a:solidFill>
                      <a:srgbClr val="F2F6F8"/>
                    </a:solidFill>
                  </a:tcPr>
                </a:tc>
                <a:tc>
                  <a:txBody>
                    <a:bodyPr/>
                    <a:lstStyle/>
                    <a:p>
                      <a:r>
                        <a:rPr sz="1800" b="0">
                          <a:solidFill>
                            <a:srgbClr val="173342"/>
                          </a:solidFill>
                          <a:latin typeface="Arial"/>
                          <a:ea typeface="Arial"/>
                          <a:cs typeface="Arial"/>
                        </a:rPr>
                        <a:t>2632</a:t>
                      </a:r>
                    </a:p>
                  </a:txBody>
                  <a:tcPr marL="91440" marR="91440" marT="45720" marB="45720">
                    <a:solidFill>
                      <a:srgbClr val="F2F6F8"/>
                    </a:solidFill>
                  </a:tcPr>
                </a:tc>
                <a:tc>
                  <a:txBody>
                    <a:bodyPr/>
                    <a:lstStyle/>
                    <a:p>
                      <a:r>
                        <a:rPr sz="1800" b="0">
                          <a:solidFill>
                            <a:srgbClr val="173342"/>
                          </a:solidFill>
                          <a:latin typeface="Arial"/>
                          <a:ea typeface="Arial"/>
                          <a:cs typeface="Arial"/>
                        </a:rPr>
                        <a:t>707</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Лицензия BY / BY-SA / BY-NC / BY-NC-SA</a:t>
                      </a:r>
                    </a:p>
                  </a:txBody>
                  <a:tcPr marL="91440" marR="91440" marT="45720" marB="45720">
                    <a:solidFill>
                      <a:srgbClr val="FFFFFF"/>
                    </a:solidFill>
                  </a:tcPr>
                </a:tc>
                <a:tc>
                  <a:txBody>
                    <a:bodyPr/>
                    <a:lstStyle/>
                    <a:p>
                      <a:r>
                        <a:rPr sz="1800" b="0">
                          <a:solidFill>
                            <a:srgbClr val="173342"/>
                          </a:solidFill>
                          <a:latin typeface="Arial"/>
                          <a:ea typeface="Arial"/>
                          <a:cs typeface="Arial"/>
                        </a:rPr>
                        <a:t>1855</a:t>
                      </a:r>
                    </a:p>
                  </a:txBody>
                  <a:tcPr marL="91440" marR="91440" marT="45720" marB="45720">
                    <a:solidFill>
                      <a:srgbClr val="FFFFFF"/>
                    </a:solidFill>
                  </a:tcPr>
                </a:tc>
                <a:tc>
                  <a:txBody>
                    <a:bodyPr/>
                    <a:lstStyle/>
                    <a:p>
                      <a:r>
                        <a:rPr sz="1800" b="0">
                          <a:solidFill>
                            <a:srgbClr val="173342"/>
                          </a:solidFill>
                          <a:latin typeface="Arial"/>
                          <a:ea typeface="Arial"/>
                          <a:cs typeface="Arial"/>
                        </a:rPr>
                        <a:t>479</a:t>
                      </a:r>
                    </a:p>
                  </a:txBody>
                  <a:tcPr marL="91440" marR="91440" marT="45720" marB="45720">
                    <a:solidFill>
                      <a:srgbClr val="FFFFFF"/>
                    </a:solidFill>
                  </a:tcPr>
                </a:tc>
              </a:tr>
              <a:tr h="542925">
                <a:tc>
                  <a:txBody>
                    <a:bodyPr/>
                    <a:lstStyle/>
                    <a:p>
                      <a:r>
                        <a:rPr sz="1800" b="0">
                          <a:solidFill>
                            <a:srgbClr val="173342"/>
                          </a:solidFill>
                          <a:latin typeface="Arial"/>
                          <a:ea typeface="Arial"/>
                          <a:cs typeface="Arial"/>
                        </a:rPr>
                        <a:t>Исключены crowd-объекты</a:t>
                      </a:r>
                    </a:p>
                  </a:txBody>
                  <a:tcPr marL="91440" marR="91440" marT="45720" marB="45720">
                    <a:solidFill>
                      <a:srgbClr val="F2F6F8"/>
                    </a:solidFill>
                  </a:tcPr>
                </a:tc>
                <a:tc>
                  <a:txBody>
                    <a:bodyPr/>
                    <a:lstStyle/>
                    <a:p>
                      <a:r>
                        <a:rPr sz="1800" b="0">
                          <a:solidFill>
                            <a:srgbClr val="173342"/>
                          </a:solidFill>
                          <a:latin typeface="Arial"/>
                          <a:ea typeface="Arial"/>
                          <a:cs typeface="Arial"/>
                        </a:rPr>
                        <a:t>1842</a:t>
                      </a:r>
                    </a:p>
                  </a:txBody>
                  <a:tcPr marL="91440" marR="91440" marT="45720" marB="45720">
                    <a:solidFill>
                      <a:srgbClr val="F2F6F8"/>
                    </a:solidFill>
                  </a:tcPr>
                </a:tc>
                <a:tc>
                  <a:txBody>
                    <a:bodyPr/>
                    <a:lstStyle/>
                    <a:p>
                      <a:r>
                        <a:rPr sz="1800" b="0">
                          <a:solidFill>
                            <a:srgbClr val="173342"/>
                          </a:solidFill>
                          <a:latin typeface="Arial"/>
                          <a:ea typeface="Arial"/>
                          <a:cs typeface="Arial"/>
                        </a:rPr>
                        <a:t>479</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Обе стороны рамки не меньше 40 пикселей</a:t>
                      </a:r>
                    </a:p>
                  </a:txBody>
                  <a:tcPr marL="91440" marR="91440" marT="45720" marB="45720">
                    <a:solidFill>
                      <a:srgbClr val="FFFFFF"/>
                    </a:solidFill>
                  </a:tcPr>
                </a:tc>
                <a:tc>
                  <a:txBody>
                    <a:bodyPr/>
                    <a:lstStyle/>
                    <a:p>
                      <a:r>
                        <a:rPr sz="1800" b="0">
                          <a:solidFill>
                            <a:srgbClr val="173342"/>
                          </a:solidFill>
                          <a:latin typeface="Arial"/>
                          <a:ea typeface="Arial"/>
                          <a:cs typeface="Arial"/>
                        </a:rPr>
                        <a:t>669</a:t>
                      </a:r>
                    </a:p>
                  </a:txBody>
                  <a:tcPr marL="91440" marR="91440" marT="45720" marB="45720">
                    <a:solidFill>
                      <a:srgbClr val="FFFFFF"/>
                    </a:solidFill>
                  </a:tcPr>
                </a:tc>
                <a:tc>
                  <a:txBody>
                    <a:bodyPr/>
                    <a:lstStyle/>
                    <a:p>
                      <a:r>
                        <a:rPr sz="1800" b="0">
                          <a:solidFill>
                            <a:srgbClr val="173342"/>
                          </a:solidFill>
                          <a:latin typeface="Arial"/>
                          <a:ea typeface="Arial"/>
                          <a:cs typeface="Arial"/>
                        </a:rPr>
                        <a:t>337</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FCC5774-506F-4BF3-B646-DB2F39610CC8}"/>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Исходный JSON COCO; results/selection_funnel.csv.</a:t>
            </a:r>
          </a:p>
        </p:txBody>
      </p:sp>
      <p:sp>
        <p:nvSpPr>
          <p:cNvPr id="4" name="">
            <a:extLst xmlns:a="http://schemas.openxmlformats.org/drawingml/2006/main">
              <a:ext uri="{FF2B5EF4-FFF2-40B4-BE49-F238E27FC236}">
                <a16:creationId xmlns:a16="http://schemas.microsoft.com/office/drawing/2014/main" id="{D61655CF-57F1-48E2-BC2C-BE6A207518F1}"/>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4 / 15</a:t>
            </a:r>
          </a:p>
        </p:txBody>
      </p:sp>
    </p:spTree>
    <p:extLst>
      <p:ext uri="{BB962C8B-B14F-4D97-AF65-F5344CB8AC3E}">
        <p14:creationId xmlns:p14="http://schemas.microsoft.com/office/powerpoint/2010/main" val="7300351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89EAC3-BDD4-44C2-AB78-4153E761B026}"/>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Лицензия аннотаций не заменяет лицензию фотографии</a:t>
            </a:r>
          </a:p>
        </p:txBody>
      </p:sp>
      <p:sp>
        <p:nvSpPr>
          <p:cNvPr id="2" name="">
            <a:extLst xmlns:a="http://schemas.openxmlformats.org/drawingml/2006/main">
              <a:ext uri="{FF2B5EF4-FFF2-40B4-BE49-F238E27FC236}">
                <a16:creationId xmlns:a16="http://schemas.microsoft.com/office/drawing/2014/main" id="{0D2930D0-AD30-4CCB-A654-506AA5740F6F}"/>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Сохранено</a:t>
            </a:r>
          </a:p>
        </p:txBody>
      </p:sp>
      <p:sp>
        <p:nvSpPr>
          <p:cNvPr id="3" name="">
            <a:extLst xmlns:a="http://schemas.openxmlformats.org/drawingml/2006/main">
              <a:ext uri="{FF2B5EF4-FFF2-40B4-BE49-F238E27FC236}">
                <a16:creationId xmlns:a16="http://schemas.microsoft.com/office/drawing/2014/main" id="{774252F4-D05C-4356-9228-4116A6DF4EC3}"/>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CC BY, BY-SA, BY-NC, BY-NC-SA 2.0; ссылки Flickr и условия каждой фотографии.</a:t>
            </a:r>
          </a:p>
        </p:txBody>
      </p:sp>
      <p:sp>
        <p:nvSpPr>
          <p:cNvPr id="4" name="">
            <a:extLst xmlns:a="http://schemas.openxmlformats.org/drawingml/2006/main">
              <a:ext uri="{FF2B5EF4-FFF2-40B4-BE49-F238E27FC236}">
                <a16:creationId xmlns:a16="http://schemas.microsoft.com/office/drawing/2014/main" id="{05508E05-5D3E-451B-B8AD-0152D4986D64}"/>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Ограничение</a:t>
            </a:r>
          </a:p>
        </p:txBody>
      </p:sp>
      <p:sp>
        <p:nvSpPr>
          <p:cNvPr id="5" name="">
            <a:extLst xmlns:a="http://schemas.openxmlformats.org/drawingml/2006/main">
              <a:ext uri="{FF2B5EF4-FFF2-40B4-BE49-F238E27FC236}">
                <a16:creationId xmlns:a16="http://schemas.microsoft.com/office/drawing/2014/main" id="{EC6D9597-D92B-46C6-BE1F-98F41B5CC62D}"/>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Имена авторов отсутствуют в JSON. Для публикации нужна дополнительная проверка атрибуции.</a:t>
            </a:r>
          </a:p>
        </p:txBody>
      </p:sp>
      <p:sp>
        <p:nvSpPr>
          <p:cNvPr id="6" name="">
            <a:extLst xmlns:a="http://schemas.openxmlformats.org/drawingml/2006/main">
              <a:ext uri="{FF2B5EF4-FFF2-40B4-BE49-F238E27FC236}">
                <a16:creationId xmlns:a16="http://schemas.microsoft.com/office/drawing/2014/main" id="{99C673D5-261A-4EF7-9131-01BAE263E0E8}"/>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COCO Terms of Use; results/image_attribution.csv; CC 2.0.</a:t>
            </a:r>
          </a:p>
        </p:txBody>
      </p:sp>
      <p:sp>
        <p:nvSpPr>
          <p:cNvPr id="7" name="">
            <a:extLst xmlns:a="http://schemas.openxmlformats.org/drawingml/2006/main">
              <a:ext uri="{FF2B5EF4-FFF2-40B4-BE49-F238E27FC236}">
                <a16:creationId xmlns:a16="http://schemas.microsoft.com/office/drawing/2014/main" id="{3A78E3AD-0AF7-492B-AE75-78A24B5618C5}"/>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5 / 15</a:t>
            </a:r>
          </a:p>
        </p:txBody>
      </p:sp>
    </p:spTree>
    <p:extLst>
      <p:ext uri="{BB962C8B-B14F-4D97-AF65-F5344CB8AC3E}">
        <p14:creationId xmlns:p14="http://schemas.microsoft.com/office/powerpoint/2010/main" val="16244567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32CC78-B57B-4D20-ABEE-ABEE482DE75B}"/>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Все объекты одной фотографии остаются вместе</a:t>
            </a:r>
          </a:p>
        </p:txBody>
      </p:sp>
      <p:sp>
        <p:nvSpPr>
          <p:cNvPr id="2" name="">
            <a:extLst xmlns:a="http://schemas.openxmlformats.org/drawingml/2006/main">
              <a:ext uri="{FF2B5EF4-FFF2-40B4-BE49-F238E27FC236}">
                <a16:creationId xmlns:a16="http://schemas.microsoft.com/office/drawing/2014/main" id="{21BA5A5E-2052-490C-927E-ECEB28B1531D}"/>
              </a:ext>
            </a:extLst>
          </p:cNvPr>
          <p:cNvSpPr>
            <a:spLocks xmlns:a="http://schemas.openxmlformats.org/drawingml/2006/main" noGrp="1"/>
          </p:cNvSpPr>
          <p:nvPr/>
        </p:nvSpPr>
        <p:spPr>
          <a:xfrm xmlns:a="http://schemas.openxmlformats.org/drawingml/2006/main">
            <a:off x="6477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AE562D"/>
                </a:solidFill>
                <a:latin typeface="Arial"/>
                <a:ea typeface="Arial"/>
                <a:cs typeface="Arial"/>
              </a:defRPr>
            </a:pPr>
            <a:r>
              <a:rPr sz="5400" b="1">
                <a:solidFill>
                  <a:srgbClr val="AE562D"/>
                </a:solidFill>
                <a:latin typeface="Arial"/>
                <a:ea typeface="Arial"/>
                <a:cs typeface="Arial"/>
              </a:rPr>
              <a:t>403</a:t>
            </a:r>
          </a:p>
        </p:txBody>
      </p:sp>
      <p:sp>
        <p:nvSpPr>
          <p:cNvPr id="3" name="">
            <a:extLst xmlns:a="http://schemas.openxmlformats.org/drawingml/2006/main">
              <a:ext uri="{FF2B5EF4-FFF2-40B4-BE49-F238E27FC236}">
                <a16:creationId xmlns:a16="http://schemas.microsoft.com/office/drawing/2014/main" id="{E40AB70F-A8D5-41D4-8E75-0697170D98DE}"/>
              </a:ext>
            </a:extLst>
          </p:cNvPr>
          <p:cNvSpPr>
            <a:spLocks xmlns:a="http://schemas.openxmlformats.org/drawingml/2006/main" noGrp="1"/>
          </p:cNvSpPr>
          <p:nvPr/>
        </p:nvSpPr>
        <p:spPr>
          <a:xfrm xmlns:a="http://schemas.openxmlformats.org/drawingml/2006/main">
            <a:off x="6477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train · 206 групп</a:t>
            </a:r>
          </a:p>
        </p:txBody>
      </p:sp>
      <p:sp>
        <p:nvSpPr>
          <p:cNvPr id="4" name="">
            <a:extLst xmlns:a="http://schemas.openxmlformats.org/drawingml/2006/main">
              <a:ext uri="{FF2B5EF4-FFF2-40B4-BE49-F238E27FC236}">
                <a16:creationId xmlns:a16="http://schemas.microsoft.com/office/drawing/2014/main" id="{738F2C67-CD12-4F39-B552-86B2B59CF4AF}"/>
              </a:ext>
            </a:extLst>
          </p:cNvPr>
          <p:cNvSpPr>
            <a:spLocks xmlns:a="http://schemas.openxmlformats.org/drawingml/2006/main" noGrp="1"/>
          </p:cNvSpPr>
          <p:nvPr/>
        </p:nvSpPr>
        <p:spPr>
          <a:xfrm xmlns:a="http://schemas.openxmlformats.org/drawingml/2006/main">
            <a:off x="42291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AE562D"/>
                </a:solidFill>
                <a:latin typeface="Arial"/>
                <a:ea typeface="Arial"/>
                <a:cs typeface="Arial"/>
              </a:defRPr>
            </a:pPr>
            <a:r>
              <a:rPr sz="5400" b="1">
                <a:solidFill>
                  <a:srgbClr val="AE562D"/>
                </a:solidFill>
                <a:latin typeface="Arial"/>
                <a:ea typeface="Arial"/>
                <a:cs typeface="Arial"/>
              </a:rPr>
              <a:t>133</a:t>
            </a:r>
          </a:p>
        </p:txBody>
      </p:sp>
      <p:sp>
        <p:nvSpPr>
          <p:cNvPr id="5" name="">
            <a:extLst xmlns:a="http://schemas.openxmlformats.org/drawingml/2006/main">
              <a:ext uri="{FF2B5EF4-FFF2-40B4-BE49-F238E27FC236}">
                <a16:creationId xmlns:a16="http://schemas.microsoft.com/office/drawing/2014/main" id="{E78FE79A-FBA4-4EE1-B4B3-063C30FA3FBE}"/>
              </a:ext>
            </a:extLst>
          </p:cNvPr>
          <p:cNvSpPr>
            <a:spLocks xmlns:a="http://schemas.openxmlformats.org/drawingml/2006/main" noGrp="1"/>
          </p:cNvSpPr>
          <p:nvPr/>
        </p:nvSpPr>
        <p:spPr>
          <a:xfrm xmlns:a="http://schemas.openxmlformats.org/drawingml/2006/main">
            <a:off x="42291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validation · 67 групп</a:t>
            </a:r>
          </a:p>
        </p:txBody>
      </p:sp>
      <p:sp>
        <p:nvSpPr>
          <p:cNvPr id="6" name="">
            <a:extLst xmlns:a="http://schemas.openxmlformats.org/drawingml/2006/main">
              <a:ext uri="{FF2B5EF4-FFF2-40B4-BE49-F238E27FC236}">
                <a16:creationId xmlns:a16="http://schemas.microsoft.com/office/drawing/2014/main" id="{90C72BED-254C-4581-B750-77105BEAC131}"/>
              </a:ext>
            </a:extLst>
          </p:cNvPr>
          <p:cNvSpPr>
            <a:spLocks xmlns:a="http://schemas.openxmlformats.org/drawingml/2006/main" noGrp="1"/>
          </p:cNvSpPr>
          <p:nvPr/>
        </p:nvSpPr>
        <p:spPr>
          <a:xfrm xmlns:a="http://schemas.openxmlformats.org/drawingml/2006/main">
            <a:off x="78105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AE562D"/>
                </a:solidFill>
                <a:latin typeface="Arial"/>
                <a:ea typeface="Arial"/>
                <a:cs typeface="Arial"/>
              </a:defRPr>
            </a:pPr>
            <a:r>
              <a:rPr sz="5400" b="1">
                <a:solidFill>
                  <a:srgbClr val="AE562D"/>
                </a:solidFill>
                <a:latin typeface="Arial"/>
                <a:ea typeface="Arial"/>
                <a:cs typeface="Arial"/>
              </a:rPr>
              <a:t>133</a:t>
            </a:r>
          </a:p>
        </p:txBody>
      </p:sp>
      <p:sp>
        <p:nvSpPr>
          <p:cNvPr id="7" name="">
            <a:extLst xmlns:a="http://schemas.openxmlformats.org/drawingml/2006/main">
              <a:ext uri="{FF2B5EF4-FFF2-40B4-BE49-F238E27FC236}">
                <a16:creationId xmlns:a16="http://schemas.microsoft.com/office/drawing/2014/main" id="{9710DB7C-D423-435C-919C-53395C7174EB}"/>
              </a:ext>
            </a:extLst>
          </p:cNvPr>
          <p:cNvSpPr>
            <a:spLocks xmlns:a="http://schemas.openxmlformats.org/drawingml/2006/main" noGrp="1"/>
          </p:cNvSpPr>
          <p:nvPr/>
        </p:nvSpPr>
        <p:spPr>
          <a:xfrm xmlns:a="http://schemas.openxmlformats.org/drawingml/2006/main">
            <a:off x="78105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test · 64 групп</a:t>
            </a:r>
          </a:p>
        </p:txBody>
      </p:sp>
      <p:sp>
        <p:nvSpPr>
          <p:cNvPr id="8" name="">
            <a:extLst xmlns:a="http://schemas.openxmlformats.org/drawingml/2006/main">
              <a:ext uri="{FF2B5EF4-FFF2-40B4-BE49-F238E27FC236}">
                <a16:creationId xmlns:a16="http://schemas.microsoft.com/office/drawing/2014/main" id="{68E4BC0D-7661-4F14-868F-D76A7F88C8BF}"/>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results/split_manifest.csv; results/split_protocol.json; seed 42.</a:t>
            </a:r>
          </a:p>
        </p:txBody>
      </p:sp>
      <p:sp>
        <p:nvSpPr>
          <p:cNvPr id="9" name="">
            <a:extLst xmlns:a="http://schemas.openxmlformats.org/drawingml/2006/main">
              <a:ext uri="{FF2B5EF4-FFF2-40B4-BE49-F238E27FC236}">
                <a16:creationId xmlns:a16="http://schemas.microsoft.com/office/drawing/2014/main" id="{46F349D8-6D63-484C-AA04-1D0ABCFCC0B0}"/>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6 / 15</a:t>
            </a:r>
          </a:p>
        </p:txBody>
      </p:sp>
    </p:spTree>
    <p:extLst>
      <p:ext uri="{BB962C8B-B14F-4D97-AF65-F5344CB8AC3E}">
        <p14:creationId xmlns:p14="http://schemas.microsoft.com/office/powerpoint/2010/main" val="10870149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1C5423-85FD-463B-A1FC-6AA30BB0DD5D}"/>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Обучено пять конфигураций; выбор сделан по validation</a:t>
            </a:r>
          </a:p>
        </p:txBody>
      </p:sp>
      <p:sp>
        <p:nvSpPr>
          <p:cNvPr id="2" name="">
            <a:extLst xmlns:a="http://schemas.openxmlformats.org/drawingml/2006/main">
              <a:ext uri="{FF2B5EF4-FFF2-40B4-BE49-F238E27FC236}">
                <a16:creationId xmlns:a16="http://schemas.microsoft.com/office/drawing/2014/main" id="{56A423D2-9910-43A8-B3CA-1F35E4D371FB}"/>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Признаки и модели</a:t>
            </a:r>
          </a:p>
        </p:txBody>
      </p:sp>
      <p:sp>
        <p:nvSpPr>
          <p:cNvPr id="3" name="">
            <a:extLst xmlns:a="http://schemas.openxmlformats.org/drawingml/2006/main">
              <a:ext uri="{FF2B5EF4-FFF2-40B4-BE49-F238E27FC236}">
                <a16:creationId xmlns:a16="http://schemas.microsoft.com/office/drawing/2014/main" id="{9B0F45EA-BF9E-404C-AFA0-5D2716FF9C38}"/>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1813 признаков: HOG + RGB + форма. Majority, логистическая регрессия, случайный лес.</a:t>
            </a:r>
          </a:p>
        </p:txBody>
      </p:sp>
      <p:sp>
        <p:nvSpPr>
          <p:cNvPr id="4" name="">
            <a:extLst xmlns:a="http://schemas.openxmlformats.org/drawingml/2006/main">
              <a:ext uri="{FF2B5EF4-FFF2-40B4-BE49-F238E27FC236}">
                <a16:creationId xmlns:a16="http://schemas.microsoft.com/office/drawing/2014/main" id="{0EE438C9-37AF-4AEB-A2DE-B6F9E3805CA0}"/>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Критерий выбора</a:t>
            </a:r>
          </a:p>
        </p:txBody>
      </p:sp>
      <p:sp>
        <p:nvSpPr>
          <p:cNvPr id="5" name="">
            <a:extLst xmlns:a="http://schemas.openxmlformats.org/drawingml/2006/main">
              <a:ext uri="{FF2B5EF4-FFF2-40B4-BE49-F238E27FC236}">
                <a16:creationId xmlns:a16="http://schemas.microsoft.com/office/drawing/2014/main" id="{13BE622E-8946-4664-9442-F186BB1B9363}"/>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Macro-F1 validation = 0.531. Logistic C = 1; scaler только train.</a:t>
            </a:r>
          </a:p>
        </p:txBody>
      </p:sp>
      <p:sp>
        <p:nvSpPr>
          <p:cNvPr id="6" name="">
            <a:extLst xmlns:a="http://schemas.openxmlformats.org/drawingml/2006/main">
              <a:ext uri="{FF2B5EF4-FFF2-40B4-BE49-F238E27FC236}">
                <a16:creationId xmlns:a16="http://schemas.microsoft.com/office/drawing/2014/main" id="{527066F2-D346-41FC-AC11-154A9D805551}"/>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Dalal &amp; Triggs (2005); training_history.csv; models/metadata.json.</a:t>
            </a:r>
          </a:p>
        </p:txBody>
      </p:sp>
      <p:sp>
        <p:nvSpPr>
          <p:cNvPr id="7" name="">
            <a:extLst xmlns:a="http://schemas.openxmlformats.org/drawingml/2006/main">
              <a:ext uri="{FF2B5EF4-FFF2-40B4-BE49-F238E27FC236}">
                <a16:creationId xmlns:a16="http://schemas.microsoft.com/office/drawing/2014/main" id="{504CAC8E-E116-478F-96E0-6494F74757D1}"/>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7 / 15</a:t>
            </a:r>
          </a:p>
        </p:txBody>
      </p:sp>
    </p:spTree>
    <p:extLst>
      <p:ext uri="{BB962C8B-B14F-4D97-AF65-F5344CB8AC3E}">
        <p14:creationId xmlns:p14="http://schemas.microsoft.com/office/powerpoint/2010/main" val="1398104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E1EED4-F335-422B-BF0E-36D1BF196A2B}"/>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Macro-F1 выросла, общая доля верных ответов — нет</a:t>
            </a:r>
          </a:p>
        </p:txBody>
      </p:sp>
      <p:graphicFrame>
        <p:nvGraphicFramePr>
          <p:cNvPr id="7" name="Chart"/>
          <p:cNvGraphicFramePr/>
          <p:nvPr/>
        </p:nvGraphicFramePr>
        <p:xfrm>
          <a:off xmlns:a="http://schemas.openxmlformats.org/drawingml/2006/main" x="552450" y="1762125"/>
          <a:ext xmlns:a="http://schemas.openxmlformats.org/drawingml/2006/main" cx="7543800" cy="3962400"/>
        </p:xfrm>
        <a:graphic xmlns:a="http://schemas.openxmlformats.org/drawingml/2006/main">
          <a:graphicData uri="http://schemas.openxmlformats.org/drawingml/2006/chart">
            <c:chart xmlns:r="http://schemas.openxmlformats.org/officeDocument/2006/relationships" xmlns:c="http://schemas.openxmlformats.org/drawingml/2006/chart" r:id="R55cbc36f188d44a2"/>
          </a:graphicData>
        </a:graphic>
      </p:graphicFrame>
      <p:sp>
        <p:nvSpPr>
          <p:cNvPr id="3" name="">
            <a:extLst xmlns:a="http://schemas.openxmlformats.org/drawingml/2006/main">
              <a:ext uri="{FF2B5EF4-FFF2-40B4-BE49-F238E27FC236}">
                <a16:creationId xmlns:a16="http://schemas.microsoft.com/office/drawing/2014/main" id="{EB955DD1-8549-40CB-86A7-6858F0CA353E}"/>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Одинаковый test: 133 объектов. Модель выбрана до просмотра test.</a:t>
            </a:r>
          </a:p>
        </p:txBody>
      </p:sp>
      <p:sp>
        <p:nvSpPr>
          <p:cNvPr id="4" name="">
            <a:extLst xmlns:a="http://schemas.openxmlformats.org/drawingml/2006/main">
              <a:ext uri="{FF2B5EF4-FFF2-40B4-BE49-F238E27FC236}">
                <a16:creationId xmlns:a16="http://schemas.microsoft.com/office/drawing/2014/main" id="{00F202C2-5078-4D8A-851E-310869341B8B}"/>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results/metrics.json; scikit-learn f1_score documentation.</a:t>
            </a:r>
          </a:p>
        </p:txBody>
      </p:sp>
      <p:sp>
        <p:nvSpPr>
          <p:cNvPr id="5" name="">
            <a:extLst xmlns:a="http://schemas.openxmlformats.org/drawingml/2006/main">
              <a:ext uri="{FF2B5EF4-FFF2-40B4-BE49-F238E27FC236}">
                <a16:creationId xmlns:a16="http://schemas.microsoft.com/office/drawing/2014/main" id="{EE369D6E-A787-42A4-80D2-877FDDD13709}"/>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8 / 15</a:t>
            </a:r>
          </a:p>
        </p:txBody>
      </p:sp>
    </p:spTree>
    <p:extLst>
      <p:ext uri="{BB962C8B-B14F-4D97-AF65-F5344CB8AC3E}">
        <p14:creationId xmlns:p14="http://schemas.microsoft.com/office/powerpoint/2010/main" val="8724811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2DFA88-70FC-4DFD-938D-6081989F3F62}"/>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Одинаковая accuracy скрывает разные ошибки</a:t>
            </a:r>
          </a:p>
        </p:txBody>
      </p:sp>
      <p:graphicFrame>
        <p:nvGraphicFramePr>
          <p:cNvPr id="7" name=""/>
          <p:cNvGraphicFramePr/>
          <p:nvPr/>
        </p:nvGraphicFramePr>
        <p:xfrm>
          <a:off xmlns:a="http://schemas.openxmlformats.org/drawingml/2006/main" x="647700" y="1819275"/>
          <a:ext xmlns:a="http://schemas.openxmlformats.org/drawingml/2006/main" cx="10858500" cy="2171700"/>
        </p:xfrm>
        <a:graphic xmlns:a="http://schemas.openxmlformats.org/drawingml/2006/main">
          <a:graphicData uri="http://schemas.openxmlformats.org/drawingml/2006/table">
            <a:tbl>
              <a:tblPr firstRow="1" bandRow="0"/>
              <a:tblGrid>
                <a:gridCol w="3909060"/>
                <a:gridCol w="1737360"/>
                <a:gridCol w="1737360"/>
                <a:gridCol w="1737360"/>
                <a:gridCol w="1737360"/>
              </a:tblGrid>
              <a:tr h="542925">
                <a:tc>
                  <a:txBody>
                    <a:bodyPr/>
                    <a:lstStyle/>
                    <a:p>
                      <a:r>
                        <a:rPr sz="1650" b="1">
                          <a:solidFill>
                            <a:srgbClr val="FFFFFF"/>
                          </a:solidFill>
                          <a:latin typeface="Arial"/>
                          <a:ea typeface="Arial"/>
                          <a:cs typeface="Arial"/>
                        </a:rPr>
                        <a:t>Модель</a:t>
                      </a:r>
                    </a:p>
                  </a:txBody>
                  <a:tcPr marL="91440" marR="91440" marT="45720" marB="45720">
                    <a:solidFill>
                      <a:srgbClr val="102B3A"/>
                    </a:solidFill>
                  </a:tcPr>
                </a:tc>
                <a:tc>
                  <a:txBody>
                    <a:bodyPr/>
                    <a:lstStyle/>
                    <a:p>
                      <a:r>
                        <a:rPr sz="1650" b="1">
                          <a:solidFill>
                            <a:srgbClr val="FFFFFF"/>
                          </a:solidFill>
                          <a:latin typeface="Arial"/>
                          <a:ea typeface="Arial"/>
                          <a:cs typeface="Arial"/>
                        </a:rPr>
                        <a:t>bus</a:t>
                      </a:r>
                    </a:p>
                  </a:txBody>
                  <a:tcPr marL="91440" marR="91440" marT="45720" marB="45720">
                    <a:solidFill>
                      <a:srgbClr val="102B3A"/>
                    </a:solidFill>
                  </a:tcPr>
                </a:tc>
                <a:tc>
                  <a:txBody>
                    <a:bodyPr/>
                    <a:lstStyle/>
                    <a:p>
                      <a:r>
                        <a:rPr sz="1650" b="1">
                          <a:solidFill>
                            <a:srgbClr val="FFFFFF"/>
                          </a:solidFill>
                          <a:latin typeface="Arial"/>
                          <a:ea typeface="Arial"/>
                          <a:cs typeface="Arial"/>
                        </a:rPr>
                        <a:t>car</a:t>
                      </a:r>
                    </a:p>
                  </a:txBody>
                  <a:tcPr marL="91440" marR="91440" marT="45720" marB="45720">
                    <a:solidFill>
                      <a:srgbClr val="102B3A"/>
                    </a:solidFill>
                  </a:tcPr>
                </a:tc>
                <a:tc>
                  <a:txBody>
                    <a:bodyPr/>
                    <a:lstStyle/>
                    <a:p>
                      <a:r>
                        <a:rPr sz="1650" b="1">
                          <a:solidFill>
                            <a:srgbClr val="FFFFFF"/>
                          </a:solidFill>
                          <a:latin typeface="Arial"/>
                          <a:ea typeface="Arial"/>
                          <a:cs typeface="Arial"/>
                        </a:rPr>
                        <a:t>truck</a:t>
                      </a:r>
                    </a:p>
                  </a:txBody>
                  <a:tcPr marL="91440" marR="91440" marT="45720" marB="45720">
                    <a:solidFill>
                      <a:srgbClr val="102B3A"/>
                    </a:solidFill>
                  </a:tcPr>
                </a:tc>
                <a:tc>
                  <a:txBody>
                    <a:bodyPr/>
                    <a:lstStyle/>
                    <a:p>
                      <a:r>
                        <a:rPr sz="1650" b="1">
                          <a:solidFill>
                            <a:srgbClr val="FFFFFF"/>
                          </a:solidFill>
                          <a:latin typeface="Arial"/>
                          <a:ea typeface="Arial"/>
                          <a:cs typeface="Arial"/>
                        </a:rPr>
                        <a:t>Всего</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Всегда car</a:t>
                      </a:r>
                    </a:p>
                  </a:txBody>
                  <a:tcPr marL="91440" marR="91440" marT="45720" marB="45720">
                    <a:solidFill>
                      <a:srgbClr val="F2F6F8"/>
                    </a:solidFill>
                  </a:tcPr>
                </a:tc>
                <a:tc>
                  <a:txBody>
                    <a:bodyPr/>
                    <a:lstStyle/>
                    <a:p>
                      <a:r>
                        <a:rPr sz="1800" b="0">
                          <a:solidFill>
                            <a:srgbClr val="173342"/>
                          </a:solidFill>
                          <a:latin typeface="Arial"/>
                          <a:ea typeface="Arial"/>
                          <a:cs typeface="Arial"/>
                        </a:rPr>
                        <a:t>0</a:t>
                      </a:r>
                    </a:p>
                  </a:txBody>
                  <a:tcPr marL="91440" marR="91440" marT="45720" marB="45720">
                    <a:solidFill>
                      <a:srgbClr val="F2F6F8"/>
                    </a:solidFill>
                  </a:tcPr>
                </a:tc>
                <a:tc>
                  <a:txBody>
                    <a:bodyPr/>
                    <a:lstStyle/>
                    <a:p>
                      <a:r>
                        <a:rPr sz="1800" b="0">
                          <a:solidFill>
                            <a:srgbClr val="173342"/>
                          </a:solidFill>
                          <a:latin typeface="Arial"/>
                          <a:ea typeface="Arial"/>
                          <a:cs typeface="Arial"/>
                        </a:rPr>
                        <a:t>73</a:t>
                      </a:r>
                    </a:p>
                  </a:txBody>
                  <a:tcPr marL="91440" marR="91440" marT="45720" marB="45720">
                    <a:solidFill>
                      <a:srgbClr val="F2F6F8"/>
                    </a:solidFill>
                  </a:tcPr>
                </a:tc>
                <a:tc>
                  <a:txBody>
                    <a:bodyPr/>
                    <a:lstStyle/>
                    <a:p>
                      <a:r>
                        <a:rPr sz="1800" b="0">
                          <a:solidFill>
                            <a:srgbClr val="173342"/>
                          </a:solidFill>
                          <a:latin typeface="Arial"/>
                          <a:ea typeface="Arial"/>
                          <a:cs typeface="Arial"/>
                        </a:rPr>
                        <a:t>0</a:t>
                      </a:r>
                    </a:p>
                  </a:txBody>
                  <a:tcPr marL="91440" marR="91440" marT="45720" marB="45720">
                    <a:solidFill>
                      <a:srgbClr val="F2F6F8"/>
                    </a:solidFill>
                  </a:tcPr>
                </a:tc>
                <a:tc>
                  <a:txBody>
                    <a:bodyPr/>
                    <a:lstStyle/>
                    <a:p>
                      <a:r>
                        <a:rPr sz="1800" b="0">
                          <a:solidFill>
                            <a:srgbClr val="173342"/>
                          </a:solidFill>
                          <a:latin typeface="Arial"/>
                          <a:ea typeface="Arial"/>
                          <a:cs typeface="Arial"/>
                        </a:rPr>
                        <a:t>73</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Логистическая</a:t>
                      </a:r>
                    </a:p>
                  </a:txBody>
                  <a:tcPr marL="91440" marR="91440" marT="45720" marB="45720">
                    <a:solidFill>
                      <a:srgbClr val="FFFFFF"/>
                    </a:solidFill>
                  </a:tcPr>
                </a:tc>
                <a:tc>
                  <a:txBody>
                    <a:bodyPr/>
                    <a:lstStyle/>
                    <a:p>
                      <a:r>
                        <a:rPr sz="1800" b="0">
                          <a:solidFill>
                            <a:srgbClr val="173342"/>
                          </a:solidFill>
                          <a:latin typeface="Arial"/>
                          <a:ea typeface="Arial"/>
                          <a:cs typeface="Arial"/>
                        </a:rPr>
                        <a:t>14</a:t>
                      </a:r>
                    </a:p>
                  </a:txBody>
                  <a:tcPr marL="91440" marR="91440" marT="45720" marB="45720">
                    <a:solidFill>
                      <a:srgbClr val="FFFFFF"/>
                    </a:solidFill>
                  </a:tcPr>
                </a:tc>
                <a:tc>
                  <a:txBody>
                    <a:bodyPr/>
                    <a:lstStyle/>
                    <a:p>
                      <a:r>
                        <a:rPr sz="1800" b="0">
                          <a:solidFill>
                            <a:srgbClr val="173342"/>
                          </a:solidFill>
                          <a:latin typeface="Arial"/>
                          <a:ea typeface="Arial"/>
                          <a:cs typeface="Arial"/>
                        </a:rPr>
                        <a:t>49</a:t>
                      </a:r>
                    </a:p>
                  </a:txBody>
                  <a:tcPr marL="91440" marR="91440" marT="45720" marB="45720">
                    <a:solidFill>
                      <a:srgbClr val="FFFFFF"/>
                    </a:solidFill>
                  </a:tcPr>
                </a:tc>
                <a:tc>
                  <a:txBody>
                    <a:bodyPr/>
                    <a:lstStyle/>
                    <a:p>
                      <a:r>
                        <a:rPr sz="1800" b="0">
                          <a:solidFill>
                            <a:srgbClr val="173342"/>
                          </a:solidFill>
                          <a:latin typeface="Arial"/>
                          <a:ea typeface="Arial"/>
                          <a:cs typeface="Arial"/>
                        </a:rPr>
                        <a:t>10</a:t>
                      </a:r>
                    </a:p>
                  </a:txBody>
                  <a:tcPr marL="91440" marR="91440" marT="45720" marB="45720">
                    <a:solidFill>
                      <a:srgbClr val="FFFFFF"/>
                    </a:solidFill>
                  </a:tcPr>
                </a:tc>
                <a:tc>
                  <a:txBody>
                    <a:bodyPr/>
                    <a:lstStyle/>
                    <a:p>
                      <a:r>
                        <a:rPr sz="1800" b="0">
                          <a:solidFill>
                            <a:srgbClr val="173342"/>
                          </a:solidFill>
                          <a:latin typeface="Arial"/>
                          <a:ea typeface="Arial"/>
                          <a:cs typeface="Arial"/>
                        </a:rPr>
                        <a:t>73</a:t>
                      </a:r>
                    </a:p>
                  </a:txBody>
                  <a:tcPr marL="91440" marR="91440" marT="45720" marB="45720">
                    <a:solidFill>
                      <a:srgbClr val="FFFFFF"/>
                    </a:solidFill>
                  </a:tcPr>
                </a:tc>
              </a:tr>
              <a:tr h="542925">
                <a:tc>
                  <a:txBody>
                    <a:bodyPr/>
                    <a:lstStyle/>
                    <a:p>
                      <a:r>
                        <a:rPr sz="1800" b="0">
                          <a:solidFill>
                            <a:srgbClr val="173342"/>
                          </a:solidFill>
                          <a:latin typeface="Arial"/>
                          <a:ea typeface="Arial"/>
                          <a:cs typeface="Arial"/>
                        </a:rPr>
                        <a:t>Случайный лес</a:t>
                      </a:r>
                    </a:p>
                  </a:txBody>
                  <a:tcPr marL="91440" marR="91440" marT="45720" marB="45720">
                    <a:solidFill>
                      <a:srgbClr val="F2F6F8"/>
                    </a:solidFill>
                  </a:tcPr>
                </a:tc>
                <a:tc>
                  <a:txBody>
                    <a:bodyPr/>
                    <a:lstStyle/>
                    <a:p>
                      <a:r>
                        <a:rPr sz="1800" b="0">
                          <a:solidFill>
                            <a:srgbClr val="173342"/>
                          </a:solidFill>
                          <a:latin typeface="Arial"/>
                          <a:ea typeface="Arial"/>
                          <a:cs typeface="Arial"/>
                        </a:rPr>
                        <a:t>6</a:t>
                      </a:r>
                    </a:p>
                  </a:txBody>
                  <a:tcPr marL="91440" marR="91440" marT="45720" marB="45720">
                    <a:solidFill>
                      <a:srgbClr val="F2F6F8"/>
                    </a:solidFill>
                  </a:tcPr>
                </a:tc>
                <a:tc>
                  <a:txBody>
                    <a:bodyPr/>
                    <a:lstStyle/>
                    <a:p>
                      <a:r>
                        <a:rPr sz="1800" b="0">
                          <a:solidFill>
                            <a:srgbClr val="173342"/>
                          </a:solidFill>
                          <a:latin typeface="Arial"/>
                          <a:ea typeface="Arial"/>
                          <a:cs typeface="Arial"/>
                        </a:rPr>
                        <a:t>72</a:t>
                      </a:r>
                    </a:p>
                  </a:txBody>
                  <a:tcPr marL="91440" marR="91440" marT="45720" marB="45720">
                    <a:solidFill>
                      <a:srgbClr val="F2F6F8"/>
                    </a:solidFill>
                  </a:tcPr>
                </a:tc>
                <a:tc>
                  <a:txBody>
                    <a:bodyPr/>
                    <a:lstStyle/>
                    <a:p>
                      <a:r>
                        <a:rPr sz="1800" b="0">
                          <a:solidFill>
                            <a:srgbClr val="173342"/>
                          </a:solidFill>
                          <a:latin typeface="Arial"/>
                          <a:ea typeface="Arial"/>
                          <a:cs typeface="Arial"/>
                        </a:rPr>
                        <a:t>4</a:t>
                      </a:r>
                    </a:p>
                  </a:txBody>
                  <a:tcPr marL="91440" marR="91440" marT="45720" marB="45720">
                    <a:solidFill>
                      <a:srgbClr val="F2F6F8"/>
                    </a:solidFill>
                  </a:tcPr>
                </a:tc>
                <a:tc>
                  <a:txBody>
                    <a:bodyPr/>
                    <a:lstStyle/>
                    <a:p>
                      <a:r>
                        <a:rPr sz="1800" b="0">
                          <a:solidFill>
                            <a:srgbClr val="173342"/>
                          </a:solidFill>
                          <a:latin typeface="Arial"/>
                          <a:ea typeface="Arial"/>
                          <a:cs typeface="Arial"/>
                        </a:rPr>
                        <a:t>82</a:t>
                      </a:r>
                    </a:p>
                  </a:txBody>
                  <a:tcPr marL="91440" marR="91440" marT="45720" marB="45720">
                    <a:solidFill>
                      <a:srgbClr val="F2F6F8"/>
                    </a:solidFill>
                  </a:tcPr>
                </a:tc>
              </a:tr>
            </a:tbl>
          </a:graphicData>
        </a:graphic>
      </p:graphicFrame>
      <p:sp>
        <p:nvSpPr>
          <p:cNvPr id="3" name="">
            <a:extLst xmlns:a="http://schemas.openxmlformats.org/drawingml/2006/main">
              <a:ext uri="{FF2B5EF4-FFF2-40B4-BE49-F238E27FC236}">
                <a16:creationId xmlns:a16="http://schemas.microsoft.com/office/drawing/2014/main" id="{5723AF2A-15CD-4BBC-906C-54F5128CEBF8}"/>
              </a:ext>
            </a:extLst>
          </p:cNvPr>
          <p:cNvSpPr>
            <a:spLocks xmlns:a="http://schemas.openxmlformats.org/drawingml/2006/main" noGrp="1"/>
          </p:cNvSpPr>
          <p:nvPr/>
        </p:nvSpPr>
        <p:spPr>
          <a:xfrm xmlns:a="http://schemas.openxmlformats.org/drawingml/2006/main">
            <a:off x="647700" y="4143375"/>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Число верных ответов по истинному классу</a:t>
            </a:r>
          </a:p>
        </p:txBody>
      </p:sp>
      <p:sp>
        <p:nvSpPr>
          <p:cNvPr id="4" name="">
            <a:extLst xmlns:a="http://schemas.openxmlformats.org/drawingml/2006/main">
              <a:ext uri="{FF2B5EF4-FFF2-40B4-BE49-F238E27FC236}">
                <a16:creationId xmlns:a16="http://schemas.microsoft.com/office/drawing/2014/main" id="{8CF7946D-6BE8-458C-8757-A63926BFB41F}"/>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results/error_accounting.csv; test_predictions.csv.</a:t>
            </a:r>
          </a:p>
        </p:txBody>
      </p:sp>
      <p:sp>
        <p:nvSpPr>
          <p:cNvPr id="5" name="">
            <a:extLst xmlns:a="http://schemas.openxmlformats.org/drawingml/2006/main">
              <a:ext uri="{FF2B5EF4-FFF2-40B4-BE49-F238E27FC236}">
                <a16:creationId xmlns:a16="http://schemas.microsoft.com/office/drawing/2014/main" id="{140AD6F4-065B-49D8-93F9-2FA38641F718}"/>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9 / 15</a:t>
            </a:r>
          </a:p>
        </p:txBody>
      </p:sp>
    </p:spTree>
    <p:extLst>
      <p:ext uri="{BB962C8B-B14F-4D97-AF65-F5344CB8AC3E}">
        <p14:creationId xmlns:p14="http://schemas.microsoft.com/office/powerpoint/2010/main" val="11037299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FEED12-93F4-40F3-8C3B-FD3EF306D904}"/>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Грузовики: пропуски и ложные срабатывания одновременно</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59959cbae2f4642"/>
          <a:stretch xmlns:a="http://schemas.openxmlformats.org/drawingml/2006/main"/>
        </p:blipFill>
        <p:spPr>
          <a:xfrm xmlns:a="http://schemas.openxmlformats.org/drawingml/2006/main">
            <a:off x="2338540" y="1762125"/>
            <a:ext cx="4124021" cy="4105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6EAF118-55F6-4E55-9B26-9AC7521A478D}"/>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Ошибок: 60 из 133</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Recall truck: 31.2%</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Precision truck: 34.5%</a:t>
            </a:r>
          </a:p>
        </p:txBody>
      </p:sp>
      <p:sp>
        <p:nvSpPr>
          <p:cNvPr id="4" name="">
            <a:extLst xmlns:a="http://schemas.openxmlformats.org/drawingml/2006/main">
              <a:ext uri="{FF2B5EF4-FFF2-40B4-BE49-F238E27FC236}">
                <a16:creationId xmlns:a16="http://schemas.microsoft.com/office/drawing/2014/main" id="{DC36D08D-F13F-43FC-BAD7-F2380B243665}"/>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results/confusion_matrix.csv; classification_report.csv.</a:t>
            </a:r>
          </a:p>
        </p:txBody>
      </p:sp>
      <p:sp>
        <p:nvSpPr>
          <p:cNvPr id="5" name="">
            <a:extLst xmlns:a="http://schemas.openxmlformats.org/drawingml/2006/main">
              <a:ext uri="{FF2B5EF4-FFF2-40B4-BE49-F238E27FC236}">
                <a16:creationId xmlns:a16="http://schemas.microsoft.com/office/drawing/2014/main" id="{6C90A95E-8BC8-4CC0-BF66-8EB13AD74EDD}"/>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10 / 15</a:t>
            </a:r>
          </a:p>
        </p:txBody>
      </p:sp>
    </p:spTree>
    <p:extLst>
      <p:ext uri="{BB962C8B-B14F-4D97-AF65-F5344CB8AC3E}">
        <p14:creationId xmlns:p14="http://schemas.microsoft.com/office/powerpoint/2010/main" val="224511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311DDE-1CBE-4A6F-BB12-EF27D2BF7BF7}"/>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Примеры ошибок показывают вход модели</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d829304d8de4dfb"/>
          <a:stretch xmlns:a="http://schemas.openxmlformats.org/drawingml/2006/main"/>
        </p:blipFill>
        <p:spPr>
          <a:xfrm xmlns:a="http://schemas.openxmlformats.org/drawingml/2006/main">
            <a:off x="1749289" y="1762125"/>
            <a:ext cx="5302522" cy="4105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92BF53-F999-4B6A-8671-1C2E06BB89C0}"/>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Порядок по ID, без отбора удобных примеров</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Ракурс и заслонение отдельно не размечены</a:t>
            </a:r>
          </a:p>
        </p:txBody>
      </p:sp>
      <p:sp>
        <p:nvSpPr>
          <p:cNvPr id="4" name="">
            <a:extLst xmlns:a="http://schemas.openxmlformats.org/drawingml/2006/main">
              <a:ext uri="{FF2B5EF4-FFF2-40B4-BE49-F238E27FC236}">
                <a16:creationId xmlns:a16="http://schemas.microsoft.com/office/drawing/2014/main" id="{EDCEB1F2-A076-428E-8A05-D7A2345E0E3B}"/>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results/errors.csv; image_attribution.csv.</a:t>
            </a:r>
          </a:p>
        </p:txBody>
      </p:sp>
      <p:sp>
        <p:nvSpPr>
          <p:cNvPr id="5" name="">
            <a:extLst xmlns:a="http://schemas.openxmlformats.org/drawingml/2006/main">
              <a:ext uri="{FF2B5EF4-FFF2-40B4-BE49-F238E27FC236}">
                <a16:creationId xmlns:a16="http://schemas.microsoft.com/office/drawing/2014/main" id="{F81D833E-5E99-4CC4-ADEB-C7FB35AD6670}"/>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11 / 15</a:t>
            </a:r>
          </a:p>
        </p:txBody>
      </p:sp>
    </p:spTree>
    <p:extLst>
      <p:ext uri="{BB962C8B-B14F-4D97-AF65-F5344CB8AC3E}">
        <p14:creationId xmlns:p14="http://schemas.microsoft.com/office/powerpoint/2010/main" val="3544500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2AB5C1-22FF-40A4-8326-7098125B3239}"/>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Почти идеальный train не означает надёжный test</a:t>
            </a:r>
          </a:p>
        </p:txBody>
      </p:sp>
      <p:sp>
        <p:nvSpPr>
          <p:cNvPr id="2" name="">
            <a:extLst xmlns:a="http://schemas.openxmlformats.org/drawingml/2006/main">
              <a:ext uri="{FF2B5EF4-FFF2-40B4-BE49-F238E27FC236}">
                <a16:creationId xmlns:a16="http://schemas.microsoft.com/office/drawing/2014/main" id="{5C222733-5AD4-40F4-B9FD-73DEB51E39B4}"/>
              </a:ext>
            </a:extLst>
          </p:cNvPr>
          <p:cNvSpPr>
            <a:spLocks xmlns:a="http://schemas.openxmlformats.org/drawingml/2006/main" noGrp="1"/>
          </p:cNvSpPr>
          <p:nvPr/>
        </p:nvSpPr>
        <p:spPr>
          <a:xfrm xmlns:a="http://schemas.openxmlformats.org/drawingml/2006/main">
            <a:off x="64770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0.998</a:t>
            </a:r>
          </a:p>
        </p:txBody>
      </p:sp>
      <p:sp>
        <p:nvSpPr>
          <p:cNvPr id="3" name="">
            <a:extLst xmlns:a="http://schemas.openxmlformats.org/drawingml/2006/main">
              <a:ext uri="{FF2B5EF4-FFF2-40B4-BE49-F238E27FC236}">
                <a16:creationId xmlns:a16="http://schemas.microsoft.com/office/drawing/2014/main" id="{82A773AC-579D-498E-9ADA-4506D8AB6142}"/>
              </a:ext>
            </a:extLst>
          </p:cNvPr>
          <p:cNvSpPr>
            <a:spLocks xmlns:a="http://schemas.openxmlformats.org/drawingml/2006/main" noGrp="1"/>
          </p:cNvSpPr>
          <p:nvPr/>
        </p:nvSpPr>
        <p:spPr>
          <a:xfrm xmlns:a="http://schemas.openxmlformats.org/drawingml/2006/main">
            <a:off x="64770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macro-F1 train</a:t>
            </a:r>
          </a:p>
        </p:txBody>
      </p:sp>
      <p:sp>
        <p:nvSpPr>
          <p:cNvPr id="4" name="">
            <a:extLst xmlns:a="http://schemas.openxmlformats.org/drawingml/2006/main">
              <a:ext uri="{FF2B5EF4-FFF2-40B4-BE49-F238E27FC236}">
                <a16:creationId xmlns:a16="http://schemas.microsoft.com/office/drawing/2014/main" id="{04AC74D9-063D-4597-957A-C0FF7C739362}"/>
              </a:ext>
            </a:extLst>
          </p:cNvPr>
          <p:cNvSpPr>
            <a:spLocks xmlns:a="http://schemas.openxmlformats.org/drawingml/2006/main" noGrp="1"/>
          </p:cNvSpPr>
          <p:nvPr/>
        </p:nvSpPr>
        <p:spPr>
          <a:xfrm xmlns:a="http://schemas.openxmlformats.org/drawingml/2006/main">
            <a:off x="333375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0.531</a:t>
            </a:r>
          </a:p>
        </p:txBody>
      </p:sp>
      <p:sp>
        <p:nvSpPr>
          <p:cNvPr id="5" name="">
            <a:extLst xmlns:a="http://schemas.openxmlformats.org/drawingml/2006/main">
              <a:ext uri="{FF2B5EF4-FFF2-40B4-BE49-F238E27FC236}">
                <a16:creationId xmlns:a16="http://schemas.microsoft.com/office/drawing/2014/main" id="{CBC4ECED-C7AA-4F25-862F-6D1FE09AED9D}"/>
              </a:ext>
            </a:extLst>
          </p:cNvPr>
          <p:cNvSpPr>
            <a:spLocks xmlns:a="http://schemas.openxmlformats.org/drawingml/2006/main" noGrp="1"/>
          </p:cNvSpPr>
          <p:nvPr/>
        </p:nvSpPr>
        <p:spPr>
          <a:xfrm xmlns:a="http://schemas.openxmlformats.org/drawingml/2006/main">
            <a:off x="333375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macro-F1 validation</a:t>
            </a:r>
          </a:p>
        </p:txBody>
      </p:sp>
      <p:sp>
        <p:nvSpPr>
          <p:cNvPr id="6" name="">
            <a:extLst xmlns:a="http://schemas.openxmlformats.org/drawingml/2006/main">
              <a:ext uri="{FF2B5EF4-FFF2-40B4-BE49-F238E27FC236}">
                <a16:creationId xmlns:a16="http://schemas.microsoft.com/office/drawing/2014/main" id="{E1FB29D0-A9FB-4C24-8D9B-BCD7735A7ACD}"/>
              </a:ext>
            </a:extLst>
          </p:cNvPr>
          <p:cNvSpPr>
            <a:spLocks xmlns:a="http://schemas.openxmlformats.org/drawingml/2006/main" noGrp="1"/>
          </p:cNvSpPr>
          <p:nvPr/>
        </p:nvSpPr>
        <p:spPr>
          <a:xfrm xmlns:a="http://schemas.openxmlformats.org/drawingml/2006/main">
            <a:off x="601980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75" b="1">
                <a:solidFill>
                  <a:srgbClr val="AE562D"/>
                </a:solidFill>
                <a:latin typeface="Arial"/>
                <a:ea typeface="Arial"/>
                <a:cs typeface="Arial"/>
              </a:defRPr>
            </a:pPr>
            <a:r>
              <a:rPr sz="4275" b="1">
                <a:solidFill>
                  <a:srgbClr val="AE562D"/>
                </a:solidFill>
                <a:latin typeface="Arial"/>
                <a:ea typeface="Arial"/>
                <a:cs typeface="Arial"/>
              </a:rPr>
              <a:t>0.488</a:t>
            </a:r>
          </a:p>
        </p:txBody>
      </p:sp>
      <p:sp>
        <p:nvSpPr>
          <p:cNvPr id="7" name="">
            <a:extLst xmlns:a="http://schemas.openxmlformats.org/drawingml/2006/main">
              <a:ext uri="{FF2B5EF4-FFF2-40B4-BE49-F238E27FC236}">
                <a16:creationId xmlns:a16="http://schemas.microsoft.com/office/drawing/2014/main" id="{E62683C7-F5F6-414C-8E51-2B33477A9815}"/>
              </a:ext>
            </a:extLst>
          </p:cNvPr>
          <p:cNvSpPr>
            <a:spLocks xmlns:a="http://schemas.openxmlformats.org/drawingml/2006/main" noGrp="1"/>
          </p:cNvSpPr>
          <p:nvPr/>
        </p:nvSpPr>
        <p:spPr>
          <a:xfrm xmlns:a="http://schemas.openxmlformats.org/drawingml/2006/main">
            <a:off x="601980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macro-F1 test</a:t>
            </a:r>
          </a:p>
        </p:txBody>
      </p:sp>
      <p:sp>
        <p:nvSpPr>
          <p:cNvPr id="8" name="">
            <a:extLst xmlns:a="http://schemas.openxmlformats.org/drawingml/2006/main">
              <a:ext uri="{FF2B5EF4-FFF2-40B4-BE49-F238E27FC236}">
                <a16:creationId xmlns:a16="http://schemas.microsoft.com/office/drawing/2014/main" id="{9DB17E80-2DC7-4FC2-BDE0-2D189B29A28D}"/>
              </a:ext>
            </a:extLst>
          </p:cNvPr>
          <p:cNvSpPr>
            <a:spLocks xmlns:a="http://schemas.openxmlformats.org/drawingml/2006/main" noGrp="1"/>
          </p:cNvSpPr>
          <p:nvPr/>
        </p:nvSpPr>
        <p:spPr>
          <a:xfrm xmlns:a="http://schemas.openxmlformats.org/drawingml/2006/main">
            <a:off x="8705850" y="1952625"/>
            <a:ext cx="2419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AE562D"/>
                </a:solidFill>
                <a:latin typeface="Arial"/>
                <a:ea typeface="Arial"/>
                <a:cs typeface="Arial"/>
              </a:defRPr>
            </a:pPr>
            <a:r>
              <a:rPr sz="2475" b="1">
                <a:solidFill>
                  <a:srgbClr val="AE562D"/>
                </a:solidFill>
                <a:latin typeface="Arial"/>
                <a:ea typeface="Arial"/>
                <a:cs typeface="Arial"/>
              </a:rPr>
              <a:t>0.387–0.592</a:t>
            </a:r>
          </a:p>
        </p:txBody>
      </p:sp>
      <p:sp>
        <p:nvSpPr>
          <p:cNvPr id="9" name="">
            <a:extLst xmlns:a="http://schemas.openxmlformats.org/drawingml/2006/main">
              <a:ext uri="{FF2B5EF4-FFF2-40B4-BE49-F238E27FC236}">
                <a16:creationId xmlns:a16="http://schemas.microsoft.com/office/drawing/2014/main" id="{BE8C7C63-6F16-4339-96C7-1ECE97230638}"/>
              </a:ext>
            </a:extLst>
          </p:cNvPr>
          <p:cNvSpPr>
            <a:spLocks xmlns:a="http://schemas.openxmlformats.org/drawingml/2006/main" noGrp="1"/>
          </p:cNvSpPr>
          <p:nvPr/>
        </p:nvSpPr>
        <p:spPr>
          <a:xfrm xmlns:a="http://schemas.openxmlformats.org/drawingml/2006/main">
            <a:off x="8705850" y="3038475"/>
            <a:ext cx="24193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3342"/>
                </a:solidFill>
                <a:latin typeface="Arial"/>
                <a:ea typeface="Arial"/>
                <a:cs typeface="Arial"/>
              </a:defRPr>
            </a:pPr>
            <a:r>
              <a:rPr sz="1725" b="0">
                <a:solidFill>
                  <a:srgbClr val="173342"/>
                </a:solidFill>
                <a:latin typeface="Arial"/>
                <a:ea typeface="Arial"/>
                <a:cs typeface="Arial"/>
              </a:rPr>
              <a:t>описательный bootstrap-диапазон</a:t>
            </a:r>
          </a:p>
        </p:txBody>
      </p:sp>
      <p:sp>
        <p:nvSpPr>
          <p:cNvPr id="10" name="">
            <a:extLst xmlns:a="http://schemas.openxmlformats.org/drawingml/2006/main">
              <a:ext uri="{FF2B5EF4-FFF2-40B4-BE49-F238E27FC236}">
                <a16:creationId xmlns:a16="http://schemas.microsoft.com/office/drawing/2014/main" id="{84A3E863-0F55-4BF5-9ADE-9406485D3D83}"/>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training_history.csv; results/bootstrap.json: 500 групповых повторов.</a:t>
            </a:r>
          </a:p>
        </p:txBody>
      </p:sp>
      <p:sp>
        <p:nvSpPr>
          <p:cNvPr id="11" name="">
            <a:extLst xmlns:a="http://schemas.openxmlformats.org/drawingml/2006/main">
              <a:ext uri="{FF2B5EF4-FFF2-40B4-BE49-F238E27FC236}">
                <a16:creationId xmlns:a16="http://schemas.microsoft.com/office/drawing/2014/main" id="{82E11AA3-3D63-451C-9E4A-F5960058C828}"/>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12 / 15</a:t>
            </a:r>
          </a:p>
        </p:txBody>
      </p:sp>
    </p:spTree>
    <p:extLst>
      <p:ext uri="{BB962C8B-B14F-4D97-AF65-F5344CB8AC3E}">
        <p14:creationId xmlns:p14="http://schemas.microsoft.com/office/powerpoint/2010/main" val="14334365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E1452B-0B0E-4ABB-8136-E0F6F3105930}"/>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30 секунд реального видео: демонстрация применения</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92698772b94484b"/>
          <a:stretch xmlns:a="http://schemas.openxmlformats.org/drawingml/2006/main"/>
        </p:blipFill>
        <p:spPr>
          <a:xfrm xmlns:a="http://schemas.openxmlformats.org/drawingml/2006/main">
            <a:off x="751417" y="1762125"/>
            <a:ext cx="7298267" cy="4105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98076A-9062-42F5-B48E-E4AC58D4F03F}"/>
              </a:ext>
            </a:extLst>
          </p:cNvPr>
          <p:cNvSpPr>
            <a:spLocks xmlns:a="http://schemas.openxmlformats.org/drawingml/2006/main" noGrp="1"/>
          </p:cNvSpPr>
          <p:nvPr/>
        </p:nvSpPr>
        <p:spPr>
          <a:xfrm xmlns:a="http://schemas.openxmlformats.org/drawingml/2006/main">
            <a:off x="8696325" y="1876425"/>
            <a:ext cx="2943225"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30 секунд · 450 кадров</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Два ручных кропа; география неизвестна</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Нет detector, tracking и тестовой разметки</a:t>
            </a:r>
          </a:p>
        </p:txBody>
      </p:sp>
      <p:sp>
        <p:nvSpPr>
          <p:cNvPr id="4" name="">
            <a:extLst xmlns:a="http://schemas.openxmlformats.org/drawingml/2006/main">
              <a:ext uri="{FF2B5EF4-FFF2-40B4-BE49-F238E27FC236}">
                <a16:creationId xmlns:a16="http://schemas.microsoft.com/office/drawing/2014/main" id="{42A45C34-8266-4DF5-AE2D-22E6079FEE87}"/>
              </a:ext>
            </a:extLst>
          </p:cNvPr>
          <p:cNvSpPr>
            <a:spLocks xmlns:a="http://schemas.openxmlformats.org/drawingml/2006/main" noGrp="1"/>
          </p:cNvSpPr>
          <p:nvPr/>
        </p:nvSpPr>
        <p:spPr>
          <a:xfrm xmlns:a="http://schemas.openxmlformats.org/drawingml/2006/main">
            <a:off x="8696325" y="54673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AE562D"/>
                </a:solidFill>
                <a:latin typeface="Arial"/>
                <a:ea typeface="Arial"/>
                <a:cs typeface="Arial"/>
              </a:defRPr>
            </a:pPr>
            <a:r>
              <a:rPr u="sng">
                <a:hlinkClick xmlns:r="http://schemas.openxmlformats.org/officeDocument/2006/relationships" r:id="Rd480b02e607a41a8"/>
              </a:rPr>
              <a:t>Открыть видео</a:t>
            </a:r>
          </a:p>
        </p:txBody>
      </p:sp>
      <p:sp>
        <p:nvSpPr>
          <p:cNvPr id="5" name="">
            <a:extLst xmlns:a="http://schemas.openxmlformats.org/drawingml/2006/main">
              <a:ext uri="{FF2B5EF4-FFF2-40B4-BE49-F238E27FC236}">
                <a16:creationId xmlns:a16="http://schemas.microsoft.com/office/drawing/2014/main" id="{0C524C0A-1413-44BB-9961-579A08028B38}"/>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Fernost, Dashcam Recording (urban), Wikimedia Commons, CC0 (2013).</a:t>
            </a:r>
          </a:p>
        </p:txBody>
      </p:sp>
      <p:sp>
        <p:nvSpPr>
          <p:cNvPr id="6" name="">
            <a:extLst xmlns:a="http://schemas.openxmlformats.org/drawingml/2006/main">
              <a:ext uri="{FF2B5EF4-FFF2-40B4-BE49-F238E27FC236}">
                <a16:creationId xmlns:a16="http://schemas.microsoft.com/office/drawing/2014/main" id="{218BD741-6CD4-4941-AF87-F290518289AF}"/>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13 / 15</a:t>
            </a:r>
          </a:p>
        </p:txBody>
      </p:sp>
    </p:spTree>
    <p:extLst>
      <p:ext uri="{BB962C8B-B14F-4D97-AF65-F5344CB8AC3E}">
        <p14:creationId xmlns:p14="http://schemas.microsoft.com/office/powerpoint/2010/main" val="158879890"/>
      </p:ext>
    </p:extLst>
  </p:cSld>
</p:sld>
</file>

<file path=ppt/slides/slide14.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5743F6-E206-45BB-8FB1-14FC9C1203C8}"/>
              </a:ext>
            </a:extLst>
          </p:cNvPr>
          <p:cNvSpPr>
            <a:spLocks xmlns:a="http://schemas.openxmlformats.org/drawingml/2006/main" noGrp="1"/>
          </p:cNvSpPr>
          <p:nvPr/>
        </p:nvSpPr>
        <p:spPr>
          <a:xfrm xmlns:a="http://schemas.openxmlformats.org/drawingml/2006/main">
            <a:off x="609600" y="5905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Следующий шаг — новые размеченные поездки Атырау</a:t>
            </a:r>
          </a:p>
        </p:txBody>
      </p:sp>
      <p:sp>
        <p:nvSpPr>
          <p:cNvPr id="2" name="">
            <a:extLst xmlns:a="http://schemas.openxmlformats.org/drawingml/2006/main">
              <a:ext uri="{FF2B5EF4-FFF2-40B4-BE49-F238E27FC236}">
                <a16:creationId xmlns:a16="http://schemas.microsoft.com/office/drawing/2014/main" id="{759E5A7E-34FD-4DD4-B8F4-DDB3A714A2D9}"/>
              </a:ext>
            </a:extLst>
          </p:cNvPr>
          <p:cNvSpPr>
            <a:spLocks xmlns:a="http://schemas.openxmlformats.org/drawingml/2006/main" noGrp="1"/>
          </p:cNvSpPr>
          <p:nvPr/>
        </p:nvSpPr>
        <p:spPr>
          <a:xfrm xmlns:a="http://schemas.openxmlformats.org/drawingml/2006/main">
            <a:off x="647700" y="2076450"/>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Сохранить отрицательные и слабые результаты</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Разделять новые данные по поездкам</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Оценить детектор и классификатор отдельно</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Статус PARTIAL сохраняется</a:t>
            </a:r>
          </a:p>
        </p:txBody>
      </p:sp>
      <p:sp>
        <p:nvSpPr>
          <p:cNvPr id="3" name="">
            <a:extLst xmlns:a="http://schemas.openxmlformats.org/drawingml/2006/main">
              <a:ext uri="{FF2B5EF4-FFF2-40B4-BE49-F238E27FC236}">
                <a16:creationId xmlns:a16="http://schemas.microsoft.com/office/drawing/2014/main" id="{F04E9F6A-B8F8-43D6-856C-4DFE517EEEE6}"/>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4C1CB"/>
                </a:solidFill>
                <a:latin typeface="Arial"/>
                <a:ea typeface="Arial"/>
                <a:cs typeface="Arial"/>
              </a:defRPr>
            </a:pPr>
            <a:r>
              <a:rPr sz="1125" b="0">
                <a:solidFill>
                  <a:srgbClr val="A4C1CB"/>
                </a:solidFill>
                <a:latin typeface="Arial"/>
                <a:ea typeface="Arial"/>
                <a:cs typeface="Arial"/>
              </a:rPr>
              <a:t>Report.md, разделы 9–12; results/revision_checks.json.</a:t>
            </a:r>
          </a:p>
        </p:txBody>
      </p:sp>
      <p:sp>
        <p:nvSpPr>
          <p:cNvPr id="4" name="">
            <a:extLst xmlns:a="http://schemas.openxmlformats.org/drawingml/2006/main">
              <a:ext uri="{FF2B5EF4-FFF2-40B4-BE49-F238E27FC236}">
                <a16:creationId xmlns:a16="http://schemas.microsoft.com/office/drawing/2014/main" id="{C129D8E3-4911-4411-BF3D-4A554F39E854}"/>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4C1CB"/>
                </a:solidFill>
                <a:latin typeface="Arial"/>
                <a:ea typeface="Arial"/>
                <a:cs typeface="Arial"/>
              </a:defRPr>
            </a:pPr>
            <a:r>
              <a:rPr sz="1275" b="0">
                <a:solidFill>
                  <a:srgbClr val="A4C1CB"/>
                </a:solidFill>
                <a:latin typeface="Arial"/>
                <a:ea typeface="Arial"/>
                <a:cs typeface="Arial"/>
              </a:rPr>
              <a:t>14 / 15</a:t>
            </a:r>
          </a:p>
        </p:txBody>
      </p:sp>
    </p:spTree>
    <p:extLst>
      <p:ext uri="{BB962C8B-B14F-4D97-AF65-F5344CB8AC3E}">
        <p14:creationId xmlns:p14="http://schemas.microsoft.com/office/powerpoint/2010/main" val="7660699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B16F05-9286-4E6D-9E7C-D8D45CFE0F7B}"/>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Источники и проверяемые доказательства</a:t>
            </a:r>
          </a:p>
        </p:txBody>
      </p:sp>
      <p:sp>
        <p:nvSpPr>
          <p:cNvPr id="2" name="">
            <a:extLst xmlns:a="http://schemas.openxmlformats.org/drawingml/2006/main">
              <a:ext uri="{FF2B5EF4-FFF2-40B4-BE49-F238E27FC236}">
                <a16:creationId xmlns:a16="http://schemas.microsoft.com/office/drawing/2014/main" id="{0794417A-6E14-4544-8AC7-F426A575222F}"/>
              </a:ext>
            </a:extLst>
          </p:cNvPr>
          <p:cNvSpPr>
            <a:spLocks xmlns:a="http://schemas.openxmlformats.org/drawingml/2006/main" noGrp="1"/>
          </p:cNvSpPr>
          <p:nvPr/>
        </p:nvSpPr>
        <p:spPr>
          <a:xfrm xmlns:a="http://schemas.openxmlformats.org/drawingml/2006/main">
            <a:off x="647700" y="17621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Источники</a:t>
            </a:r>
          </a:p>
        </p:txBody>
      </p:sp>
      <p:sp>
        <p:nvSpPr>
          <p:cNvPr id="3" name="">
            <a:extLst xmlns:a="http://schemas.openxmlformats.org/drawingml/2006/main">
              <a:ext uri="{FF2B5EF4-FFF2-40B4-BE49-F238E27FC236}">
                <a16:creationId xmlns:a16="http://schemas.microsoft.com/office/drawing/2014/main" id="{B8D457A3-54CB-4CE4-AE44-63CCD570E812}"/>
              </a:ext>
            </a:extLst>
          </p:cNvPr>
          <p:cNvSpPr>
            <a:spLocks xmlns:a="http://schemas.openxmlformats.org/drawingml/2006/main" noGrp="1"/>
          </p:cNvSpPr>
          <p:nvPr/>
        </p:nvSpPr>
        <p:spPr>
          <a:xfrm xmlns:a="http://schemas.openxmlformats.org/drawingml/2006/main">
            <a:off x="647700" y="25431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Lin et al. Microsoft COCO: Common Objects in Context, 2014 [V03]</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Dalal &amp; Triggs. Histograms of Oriented Gradients, CVPR 2005 [V04]</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COCO Terms of Use; CC BY / SA / NC 2.0 [V02, V10–V13]</a:t>
            </a:r>
          </a:p>
        </p:txBody>
      </p:sp>
      <p:sp>
        <p:nvSpPr>
          <p:cNvPr id="4" name="">
            <a:extLst xmlns:a="http://schemas.openxmlformats.org/drawingml/2006/main">
              <a:ext uri="{FF2B5EF4-FFF2-40B4-BE49-F238E27FC236}">
                <a16:creationId xmlns:a16="http://schemas.microsoft.com/office/drawing/2014/main" id="{B6E95800-99B1-48EE-9087-D3014504BCD0}"/>
              </a:ext>
            </a:extLst>
          </p:cNvPr>
          <p:cNvSpPr>
            <a:spLocks xmlns:a="http://schemas.openxmlformats.org/drawingml/2006/main" noGrp="1"/>
          </p:cNvSpPr>
          <p:nvPr/>
        </p:nvSpPr>
        <p:spPr>
          <a:xfrm xmlns:a="http://schemas.openxmlformats.org/drawingml/2006/main">
            <a:off x="6019800" y="17621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E562D"/>
                </a:solidFill>
                <a:latin typeface="Arial"/>
                <a:ea typeface="Arial"/>
                <a:cs typeface="Arial"/>
              </a:defRPr>
            </a:pPr>
            <a:r>
              <a:rPr sz="2175" b="1">
                <a:solidFill>
                  <a:srgbClr val="AE562D"/>
                </a:solidFill>
                <a:latin typeface="Arial"/>
                <a:ea typeface="Arial"/>
                <a:cs typeface="Arial"/>
              </a:rPr>
              <a:t>Методы и данные</a:t>
            </a:r>
          </a:p>
        </p:txBody>
      </p:sp>
      <p:sp>
        <p:nvSpPr>
          <p:cNvPr id="5" name="">
            <a:extLst xmlns:a="http://schemas.openxmlformats.org/drawingml/2006/main">
              <a:ext uri="{FF2B5EF4-FFF2-40B4-BE49-F238E27FC236}">
                <a16:creationId xmlns:a16="http://schemas.microsoft.com/office/drawing/2014/main" id="{B3990C6E-F113-4058-9D0B-F8B3B3C8BCE4}"/>
              </a:ext>
            </a:extLst>
          </p:cNvPr>
          <p:cNvSpPr>
            <a:spLocks xmlns:a="http://schemas.openxmlformats.org/drawingml/2006/main" noGrp="1"/>
          </p:cNvSpPr>
          <p:nvPr/>
        </p:nvSpPr>
        <p:spPr>
          <a:xfrm xmlns:a="http://schemas.openxmlformats.org/drawingml/2006/main">
            <a:off x="6019800" y="25431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Fernost. Dashcam Recording (urban), 2013; CC0 [V08]</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Числа: metrics.json, test_predictions.csv, training_history.csv</a:t>
            </a:r>
          </a:p>
        </p:txBody>
      </p:sp>
      <p:sp>
        <p:nvSpPr>
          <p:cNvPr id="6" name="">
            <a:extLst xmlns:a="http://schemas.openxmlformats.org/drawingml/2006/main">
              <a:ext uri="{FF2B5EF4-FFF2-40B4-BE49-F238E27FC236}">
                <a16:creationId xmlns:a16="http://schemas.microsoft.com/office/drawing/2014/main" id="{77AD3E10-23EC-49BA-A530-40D81F9265A9}"/>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References.md; SOURCES.csv; results/REVISION_AUDIT_20260926.md.</a:t>
            </a:r>
          </a:p>
        </p:txBody>
      </p:sp>
      <p:sp>
        <p:nvSpPr>
          <p:cNvPr id="7" name="">
            <a:extLst xmlns:a="http://schemas.openxmlformats.org/drawingml/2006/main">
              <a:ext uri="{FF2B5EF4-FFF2-40B4-BE49-F238E27FC236}">
                <a16:creationId xmlns:a16="http://schemas.microsoft.com/office/drawing/2014/main" id="{D5B662EF-A079-4713-8221-9276D2187FF3}"/>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15 / 15</a:t>
            </a:r>
          </a:p>
        </p:txBody>
      </p:sp>
    </p:spTree>
    <p:extLst>
      <p:ext uri="{BB962C8B-B14F-4D97-AF65-F5344CB8AC3E}">
        <p14:creationId xmlns:p14="http://schemas.microsoft.com/office/powerpoint/2010/main" val="1655673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2026-09-25T21:00:09.8110000Z</dcterms:created>
  <dcterms:modified xsi:type="dcterms:W3CDTF">2026-09-25T21:00:09.8110000Z</dcterms:modified>
</coreProperties>
</file>