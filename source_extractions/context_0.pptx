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3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1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9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9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9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6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12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9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5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93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62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1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6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B7DE1C-800E-44C0-A9F8-856AB671F4E2}"/>
              </a:ext>
            </a:extLst>
          </p:cNvPr>
          <p:cNvSpPr/>
          <p:nvPr/>
        </p:nvSpPr>
        <p:spPr>
          <a:xfrm>
            <a:off x="3339548" y="2064890"/>
            <a:ext cx="38280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AI LLM </a:t>
            </a:r>
            <a:r>
              <a:rPr lang="ru-RU" sz="4000" dirty="0" err="1"/>
              <a:t>models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9004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Generative AI создаёт новый контент.</a:t>
            </a:r>
          </a:p>
          <a:p>
            <a:pPr>
              <a:spcAft>
                <a:spcPts val="1200"/>
              </a:spcAft>
              <a:defRPr sz="2000"/>
            </a:pPr>
            <a:r>
              <a:t>• Текст</a:t>
            </a:r>
          </a:p>
          <a:p>
            <a:pPr>
              <a:spcAft>
                <a:spcPts val="1200"/>
              </a:spcAft>
              <a:defRPr sz="2000"/>
            </a:pPr>
            <a:r>
              <a:t>• Изображения</a:t>
            </a:r>
          </a:p>
          <a:p>
            <a:pPr>
              <a:spcAft>
                <a:spcPts val="1200"/>
              </a:spcAft>
              <a:defRPr sz="2000"/>
            </a:pPr>
            <a:r>
              <a:t>• Аудио</a:t>
            </a:r>
          </a:p>
          <a:p>
            <a:pPr>
              <a:spcAft>
                <a:spcPts val="1200"/>
              </a:spcAft>
              <a:defRPr sz="2000"/>
            </a:pPr>
            <a:r>
              <a:t>• Видео</a:t>
            </a:r>
          </a:p>
          <a:p>
            <a:pPr>
              <a:spcAft>
                <a:spcPts val="1200"/>
              </a:spcAft>
              <a:defRPr sz="2000"/>
            </a:pPr>
            <a:r>
              <a:t>• Код</a:t>
            </a:r>
          </a:p>
          <a:p>
            <a:pPr>
              <a:spcAft>
                <a:spcPts val="1200"/>
              </a:spcAft>
              <a:defRPr sz="2000"/>
            </a:pPr>
            <a:r>
              <a:t>• Презентации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Что такое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LLM — Large Language Model, большая языковая модель.</a:t>
            </a:r>
          </a:p>
          <a:p>
            <a:pPr>
              <a:spcAft>
                <a:spcPts val="1200"/>
              </a:spcAft>
              <a:defRPr sz="2000"/>
            </a:pPr>
            <a:r>
              <a:t>• Обучается на больших объемах текстовых данных.</a:t>
            </a:r>
          </a:p>
          <a:p>
            <a:pPr>
              <a:spcAft>
                <a:spcPts val="1200"/>
              </a:spcAft>
              <a:defRPr sz="2000"/>
            </a:pPr>
            <a:r>
              <a:t>• Понимает запросы и генерирует текст.</a:t>
            </a:r>
          </a:p>
          <a:p>
            <a:pPr>
              <a:spcAft>
                <a:spcPts val="1200"/>
              </a:spcAft>
              <a:defRPr sz="2000"/>
            </a:pPr>
            <a:r>
              <a:t>• Может переводить, суммировать, анализировать документы и писать код.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Примеры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GPT</a:t>
            </a:r>
          </a:p>
          <a:p>
            <a:pPr>
              <a:spcAft>
                <a:spcPts val="1200"/>
              </a:spcAft>
              <a:defRPr sz="2000"/>
            </a:pPr>
            <a:r>
              <a:t>• Gemini</a:t>
            </a:r>
          </a:p>
          <a:p>
            <a:pPr>
              <a:spcAft>
                <a:spcPts val="1200"/>
              </a:spcAft>
              <a:defRPr sz="2000"/>
            </a:pPr>
            <a:r>
              <a:t>• Claude</a:t>
            </a:r>
          </a:p>
          <a:p>
            <a:pPr>
              <a:spcAft>
                <a:spcPts val="1200"/>
              </a:spcAft>
              <a:defRPr sz="2000"/>
            </a:pPr>
            <a:r>
              <a:t>• Llama</a:t>
            </a:r>
          </a:p>
          <a:p>
            <a:pPr>
              <a:spcAft>
                <a:spcPts val="1200"/>
              </a:spcAft>
              <a:defRPr sz="2000"/>
            </a:pPr>
            <a:r>
              <a:t>• Mistral</a:t>
            </a:r>
          </a:p>
          <a:p>
            <a:pPr>
              <a:spcAft>
                <a:spcPts val="1200"/>
              </a:spcAft>
              <a:defRPr sz="2000"/>
            </a:pPr>
            <a:r>
              <a:t>• Qwen</a:t>
            </a:r>
          </a:p>
          <a:p>
            <a:pPr>
              <a:spcAft>
                <a:spcPts val="1200"/>
              </a:spcAft>
              <a:defRPr sz="2000"/>
            </a:pPr>
            <a:r>
              <a:t>• Модели отличаются архитектурой, размером, данными и возможностями.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Как работает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User Prompt → Tokenization → Transformer → Attention → Next-token prediction → Response</a:t>
            </a:r>
          </a:p>
          <a:p>
            <a:pPr>
              <a:spcAft>
                <a:spcPts val="1200"/>
              </a:spcAft>
              <a:defRPr sz="2000"/>
            </a:pPr>
            <a:r>
              <a:t>• Модель последовательно предсказывает наиболее подходящие токены с учетом контекста.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Что такое токен?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LLM работает с токенами, а не непосредственно со словами.</a:t>
            </a:r>
          </a:p>
          <a:p>
            <a:pPr>
              <a:spcAft>
                <a:spcPts val="1200"/>
              </a:spcAft>
              <a:defRPr sz="2000"/>
            </a:pPr>
            <a:r>
              <a:t>• Токеном может быть слово, часть слова, символ или знак препинания.</a:t>
            </a:r>
          </a:p>
          <a:p>
            <a:pPr>
              <a:spcAft>
                <a:spcPts val="1200"/>
              </a:spcAft>
              <a:defRPr sz="2000"/>
            </a:pPr>
            <a:r>
              <a:t>• Текст → Tokens → Numbers → Neural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Архитектура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Embedding</a:t>
            </a:r>
          </a:p>
          <a:p>
            <a:pPr>
              <a:spcAft>
                <a:spcPts val="1200"/>
              </a:spcAft>
              <a:defRPr sz="2000"/>
            </a:pPr>
            <a:r>
              <a:t>• Self-Attention</a:t>
            </a:r>
          </a:p>
          <a:p>
            <a:pPr>
              <a:spcAft>
                <a:spcPts val="1200"/>
              </a:spcAft>
              <a:defRPr sz="2000"/>
            </a:pPr>
            <a:r>
              <a:t>• Multi-Head Attention</a:t>
            </a:r>
          </a:p>
          <a:p>
            <a:pPr>
              <a:spcAft>
                <a:spcPts val="1200"/>
              </a:spcAft>
              <a:defRPr sz="2000"/>
            </a:pPr>
            <a:r>
              <a:t>• Feed-Forward Network</a:t>
            </a:r>
          </a:p>
          <a:p>
            <a:pPr>
              <a:spcAft>
                <a:spcPts val="1200"/>
              </a:spcAft>
              <a:defRPr sz="2000"/>
            </a:pPr>
            <a:r>
              <a:t>• Positional Information</a:t>
            </a:r>
          </a:p>
          <a:p>
            <a:pPr>
              <a:spcAft>
                <a:spcPts val="1200"/>
              </a:spcAft>
              <a:defRPr sz="2000"/>
            </a:pPr>
            <a:r>
              <a:t>• Output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Self-Attention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Self-Attention помогает модели учитывать взаимосвязи между частями текста.</a:t>
            </a:r>
          </a:p>
          <a:p>
            <a:pPr>
              <a:spcAft>
                <a:spcPts val="1200"/>
              </a:spcAft>
              <a:defRPr sz="2000"/>
            </a:pPr>
            <a:r>
              <a:t>• Механизм позволяет определить, какие элементы контекста наиболее важны для текущего шага.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Обучение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• Большие наборы данных → Предварительная обработка → Pre-training → Fine-tuning → Instruction tuning / alignment → Готовая модель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Создание эффективных запросов для AI-модели.</a:t>
            </a:r>
          </a:p>
          <a:p>
            <a:pPr>
              <a:spcAft>
                <a:spcPts val="1200"/>
              </a:spcAft>
              <a:defRPr sz="2000"/>
            </a:pPr>
            <a:r>
              <a:t>• Role + Task + Context + Requirements + Output format</a:t>
            </a:r>
          </a:p>
          <a:p>
            <a:pPr>
              <a:spcAft>
                <a:spcPts val="1200"/>
              </a:spcAft>
              <a:defRPr sz="2000"/>
            </a:pPr>
            <a:r>
              <a:t>• Чем точнее задача и требования, тем более предсказуемым может быть результат.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Возможности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Text Generation</a:t>
            </a:r>
          </a:p>
          <a:p>
            <a:pPr>
              <a:spcAft>
                <a:spcPts val="1200"/>
              </a:spcAft>
              <a:defRPr sz="2000"/>
            </a:pPr>
            <a:r>
              <a:t>• Information Extraction</a:t>
            </a:r>
          </a:p>
          <a:p>
            <a:pPr>
              <a:spcAft>
                <a:spcPts val="1200"/>
              </a:spcAft>
              <a:defRPr sz="2000"/>
            </a:pPr>
            <a:r>
              <a:t>• Translation</a:t>
            </a:r>
          </a:p>
          <a:p>
            <a:pPr>
              <a:spcAft>
                <a:spcPts val="1200"/>
              </a:spcAft>
              <a:defRPr sz="2000"/>
            </a:pPr>
            <a:r>
              <a:t>• Summarization</a:t>
            </a:r>
          </a:p>
          <a:p>
            <a:pPr>
              <a:spcAft>
                <a:spcPts val="1200"/>
              </a:spcAft>
              <a:defRPr sz="2000"/>
            </a:pPr>
            <a:r>
              <a:t>• Code Generation</a:t>
            </a:r>
          </a:p>
          <a:p>
            <a:pPr>
              <a:spcAft>
                <a:spcPts val="1200"/>
              </a:spcAft>
              <a:defRPr sz="2000"/>
            </a:pPr>
            <a:r>
              <a:t>• Data Analysis</a:t>
            </a:r>
          </a:p>
          <a:p>
            <a:pPr>
              <a:spcAft>
                <a:spcPts val="1200"/>
              </a:spcAft>
              <a:defRPr sz="2000"/>
            </a:pPr>
            <a:r>
              <a:t>• Education</a:t>
            </a:r>
          </a:p>
          <a:p>
            <a:pPr>
              <a:spcAft>
                <a:spcPts val="1200"/>
              </a:spcAft>
              <a:defRPr sz="2000"/>
            </a:pPr>
            <a:r>
              <a:t>• AI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Ограничения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Возможные фактические ошибки</a:t>
            </a:r>
          </a:p>
          <a:p>
            <a:pPr>
              <a:spcAft>
                <a:spcPts val="1200"/>
              </a:spcAft>
              <a:defRPr sz="2000"/>
            </a:pPr>
            <a:r>
              <a:t>• Hallucinations</a:t>
            </a:r>
          </a:p>
          <a:p>
            <a:pPr>
              <a:spcAft>
                <a:spcPts val="1200"/>
              </a:spcAft>
              <a:defRPr sz="2000"/>
            </a:pPr>
            <a:r>
              <a:t>• Зависимость от качества prompt</a:t>
            </a:r>
          </a:p>
          <a:p>
            <a:pPr>
              <a:spcAft>
                <a:spcPts val="1200"/>
              </a:spcAft>
              <a:defRPr sz="2000"/>
            </a:pPr>
            <a:r>
              <a:t>• Ограничения контекста</a:t>
            </a:r>
          </a:p>
          <a:p>
            <a:pPr>
              <a:spcAft>
                <a:spcPts val="1200"/>
              </a:spcAft>
              <a:defRPr sz="2000"/>
            </a:pPr>
            <a:r>
              <a:t>• Вопросы конфиденциальности</a:t>
            </a:r>
          </a:p>
          <a:p>
            <a:pPr>
              <a:spcAft>
                <a:spcPts val="1200"/>
              </a:spcAft>
              <a:defRPr sz="2000"/>
            </a:pPr>
            <a:r>
              <a:t>• Bias</a:t>
            </a:r>
          </a:p>
          <a:p>
            <a:pPr>
              <a:spcAft>
                <a:spcPts val="1200"/>
              </a:spcAft>
              <a:defRPr sz="2000"/>
            </a:pPr>
            <a:r>
              <a:t>• Важные результаты необходимо проверять.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LLM + внешние инструменты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LLM может работать вместе с Web Search, Database, Calculator, Python, APIs и Documents.</a:t>
            </a:r>
          </a:p>
          <a:p>
            <a:pPr>
              <a:spcAft>
                <a:spcPts val="1200"/>
              </a:spcAft>
              <a:defRPr sz="2000"/>
            </a:pPr>
            <a:r>
              <a:t>• Подключение инструментов расширяет возможности языковой модели.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 Agent — система, которая использует AI-модель для выполнения многошаговых задач.</a:t>
            </a:r>
          </a:p>
          <a:p>
            <a:pPr>
              <a:spcAft>
                <a:spcPts val="1200"/>
              </a:spcAft>
              <a:defRPr sz="2000"/>
            </a:pPr>
            <a:r>
              <a:t>• User → AI Agent → LLM → Planning → Tools → Analysis →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Пример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Задача: проанализировать данные о медицинских отходах.</a:t>
            </a:r>
          </a:p>
          <a:p>
            <a:pPr>
              <a:spcAft>
                <a:spcPts val="1200"/>
              </a:spcAft>
              <a:defRPr sz="2000"/>
            </a:pPr>
            <a:r>
              <a:t>• 1. Получить данные</a:t>
            </a:r>
          </a:p>
          <a:p>
            <a:pPr>
              <a:spcAft>
                <a:spcPts val="1200"/>
              </a:spcAft>
              <a:defRPr sz="2000"/>
            </a:pPr>
            <a:r>
              <a:t>• 2. Проверить качество</a:t>
            </a:r>
          </a:p>
          <a:p>
            <a:pPr>
              <a:spcAft>
                <a:spcPts val="1200"/>
              </a:spcAft>
              <a:defRPr sz="2000"/>
            </a:pPr>
            <a:r>
              <a:t>• 3. Проанализировать временные ряды</a:t>
            </a:r>
          </a:p>
          <a:p>
            <a:pPr>
              <a:spcAft>
                <a:spcPts val="1200"/>
              </a:spcAft>
              <a:defRPr sz="2000"/>
            </a:pPr>
            <a:r>
              <a:t>• 4. Найти пики нагрузки</a:t>
            </a:r>
          </a:p>
          <a:p>
            <a:pPr>
              <a:spcAft>
                <a:spcPts val="1200"/>
              </a:spcAft>
              <a:defRPr sz="2000"/>
            </a:pPr>
            <a:r>
              <a:t>• 5. Выполнить прогноз</a:t>
            </a:r>
          </a:p>
          <a:p>
            <a:pPr>
              <a:spcAft>
                <a:spcPts val="1200"/>
              </a:spcAft>
              <a:defRPr sz="2000"/>
            </a:pPr>
            <a:r>
              <a:t>• 6. Создать отчет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LLM в образовании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 Tutor</a:t>
            </a:r>
          </a:p>
          <a:p>
            <a:pPr>
              <a:spcAft>
                <a:spcPts val="1200"/>
              </a:spcAft>
              <a:defRPr sz="2000"/>
            </a:pPr>
            <a:r>
              <a:t>• Генерация учебных материалов</a:t>
            </a:r>
          </a:p>
          <a:p>
            <a:pPr>
              <a:spcAft>
                <a:spcPts val="1200"/>
              </a:spcAft>
              <a:defRPr sz="2000"/>
            </a:pPr>
            <a:r>
              <a:t>• Помощь преподавателю</a:t>
            </a:r>
          </a:p>
          <a:p>
            <a:pPr>
              <a:spcAft>
                <a:spcPts val="1200"/>
              </a:spcAft>
              <a:defRPr sz="2000"/>
            </a:pPr>
            <a:r>
              <a:t>• Генерация тестов</a:t>
            </a:r>
          </a:p>
          <a:p>
            <a:pPr>
              <a:spcAft>
                <a:spcPts val="1200"/>
              </a:spcAft>
              <a:defRPr sz="2000"/>
            </a:pPr>
            <a:r>
              <a:t>• Помощь в программировании</a:t>
            </a:r>
          </a:p>
          <a:p>
            <a:pPr>
              <a:spcAft>
                <a:spcPts val="1200"/>
              </a:spcAft>
              <a:defRPr sz="2000"/>
            </a:pPr>
            <a:r>
              <a:t>• Персонализированное обучение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LLM в научных исследованиях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Анализ литературы</a:t>
            </a:r>
          </a:p>
          <a:p>
            <a:pPr>
              <a:spcAft>
                <a:spcPts val="1200"/>
              </a:spcAft>
              <a:defRPr sz="2000"/>
            </a:pPr>
            <a:r>
              <a:t>• Структурирование научного текста</a:t>
            </a:r>
          </a:p>
          <a:p>
            <a:pPr>
              <a:spcAft>
                <a:spcPts val="1200"/>
              </a:spcAft>
              <a:defRPr sz="2000"/>
            </a:pPr>
            <a:r>
              <a:t>• Объяснение сложных концепций</a:t>
            </a:r>
          </a:p>
          <a:p>
            <a:pPr>
              <a:spcAft>
                <a:spcPts val="1200"/>
              </a:spcAft>
              <a:defRPr sz="2000"/>
            </a:pPr>
            <a:r>
              <a:t>• Генерация кода</a:t>
            </a:r>
          </a:p>
          <a:p>
            <a:pPr>
              <a:spcAft>
                <a:spcPts val="1200"/>
              </a:spcAft>
              <a:defRPr sz="2000"/>
            </a:pPr>
            <a:r>
              <a:t>• Анализ результатов</a:t>
            </a:r>
          </a:p>
          <a:p>
            <a:pPr>
              <a:spcAft>
                <a:spcPts val="1200"/>
              </a:spcAft>
              <a:defRPr sz="2000"/>
            </a:pPr>
            <a:r>
              <a:t>• Подготовка таблиц</a:t>
            </a:r>
          </a:p>
          <a:p>
            <a:pPr>
              <a:spcAft>
                <a:spcPts val="1200"/>
              </a:spcAft>
              <a:defRPr sz="2000"/>
            </a:pPr>
            <a:r>
              <a:t>• Перевод научных текстов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Этические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Конфиденциальность данных</a:t>
            </a:r>
          </a:p>
          <a:p>
            <a:pPr>
              <a:spcAft>
                <a:spcPts val="1200"/>
              </a:spcAft>
              <a:defRPr sz="2000"/>
            </a:pPr>
            <a:r>
              <a:t>• Авторство</a:t>
            </a:r>
          </a:p>
          <a:p>
            <a:pPr>
              <a:spcAft>
                <a:spcPts val="1200"/>
              </a:spcAft>
              <a:defRPr sz="2000"/>
            </a:pPr>
            <a:r>
              <a:t>• Академическая честность</a:t>
            </a:r>
          </a:p>
          <a:p>
            <a:pPr>
              <a:spcAft>
                <a:spcPts val="1200"/>
              </a:spcAft>
              <a:defRPr sz="2000"/>
            </a:pPr>
            <a:r>
              <a:t>• Авторские права</a:t>
            </a:r>
          </a:p>
          <a:p>
            <a:pPr>
              <a:spcAft>
                <a:spcPts val="1200"/>
              </a:spcAft>
              <a:defRPr sz="2000"/>
            </a:pPr>
            <a:r>
              <a:t>• Bias</a:t>
            </a:r>
          </a:p>
          <a:p>
            <a:pPr>
              <a:spcAft>
                <a:spcPts val="1200"/>
              </a:spcAft>
              <a:defRPr sz="2000"/>
            </a:pPr>
            <a:r>
              <a:t>• Прозрачность</a:t>
            </a:r>
          </a:p>
          <a:p>
            <a:pPr>
              <a:spcAft>
                <a:spcPts val="1200"/>
              </a:spcAft>
              <a:defRPr sz="2000"/>
            </a:pPr>
            <a:r>
              <a:t>• Безопасность</a:t>
            </a:r>
          </a:p>
          <a:p>
            <a:pPr>
              <a:spcAft>
                <a:spcPts val="1200"/>
              </a:spcAft>
              <a:defRPr sz="2000"/>
            </a:pPr>
            <a:r>
              <a:t>• Ответственность человека за конечное решение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AI, LLM и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 → Machine Learning → Deep Learning → Generative AI → LLM → LLM + Tools → AI Agents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 создаёт интеллектуальные системы.</a:t>
            </a:r>
          </a:p>
          <a:p>
            <a:pPr>
              <a:spcAft>
                <a:spcPts val="1200"/>
              </a:spcAft>
              <a:defRPr sz="2000"/>
            </a:pPr>
            <a:r>
              <a:t>• ML обучает модели на данных.</a:t>
            </a:r>
          </a:p>
          <a:p>
            <a:pPr>
              <a:spcAft>
                <a:spcPts val="1200"/>
              </a:spcAft>
              <a:defRPr sz="2000"/>
            </a:pPr>
            <a:r>
              <a:t>• Deep Learning использует глубокие нейронные сети.</a:t>
            </a:r>
          </a:p>
          <a:p>
            <a:pPr>
              <a:spcAft>
                <a:spcPts val="1200"/>
              </a:spcAft>
              <a:defRPr sz="2000"/>
            </a:pPr>
            <a:r>
              <a:t>• Generative AI создаёт контент.</a:t>
            </a:r>
          </a:p>
          <a:p>
            <a:pPr>
              <a:spcAft>
                <a:spcPts val="1200"/>
              </a:spcAft>
              <a:defRPr sz="2000"/>
            </a:pPr>
            <a:r>
              <a:t>• LLM работают с естественным языком.</a:t>
            </a:r>
          </a:p>
          <a:p>
            <a:pPr>
              <a:spcAft>
                <a:spcPts val="1200"/>
              </a:spcAft>
              <a:defRPr sz="2000"/>
            </a:pPr>
            <a:r>
              <a:t>• AI Agents объединяют LLM с инструментами.</a:t>
            </a:r>
          </a:p>
          <a:p>
            <a:pPr>
              <a:spcAft>
                <a:spcPts val="1200"/>
              </a:spcAft>
              <a:defRPr sz="2000"/>
            </a:pPr>
            <a:r>
              <a:t>• Человек остается ответственным за использование результатов 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573</Words>
  <Application>Microsoft Office PowerPoint</Application>
  <PresentationFormat>Широкоэкранный</PresentationFormat>
  <Paragraphs>112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Zhanar Oralbekova</cp:lastModifiedBy>
  <cp:revision>4</cp:revision>
  <dcterms:created xsi:type="dcterms:W3CDTF">2013-01-27T09:14:16Z</dcterms:created>
  <dcterms:modified xsi:type="dcterms:W3CDTF">2026-09-21T12:50:30Z</dcterms:modified>
  <cp:category/>
</cp:coreProperties>
</file>