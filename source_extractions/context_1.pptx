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34826" cy="21852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2332"/>
                </a:solidFill>
              </a:defRPr>
            </a:pPr>
            <a:r>
              <a:rPr dirty="0" err="1"/>
              <a:t>Введение</a:t>
            </a:r>
            <a:r>
              <a:rPr dirty="0"/>
              <a:t> в </a:t>
            </a:r>
            <a:r>
              <a:rPr dirty="0" err="1"/>
              <a:t>искусственный</a:t>
            </a:r>
            <a:br>
              <a:rPr dirty="0"/>
            </a:br>
            <a:r>
              <a:rPr dirty="0" err="1"/>
              <a:t>интеллект</a:t>
            </a:r>
            <a:r>
              <a:rPr dirty="0"/>
              <a:t> и </a:t>
            </a:r>
            <a:r>
              <a:rPr dirty="0" err="1"/>
              <a:t>машинное</a:t>
            </a:r>
            <a:r>
              <a:rPr dirty="0"/>
              <a:t> </a:t>
            </a:r>
            <a:r>
              <a:rPr dirty="0" err="1"/>
              <a:t>обучение</a:t>
            </a:r>
            <a:r>
              <a:rPr lang="en-US" dirty="0"/>
              <a:t>. </a:t>
            </a:r>
          </a:p>
          <a:p>
            <a:pPr>
              <a:defRPr sz="3400" b="1">
                <a:solidFill>
                  <a:srgbClr val="192332"/>
                </a:solidFill>
              </a:defRPr>
            </a:pPr>
            <a:r>
              <a:rPr lang="ru-RU" dirty="0"/>
              <a:t>Стандарты и этика в области искусственного интеллекта</a:t>
            </a:r>
          </a:p>
          <a:p>
            <a:pPr>
              <a:defRPr sz="3400" b="1">
                <a:solidFill>
                  <a:srgbClr val="19233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9194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искусственный</a:t>
            </a:r>
            <a:r>
              <a:rPr dirty="0"/>
              <a:t> </a:t>
            </a:r>
            <a:r>
              <a:rPr dirty="0" err="1"/>
              <a:t>интеллект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Искусственный интеллект (ИИ) — технологии, позволяющие компьютерным системам выполнять задачи, требующие человеческого интеллекта.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Анализ данных и поиск закономерностей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Распознавание изображений, речи и текста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Прогнозирование и поддержка принятия решений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Генерация текста, изображений, аудио и другого контента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4639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направления</a:t>
            </a:r>
            <a:r>
              <a:rPr dirty="0"/>
              <a:t>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Machine Learning — машинное обучение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Deep Learning — глубокое обучение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Natural Language Processing — обработка естественного языка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Computer Vision — компьютерное зрение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Robotics — робототехника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Generative AI — генеративный искусственный интеллект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1492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машинное</a:t>
            </a:r>
            <a:r>
              <a:rPr dirty="0"/>
              <a:t> </a:t>
            </a:r>
            <a:r>
              <a:rPr dirty="0" err="1"/>
              <a:t>обучение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Машинное обучение (ML) — подход, при котором система обучается на данных и использует найденные закономерности для прогнозирования или классификации.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Классическая схема: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Данные → алгоритм обучения → модель → прогноз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Пример: история продаж → ML-модель → прогноз продаж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8026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/>
              <a:t>ИИ, ML и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Artificial Intelligence — </a:t>
            </a:r>
            <a:r>
              <a:rPr dirty="0" err="1"/>
              <a:t>широкая</a:t>
            </a:r>
            <a:r>
              <a:rPr dirty="0"/>
              <a:t> </a:t>
            </a:r>
            <a:r>
              <a:rPr dirty="0" err="1"/>
              <a:t>область</a:t>
            </a:r>
            <a:r>
              <a:rPr dirty="0"/>
              <a:t> </a:t>
            </a:r>
            <a:r>
              <a:rPr dirty="0" err="1"/>
              <a:t>создания</a:t>
            </a:r>
            <a:r>
              <a:rPr dirty="0"/>
              <a:t> </a:t>
            </a:r>
            <a:r>
              <a:rPr dirty="0" err="1"/>
              <a:t>интеллектуальных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Machine Learning —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основных</a:t>
            </a:r>
            <a:r>
              <a:rPr dirty="0"/>
              <a:t> </a:t>
            </a:r>
            <a:r>
              <a:rPr dirty="0" err="1"/>
              <a:t>подходов</a:t>
            </a:r>
            <a:r>
              <a:rPr dirty="0"/>
              <a:t> к </a:t>
            </a:r>
            <a:r>
              <a:rPr dirty="0" err="1"/>
              <a:t>созданию</a:t>
            </a:r>
            <a:r>
              <a:rPr dirty="0"/>
              <a:t> ИИ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Deep Learning — </a:t>
            </a:r>
            <a:r>
              <a:rPr dirty="0" err="1"/>
              <a:t>направление</a:t>
            </a:r>
            <a:r>
              <a:rPr dirty="0"/>
              <a:t> ML, </a:t>
            </a:r>
            <a:r>
              <a:rPr dirty="0" err="1"/>
              <a:t>использующее</a:t>
            </a:r>
            <a:r>
              <a:rPr dirty="0"/>
              <a:t> </a:t>
            </a:r>
            <a:r>
              <a:rPr dirty="0" err="1"/>
              <a:t>многослойные</a:t>
            </a:r>
            <a:r>
              <a:rPr dirty="0"/>
              <a:t> </a:t>
            </a:r>
            <a:r>
              <a:rPr dirty="0" err="1"/>
              <a:t>нейронные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4437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Типы</a:t>
            </a:r>
            <a:r>
              <a:rPr dirty="0"/>
              <a:t> </a:t>
            </a:r>
            <a:r>
              <a:rPr dirty="0" err="1"/>
              <a:t>машинного</a:t>
            </a:r>
            <a:r>
              <a:rPr dirty="0"/>
              <a:t> </a:t>
            </a:r>
            <a:r>
              <a:rPr dirty="0" err="1"/>
              <a:t>обучения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Обучение с учителем (Supervised Learning) — известны входные данные и правильные ответы.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Обучение без учителя (Unsupervised Learning) — система ищет структуру и группы в данных.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Обучение с подкреплением (Reinforcement Learning) — система учится через действия, награды и штрафы.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3657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создается</a:t>
            </a:r>
            <a:r>
              <a:rPr dirty="0"/>
              <a:t> ML-</a:t>
            </a:r>
            <a:r>
              <a:rPr dirty="0" err="1"/>
              <a:t>модель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1. </a:t>
            </a:r>
            <a:r>
              <a:rPr dirty="0" err="1"/>
              <a:t>Сбор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2. </a:t>
            </a:r>
            <a:r>
              <a:rPr dirty="0" err="1"/>
              <a:t>Очистка</a:t>
            </a:r>
            <a:r>
              <a:rPr dirty="0"/>
              <a:t> и </a:t>
            </a:r>
            <a:r>
              <a:rPr dirty="0" err="1"/>
              <a:t>подготовка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3. </a:t>
            </a:r>
            <a:r>
              <a:rPr dirty="0" err="1"/>
              <a:t>Выбор</a:t>
            </a:r>
            <a:r>
              <a:rPr dirty="0"/>
              <a:t> и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признаков</a:t>
            </a:r>
            <a:endParaRPr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4. </a:t>
            </a:r>
            <a:r>
              <a:rPr dirty="0" err="1"/>
              <a:t>Обучение</a:t>
            </a:r>
            <a:r>
              <a:rPr dirty="0"/>
              <a:t> </a:t>
            </a:r>
            <a:r>
              <a:rPr dirty="0" err="1"/>
              <a:t>модели</a:t>
            </a:r>
            <a:endParaRPr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5. </a:t>
            </a: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качества</a:t>
            </a:r>
            <a:endParaRPr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6. </a:t>
            </a:r>
            <a:r>
              <a:rPr dirty="0" err="1"/>
              <a:t>Развертывание</a:t>
            </a:r>
            <a:r>
              <a:rPr dirty="0"/>
              <a:t> и </a:t>
            </a:r>
            <a:r>
              <a:rPr dirty="0" err="1"/>
              <a:t>мониторинг</a:t>
            </a:r>
            <a:endParaRPr lang="en-US"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endParaRPr lang="en-US"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lang="ru-RU" sz="2000" dirty="0"/>
              <a:t>ИИ-агент — это интеллектуальная система, способная не только отвечать на запросы, но и самостоятельно ставить цели, планировать действия и адаптироваться в процессе. В отличие от традиционных чат-ботов, выполняющих строго заданные команды, агент действует автономно, подобно виртуальному сотруднику. Получив задачу, он разбивает ее на этапы, подбирает инструменты (базы данных, API, сторонние программы), анализирует результат и корректирует стратегию при необходимости.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646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Почему</a:t>
            </a:r>
            <a:r>
              <a:rPr dirty="0"/>
              <a:t> ИИ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ошибаться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Недостаточное количество данных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Ошибки и пропуски в данных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Несбалансированные или предвзятые данные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Переобучение модели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Неправильный выбор алгоритма или метрики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Отсутствие контроля и проверки человеком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Высокая точность модели не означает автоматически безопасный и этичный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3080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этика</a:t>
            </a:r>
            <a:r>
              <a:rPr dirty="0"/>
              <a:t> ИИ?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Этика ИИ — принципы и правила ответственного создания и использования AI-систем.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Справедливость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Безопасность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Конфиденциальность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Прозрачность и объяснимость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Ответственность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Человеческий контроль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4214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этические</a:t>
            </a:r>
            <a:r>
              <a:rPr dirty="0"/>
              <a:t> </a:t>
            </a:r>
            <a:r>
              <a:rPr dirty="0" err="1"/>
              <a:t>риски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Bias — предвзятость и дискриминация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Privacy — нарушение конфиденциальности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Security — угрозы безопасности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Lack of transparency — непрозрачность решений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Misinformation — ложная или вводящая в заблуждение информация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Accountability — проблема определения ответственности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Environmental impact — влияние на окружающую среду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253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стандарты</a:t>
            </a:r>
            <a:r>
              <a:rPr dirty="0"/>
              <a:t> ИИ?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Повышать безопасность и надежность AI-систем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Защищать права человека и персональные данные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Снижать риски дискриминации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Повышать прозрачность и доверие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Определять требования к разработке и эксплуатации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Формировать единые подходы для разработчиков, бизнеса и государства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7755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/>
              <a:t>UNESCO: </a:t>
            </a:r>
            <a:r>
              <a:rPr dirty="0" err="1"/>
              <a:t>этика</a:t>
            </a:r>
            <a:r>
              <a:rPr dirty="0"/>
              <a:t> </a:t>
            </a:r>
            <a:r>
              <a:rPr dirty="0" err="1"/>
              <a:t>искусственного</a:t>
            </a:r>
            <a:r>
              <a:rPr dirty="0"/>
              <a:t> </a:t>
            </a:r>
            <a:r>
              <a:rPr dirty="0" err="1"/>
              <a:t>интеллекта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В </a:t>
            </a:r>
            <a:r>
              <a:rPr dirty="0" err="1"/>
              <a:t>ноябре</a:t>
            </a:r>
            <a:r>
              <a:rPr dirty="0"/>
              <a:t> 2021 </a:t>
            </a:r>
            <a:r>
              <a:rPr dirty="0" err="1"/>
              <a:t>года</a:t>
            </a:r>
            <a:r>
              <a:rPr dirty="0"/>
              <a:t> UNESCO </a:t>
            </a:r>
            <a:r>
              <a:rPr dirty="0" err="1"/>
              <a:t>приняла</a:t>
            </a:r>
            <a:r>
              <a:rPr dirty="0"/>
              <a:t> Recommendation on the Ethics of Artificial Intelligence.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 err="1"/>
              <a:t>Документ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глобальной</a:t>
            </a:r>
            <a:r>
              <a:rPr dirty="0"/>
              <a:t> </a:t>
            </a:r>
            <a:r>
              <a:rPr dirty="0" err="1"/>
              <a:t>основой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этичного</a:t>
            </a:r>
            <a:r>
              <a:rPr dirty="0"/>
              <a:t> и </a:t>
            </a:r>
            <a:r>
              <a:rPr dirty="0" err="1"/>
              <a:t>ответственного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 ИИ.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В </a:t>
            </a:r>
            <a:r>
              <a:rPr dirty="0" err="1"/>
              <a:t>центре</a:t>
            </a:r>
            <a:r>
              <a:rPr dirty="0"/>
              <a:t> </a:t>
            </a:r>
            <a:r>
              <a:rPr dirty="0" err="1"/>
              <a:t>внимания</a:t>
            </a:r>
            <a:r>
              <a:rPr dirty="0"/>
              <a:t> —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, </a:t>
            </a:r>
            <a:r>
              <a:rPr dirty="0" err="1"/>
              <a:t>человеческое</a:t>
            </a:r>
            <a:r>
              <a:rPr dirty="0"/>
              <a:t> </a:t>
            </a:r>
            <a:r>
              <a:rPr dirty="0" err="1"/>
              <a:t>достоинство</a:t>
            </a:r>
            <a:r>
              <a:rPr dirty="0"/>
              <a:t>, </a:t>
            </a:r>
            <a:r>
              <a:rPr dirty="0" err="1"/>
              <a:t>справедливость</a:t>
            </a:r>
            <a:r>
              <a:rPr dirty="0"/>
              <a:t> и </a:t>
            </a:r>
            <a:r>
              <a:rPr dirty="0" err="1"/>
              <a:t>устойчивое</a:t>
            </a:r>
            <a:r>
              <a:rPr dirty="0"/>
              <a:t> </a:t>
            </a:r>
            <a:r>
              <a:rPr dirty="0" err="1"/>
              <a:t>развитие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endParaRPr lang="en-US"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endParaRPr lang="en-US"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lang="en-US" dirty="0"/>
              <a:t>https://www.unesco.org/en/artificial-intelligence/recommendation-ethics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UNESCO — Recommendation on the Ethics of Artificial Intelligence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1982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Четыре</a:t>
            </a:r>
            <a:r>
              <a:rPr dirty="0"/>
              <a:t> </a:t>
            </a:r>
            <a:r>
              <a:rPr dirty="0" err="1"/>
              <a:t>ценности</a:t>
            </a:r>
            <a:r>
              <a:rPr dirty="0"/>
              <a:t> UNESCO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1. Человеческое достоинство и права человека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2. Мирные, справедливые и взаимосвязанные общества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3. Разнообразие и инклюзивность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4. Защита окружающей среды и экосистем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898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/>
              <a:t>10 </a:t>
            </a:r>
            <a:r>
              <a:rPr dirty="0" err="1"/>
              <a:t>принципов</a:t>
            </a:r>
            <a:r>
              <a:rPr dirty="0"/>
              <a:t> </a:t>
            </a:r>
            <a:r>
              <a:rPr dirty="0" err="1"/>
              <a:t>этики</a:t>
            </a:r>
            <a:r>
              <a:rPr dirty="0"/>
              <a:t> ИИ UNESCO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1. Пропорциональность и недопущение вреда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2. Безопасность и защищенность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3. Право на приватность и защиту данных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4. Многостороннее и адаптивное управление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5. Ответственность и подотчетность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6. Прозрачность и объяснимость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7. Человеческий контроль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8. Устойчивое развитие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9. Осведомленность и грамотность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10. Справедливость и недопущение дискриминации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5117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Принципы</a:t>
            </a:r>
            <a:r>
              <a:rPr dirty="0"/>
              <a:t> 1–3: </a:t>
            </a:r>
            <a:r>
              <a:rPr dirty="0" err="1"/>
              <a:t>безопасность</a:t>
            </a:r>
            <a:r>
              <a:rPr dirty="0"/>
              <a:t> и </a:t>
            </a:r>
            <a:r>
              <a:rPr dirty="0" err="1"/>
              <a:t>данные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Пропорциональность — ИИ должен использоваться для законной цели и в необходимой степени.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Безопасность — необходимо снижать вероятность вреда и уязвимостей.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Приватность — персональные данные должны защищаться на протяжении жизненного цикла AI-системы.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Пример: медицинская система должна использовать только необходимые для задачи данные пациента.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0079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Принципы</a:t>
            </a:r>
            <a:r>
              <a:rPr dirty="0"/>
              <a:t> 4–6: </a:t>
            </a:r>
            <a:r>
              <a:rPr dirty="0" err="1"/>
              <a:t>управление</a:t>
            </a:r>
            <a:r>
              <a:rPr dirty="0"/>
              <a:t> и </a:t>
            </a:r>
            <a:r>
              <a:rPr dirty="0" err="1"/>
              <a:t>прозрачность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Управление — в разработке и контроле ИИ должны участвовать разные заинтересованные стороны.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Подотчетность — должна быть понятна ответственность за работу системы.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Прозрачность и объяснимость — пользователь должен получать понятную информацию о работе и ограничениях системы.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Уровень объяснимости зависит от контекста и потенциального риска.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2111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Принципы</a:t>
            </a:r>
            <a:r>
              <a:rPr dirty="0"/>
              <a:t> 7–10: </a:t>
            </a:r>
            <a:r>
              <a:rPr dirty="0" err="1"/>
              <a:t>человек</a:t>
            </a:r>
            <a:r>
              <a:rPr dirty="0"/>
              <a:t>, </a:t>
            </a:r>
            <a:r>
              <a:rPr dirty="0" err="1"/>
              <a:t>устойчивость</a:t>
            </a:r>
            <a:r>
              <a:rPr dirty="0"/>
              <a:t> и </a:t>
            </a:r>
            <a:r>
              <a:rPr dirty="0" err="1"/>
              <a:t>справедливость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Человеческий контроль — человек сохраняет возможность контроля и вмешательства.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Устойчивое развитие — учитывается воздействие ИИ на общество и окружающую среду.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AI literacy — пользователи должны понимать возможности и ограничения ИИ.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Справедливость — системы не должны создавать неоправданную дискриминацию.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8782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Национальные</a:t>
            </a:r>
            <a:r>
              <a:rPr dirty="0"/>
              <a:t> </a:t>
            </a:r>
            <a:r>
              <a:rPr dirty="0" err="1"/>
              <a:t>стандарты</a:t>
            </a:r>
            <a:r>
              <a:rPr dirty="0"/>
              <a:t> ИИ в </a:t>
            </a:r>
            <a:r>
              <a:rPr dirty="0" err="1"/>
              <a:t>Казахстане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192332"/>
                </a:solidFill>
              </a:rPr>
              <a:t>17 ноября 2025 года Президент подписал Закон Республики Казахстан № 230-VIII «Об искусственном интеллекте» (далее – «Закон»).</a:t>
            </a:r>
          </a:p>
          <a:p>
            <a:r>
              <a:rPr lang="ru-RU" sz="2000" dirty="0">
                <a:solidFill>
                  <a:srgbClr val="192332"/>
                </a:solidFill>
              </a:rPr>
              <a:t>Закон создает правовую основу для развития, использования и регулирования систем искусственного интеллекта (ИИ) в Казахстане, устанавливая принципы безопасности, прозрачности и ответственности.</a:t>
            </a:r>
          </a:p>
          <a:p>
            <a:r>
              <a:rPr lang="ru-RU" sz="2000" dirty="0">
                <a:solidFill>
                  <a:srgbClr val="192332"/>
                </a:solidFill>
              </a:rPr>
              <a:t>Закон вводится в действие 18 января 2026 года.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endParaRPr lang="en-US"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В </a:t>
            </a:r>
            <a:r>
              <a:rPr dirty="0" err="1"/>
              <a:t>Казахстане</a:t>
            </a:r>
            <a:r>
              <a:rPr dirty="0"/>
              <a:t> </a:t>
            </a:r>
            <a:r>
              <a:rPr dirty="0" err="1"/>
              <a:t>утверждены</a:t>
            </a:r>
            <a:r>
              <a:rPr dirty="0"/>
              <a:t> </a:t>
            </a:r>
            <a:r>
              <a:rPr dirty="0" err="1"/>
              <a:t>национальные</a:t>
            </a:r>
            <a:r>
              <a:rPr dirty="0"/>
              <a:t> </a:t>
            </a:r>
            <a:r>
              <a:rPr dirty="0" err="1"/>
              <a:t>стандарты</a:t>
            </a:r>
            <a:r>
              <a:rPr dirty="0"/>
              <a:t> в </a:t>
            </a:r>
            <a:r>
              <a:rPr dirty="0" err="1"/>
              <a:t>сфере</a:t>
            </a:r>
            <a:r>
              <a:rPr dirty="0"/>
              <a:t> </a:t>
            </a:r>
            <a:r>
              <a:rPr dirty="0" err="1"/>
              <a:t>искусственного</a:t>
            </a:r>
            <a:r>
              <a:rPr dirty="0"/>
              <a:t> </a:t>
            </a:r>
            <a:r>
              <a:rPr dirty="0" err="1"/>
              <a:t>интеллекта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формируют</a:t>
            </a:r>
            <a:r>
              <a:rPr dirty="0"/>
              <a:t> </a:t>
            </a:r>
            <a:r>
              <a:rPr dirty="0" err="1"/>
              <a:t>единые</a:t>
            </a:r>
            <a:r>
              <a:rPr dirty="0"/>
              <a:t> </a:t>
            </a:r>
            <a:r>
              <a:rPr dirty="0" err="1"/>
              <a:t>подходы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разработчиков</a:t>
            </a:r>
            <a:r>
              <a:rPr dirty="0"/>
              <a:t>, </a:t>
            </a:r>
            <a:r>
              <a:rPr dirty="0" err="1"/>
              <a:t>бизнеса</a:t>
            </a:r>
            <a:r>
              <a:rPr dirty="0"/>
              <a:t> и </a:t>
            </a:r>
            <a:r>
              <a:rPr dirty="0" err="1"/>
              <a:t>государственных</a:t>
            </a:r>
            <a:r>
              <a:rPr dirty="0"/>
              <a:t> </a:t>
            </a:r>
            <a:r>
              <a:rPr dirty="0" err="1"/>
              <a:t>организаций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 err="1"/>
              <a:t>Направления</a:t>
            </a:r>
            <a:r>
              <a:rPr dirty="0"/>
              <a:t> </a:t>
            </a:r>
            <a:r>
              <a:rPr dirty="0" err="1"/>
              <a:t>включают</a:t>
            </a:r>
            <a:r>
              <a:rPr dirty="0"/>
              <a:t> </a:t>
            </a:r>
            <a:r>
              <a:rPr dirty="0" err="1"/>
              <a:t>терминологию</a:t>
            </a:r>
            <a:r>
              <a:rPr dirty="0"/>
              <a:t> ИИ, </a:t>
            </a:r>
            <a:r>
              <a:rPr dirty="0" err="1"/>
              <a:t>архитектуру</a:t>
            </a:r>
            <a:r>
              <a:rPr dirty="0"/>
              <a:t> AI-</a:t>
            </a:r>
            <a:r>
              <a:rPr dirty="0" err="1"/>
              <a:t>систем</a:t>
            </a:r>
            <a:r>
              <a:rPr dirty="0"/>
              <a:t>,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,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рисками</a:t>
            </a:r>
            <a:r>
              <a:rPr dirty="0"/>
              <a:t>, </a:t>
            </a:r>
            <a:r>
              <a:rPr dirty="0" err="1"/>
              <a:t>большие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надежность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/>
              <a:t>СТ РК ISO/IEC 5339 — «</a:t>
            </a:r>
            <a:r>
              <a:rPr dirty="0" err="1"/>
              <a:t>Руководство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применению</a:t>
            </a:r>
            <a:r>
              <a:rPr dirty="0"/>
              <a:t> ИИ».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dirty="0" err="1"/>
              <a:t>Источник</a:t>
            </a:r>
            <a:r>
              <a:rPr dirty="0"/>
              <a:t>: </a:t>
            </a:r>
            <a:r>
              <a:rPr dirty="0" err="1"/>
              <a:t>Министерство</a:t>
            </a:r>
            <a:r>
              <a:rPr dirty="0"/>
              <a:t> </a:t>
            </a:r>
            <a:r>
              <a:rPr dirty="0" err="1"/>
              <a:t>торговли</a:t>
            </a:r>
            <a:r>
              <a:rPr dirty="0"/>
              <a:t> и </a:t>
            </a:r>
            <a:r>
              <a:rPr dirty="0" err="1"/>
              <a:t>интеграции</a:t>
            </a:r>
            <a:r>
              <a:rPr dirty="0"/>
              <a:t> РК, GOV.KZ</a:t>
            </a:r>
            <a:endParaRPr lang="en-US" dirty="0"/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lang="en-US" dirty="0"/>
              <a:t>https://www.gov.kz/memleket/entities/mti/press/news/details/1091791?lang=ru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7384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/>
              <a:t>ИИ в </a:t>
            </a:r>
            <a:r>
              <a:rPr dirty="0" err="1"/>
              <a:t>научных</a:t>
            </a:r>
            <a:r>
              <a:rPr dirty="0"/>
              <a:t> </a:t>
            </a:r>
            <a:r>
              <a:rPr dirty="0" err="1"/>
              <a:t>исследованиях</a:t>
            </a:r>
            <a:r>
              <a:rPr dirty="0"/>
              <a:t> </a:t>
            </a:r>
            <a:r>
              <a:rPr dirty="0" err="1"/>
              <a:t>Казахстана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Новый национальный стандарт в сфере научных исследований предусматривает цифровизацию научной деятельности.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Использование технологий искусственного интеллекта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Патентная аналитика и цифровые двойники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Принципы FAIR для научных данных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Оценка зрелости результатов: TRL, SRL и KRL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Источник: Министерство торговли и интеграции РК, GOV.KZ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0402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Ответственная</a:t>
            </a:r>
            <a:r>
              <a:rPr dirty="0"/>
              <a:t> </a:t>
            </a:r>
            <a:r>
              <a:rPr dirty="0" err="1"/>
              <a:t>разработка</a:t>
            </a:r>
            <a:r>
              <a:rPr dirty="0"/>
              <a:t>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Данные: откуда они получены и законно ли их использовать?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Модель: насколько она точна, устойчива и справедлива?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Прозрачность: можно ли объяснить результат?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Безопасность: что произойдет при ошибке или атаке?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Человек: кто принимает окончательное решение и кто отвечает за ошибку?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Общество: кому система приносит пользу и кому может причинить вред?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1386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оставаться</a:t>
            </a:r>
            <a:r>
              <a:rPr dirty="0"/>
              <a:t> в </a:t>
            </a:r>
            <a:r>
              <a:rPr dirty="0" err="1"/>
              <a:t>центре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AI → рекомендация → решение человека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Особенно важно сохранять человеческий контроль в медицине, образовании, государственных услугах, кредитовании, найме и безопасности.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ИИ должен поддерживать человека, а не автоматически заменять ответственность человека.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31140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выводы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ИИ — это не только технология, но и социальная ответственность.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Ответственный ИИ должен быть безопасным, справедливым, прозрачным и объяснимым.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Персональные данные должны быть защищены.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Необходимо учитывать воздействие ИИ на общество и окружающую среду.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Человек должен сохранять контроль над критически важными решениями.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Международные рекомендации UNESCO дополняются национальными стандартами Казахстана.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2325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Вопросы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обсуждения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1. Может ли ИИ принимать решения вместо человека?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2. Кто должен отвечать за ошибку AI-системы?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3. Всегда ли высокая точность означает хорошую модель?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4. Как защитить персональные данные при обучении ИИ?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5. Должен ли пользователь знать, что взаимодействует с ИИ?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t>6. Как уменьшить bias в машинном обучении?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8472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2"/>
                </a:solidFill>
              </a:defRPr>
            </a:pPr>
            <a:r>
              <a:rPr dirty="0" err="1"/>
              <a:t>Источники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lang="en-US" dirty="0"/>
              <a:t>1. </a:t>
            </a:r>
            <a:r>
              <a:rPr dirty="0"/>
              <a:t>UNESCO. Recommendation on the Ethics of Artificial Intelligence, 2021.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lang="en-US" dirty="0"/>
              <a:t>2. </a:t>
            </a:r>
            <a:r>
              <a:rPr dirty="0"/>
              <a:t>UNESCO. Ethics of Artificial Intelligence.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lang="en-US" dirty="0"/>
              <a:t>3. </a:t>
            </a:r>
            <a:r>
              <a:rPr dirty="0" err="1"/>
              <a:t>Министерство</a:t>
            </a:r>
            <a:r>
              <a:rPr dirty="0"/>
              <a:t> </a:t>
            </a:r>
            <a:r>
              <a:rPr dirty="0" err="1"/>
              <a:t>торговли</a:t>
            </a:r>
            <a:r>
              <a:rPr dirty="0"/>
              <a:t> и </a:t>
            </a:r>
            <a:r>
              <a:rPr dirty="0" err="1"/>
              <a:t>интеграции</a:t>
            </a:r>
            <a:r>
              <a:rPr dirty="0"/>
              <a:t> РК. </a:t>
            </a:r>
            <a:r>
              <a:rPr dirty="0" err="1"/>
              <a:t>Национальные</a:t>
            </a:r>
            <a:r>
              <a:rPr dirty="0"/>
              <a:t> </a:t>
            </a:r>
            <a:r>
              <a:rPr dirty="0" err="1"/>
              <a:t>стандарты</a:t>
            </a:r>
            <a:r>
              <a:rPr dirty="0"/>
              <a:t> в </a:t>
            </a:r>
            <a:r>
              <a:rPr dirty="0" err="1"/>
              <a:t>сфере</a:t>
            </a:r>
            <a:r>
              <a:rPr dirty="0"/>
              <a:t> ИИ.</a:t>
            </a:r>
          </a:p>
          <a:p>
            <a:pPr>
              <a:spcAft>
                <a:spcPts val="1200"/>
              </a:spcAft>
              <a:defRPr sz="2000" b="0">
                <a:solidFill>
                  <a:srgbClr val="192332"/>
                </a:solidFill>
              </a:defRPr>
            </a:pPr>
            <a:r>
              <a:rPr lang="en-US"/>
              <a:t>4. </a:t>
            </a:r>
            <a:r>
              <a:t>Министерство</a:t>
            </a:r>
            <a:r>
              <a:rPr dirty="0"/>
              <a:t> </a:t>
            </a:r>
            <a:r>
              <a:rPr dirty="0" err="1"/>
              <a:t>торговли</a:t>
            </a:r>
            <a:r>
              <a:rPr dirty="0"/>
              <a:t> и </a:t>
            </a:r>
            <a:r>
              <a:rPr dirty="0" err="1"/>
              <a:t>интеграции</a:t>
            </a:r>
            <a:r>
              <a:rPr dirty="0"/>
              <a:t> РК. </a:t>
            </a:r>
            <a:r>
              <a:rPr dirty="0" err="1"/>
              <a:t>Национальный</a:t>
            </a:r>
            <a:r>
              <a:rPr dirty="0"/>
              <a:t> </a:t>
            </a:r>
            <a:r>
              <a:rPr dirty="0" err="1"/>
              <a:t>стандарт</a:t>
            </a:r>
            <a:r>
              <a:rPr dirty="0"/>
              <a:t> в </a:t>
            </a:r>
            <a:r>
              <a:rPr dirty="0" err="1"/>
              <a:t>сфере</a:t>
            </a:r>
            <a:r>
              <a:rPr dirty="0"/>
              <a:t> </a:t>
            </a:r>
            <a:r>
              <a:rPr dirty="0" err="1"/>
              <a:t>научных</a:t>
            </a:r>
            <a:r>
              <a:rPr dirty="0"/>
              <a:t> </a:t>
            </a:r>
            <a:r>
              <a:rPr dirty="0" err="1"/>
              <a:t>исследований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8"/>
                </a:solidFill>
              </a:defRPr>
            </a:pPr>
            <a:r>
              <a:t>Введение в ИИ и машинное обучение • Стандарты и этика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1502</Words>
  <Application>Microsoft Office PowerPoint</Application>
  <PresentationFormat>Широкоэкранный</PresentationFormat>
  <Paragraphs>178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Zhanar Oralbekova</cp:lastModifiedBy>
  <cp:revision>3</cp:revision>
  <dcterms:created xsi:type="dcterms:W3CDTF">2013-01-27T09:14:16Z</dcterms:created>
  <dcterms:modified xsi:type="dcterms:W3CDTF">2026-09-07T12:26:20Z</dcterms:modified>
  <cp:category/>
</cp:coreProperties>
</file>